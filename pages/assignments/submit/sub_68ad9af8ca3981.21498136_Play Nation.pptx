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22.xml"/>
  <Override ContentType="application/vnd.openxmlformats-officedocument.presentationml.slide+xml" PartName="/ppt/slides/slide23.xml"/>
  <Override ContentType="application/vnd.openxmlformats-officedocument.presentationml.slide+xml" PartName="/ppt/slides/slide24.xml"/>
  <Override ContentType="application/vnd.openxmlformats-officedocument.presentationml.slide+xml" PartName="/ppt/slides/slide25.xml"/>
  <Override ContentType="application/vnd.openxmlformats-officedocument.presentationml.slide+xml" PartName="/ppt/slides/slide26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</p:sldIdLst>
  <p:sldSz cx="18288000" cy="10287000"/>
  <p:notesSz cx="6858000" cy="9144000"/>
  <p:embeddedFontLst>
    <p:embeddedFont>
      <p:font typeface="Poppins Italics" charset="1" panose="00000500000000000000"/>
      <p:regular r:id="rId32"/>
    </p:embeddedFont>
    <p:embeddedFont>
      <p:font typeface="Poppins Bold" charset="1" panose="00000800000000000000"/>
      <p:regular r:id="rId33"/>
    </p:embeddedFont>
    <p:embeddedFont>
      <p:font typeface="Canva Sans Bold" charset="1" panose="020B0803030501040103"/>
      <p:regular r:id="rId34"/>
    </p:embeddedFont>
    <p:embeddedFont>
      <p:font typeface="Poppins" charset="1" panose="00000500000000000000"/>
      <p:regular r:id="rId35"/>
    </p:embeddedFont>
    <p:embeddedFont>
      <p:font typeface="TT Autonomous Mono Bold" charset="1" panose="020B0003030000000000"/>
      <p:regular r:id="rId36"/>
    </p:embeddedFont>
    <p:embeddedFont>
      <p:font typeface="TT Norms Bold" charset="1" panose="02000803030000020004"/>
      <p:regular r:id="rId3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slides/slide20.xml" Type="http://schemas.openxmlformats.org/officeDocument/2006/relationships/slide"/><Relationship Id="rId26" Target="slides/slide21.xml" Type="http://schemas.openxmlformats.org/officeDocument/2006/relationships/slide"/><Relationship Id="rId27" Target="slides/slide22.xml" Type="http://schemas.openxmlformats.org/officeDocument/2006/relationships/slide"/><Relationship Id="rId28" Target="slides/slide23.xml" Type="http://schemas.openxmlformats.org/officeDocument/2006/relationships/slide"/><Relationship Id="rId29" Target="slides/slide24.xml" Type="http://schemas.openxmlformats.org/officeDocument/2006/relationships/slide"/><Relationship Id="rId3" Target="viewProps.xml" Type="http://schemas.openxmlformats.org/officeDocument/2006/relationships/viewProps"/><Relationship Id="rId30" Target="slides/slide25.xml" Type="http://schemas.openxmlformats.org/officeDocument/2006/relationships/slide"/><Relationship Id="rId31" Target="slides/slide26.xml" Type="http://schemas.openxmlformats.org/officeDocument/2006/relationships/slide"/><Relationship Id="rId32" Target="fonts/font32.fntdata" Type="http://schemas.openxmlformats.org/officeDocument/2006/relationships/font"/><Relationship Id="rId33" Target="fonts/font33.fntdata" Type="http://schemas.openxmlformats.org/officeDocument/2006/relationships/font"/><Relationship Id="rId34" Target="fonts/font34.fntdata" Type="http://schemas.openxmlformats.org/officeDocument/2006/relationships/font"/><Relationship Id="rId35" Target="fonts/font35.fntdata" Type="http://schemas.openxmlformats.org/officeDocument/2006/relationships/font"/><Relationship Id="rId36" Target="fonts/font36.fntdata" Type="http://schemas.openxmlformats.org/officeDocument/2006/relationships/font"/><Relationship Id="rId37" Target="fonts/font37.fntdata" Type="http://schemas.openxmlformats.org/officeDocument/2006/relationships/font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10.svg" Type="http://schemas.openxmlformats.org/officeDocument/2006/relationships/image"/><Relationship Id="rId12" Target="../media/image11.pn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12.jpe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3.png" Type="http://schemas.openxmlformats.org/officeDocument/2006/relationships/image"/><Relationship Id="rId3" Target="../media/image14.svg" Type="http://schemas.openxmlformats.org/officeDocument/2006/relationships/image"/><Relationship Id="rId4" Target="../media/image15.png" Type="http://schemas.openxmlformats.org/officeDocument/2006/relationships/image"/><Relationship Id="rId5" Target="../media/image3.png" Type="http://schemas.openxmlformats.org/officeDocument/2006/relationships/image"/><Relationship Id="rId6" Target="../media/image4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3.png" Type="http://schemas.openxmlformats.org/officeDocument/2006/relationships/image"/><Relationship Id="rId3" Target="../media/image14.svg" Type="http://schemas.openxmlformats.org/officeDocument/2006/relationships/image"/><Relationship Id="rId4" Target="../media/image16.jpeg" Type="http://schemas.openxmlformats.org/officeDocument/2006/relationships/image"/><Relationship Id="rId5" Target="../media/image17.png" Type="http://schemas.openxmlformats.org/officeDocument/2006/relationships/image"/><Relationship Id="rId6" Target="../media/image18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19.png" Type="http://schemas.openxmlformats.org/officeDocument/2006/relationships/image"/><Relationship Id="rId5" Target="../media/image20.svg" Type="http://schemas.openxmlformats.org/officeDocument/2006/relationships/image"/><Relationship Id="rId6" Target="../media/image21.png" Type="http://schemas.openxmlformats.org/officeDocument/2006/relationships/image"/><Relationship Id="rId7" Target="../media/image22.svg" Type="http://schemas.openxmlformats.org/officeDocument/2006/relationships/image"/><Relationship Id="rId8" Target="../media/image3.png" Type="http://schemas.openxmlformats.org/officeDocument/2006/relationships/image"/><Relationship Id="rId9" Target="../media/image4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19.png" Type="http://schemas.openxmlformats.org/officeDocument/2006/relationships/image"/><Relationship Id="rId5" Target="../media/image20.svg" Type="http://schemas.openxmlformats.org/officeDocument/2006/relationships/image"/><Relationship Id="rId6" Target="../media/image21.png" Type="http://schemas.openxmlformats.org/officeDocument/2006/relationships/image"/><Relationship Id="rId7" Target="../media/image22.svg" Type="http://schemas.openxmlformats.org/officeDocument/2006/relationships/image"/><Relationship Id="rId8" Target="../media/image3.png" Type="http://schemas.openxmlformats.org/officeDocument/2006/relationships/image"/><Relationship Id="rId9" Target="../media/image4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23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24.png" Type="http://schemas.openxmlformats.org/officeDocument/2006/relationships/image"/><Relationship Id="rId5" Target="../media/image25.svg" Type="http://schemas.openxmlformats.org/officeDocument/2006/relationships/image"/><Relationship Id="rId6" Target="../media/image26.png" Type="http://schemas.openxmlformats.org/officeDocument/2006/relationships/image"/><Relationship Id="rId7" Target="../media/image27.png" Type="http://schemas.openxmlformats.org/officeDocument/2006/relationships/image"/><Relationship Id="rId8" Target="../media/image28.png" Type="http://schemas.openxmlformats.org/officeDocument/2006/relationships/image"/><Relationship Id="rId9" Target="../media/image29.sv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0.png" Type="http://schemas.openxmlformats.org/officeDocument/2006/relationships/image"/><Relationship Id="rId5" Target="../media/image31.png" Type="http://schemas.openxmlformats.org/officeDocument/2006/relationships/image"/><Relationship Id="rId6" Target="../media/image32.svg" Type="http://schemas.openxmlformats.org/officeDocument/2006/relationships/image"/><Relationship Id="rId7" Target="../media/image33.png" Type="http://schemas.openxmlformats.org/officeDocument/2006/relationships/image"/><Relationship Id="rId8" Target="../media/image34.sv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3.png" Type="http://schemas.openxmlformats.org/officeDocument/2006/relationships/image"/><Relationship Id="rId5" Target="../media/image34.svg" Type="http://schemas.openxmlformats.org/officeDocument/2006/relationships/image"/><Relationship Id="rId6" Target="../media/image30.png" Type="http://schemas.openxmlformats.org/officeDocument/2006/relationships/image"/><Relationship Id="rId7" Target="../media/image31.png" Type="http://schemas.openxmlformats.org/officeDocument/2006/relationships/image"/><Relationship Id="rId8" Target="../media/image32.sv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3.png" Type="http://schemas.openxmlformats.org/officeDocument/2006/relationships/image"/><Relationship Id="rId5" Target="../media/image34.svg" Type="http://schemas.openxmlformats.org/officeDocument/2006/relationships/image"/><Relationship Id="rId6" Target="../media/image30.png" Type="http://schemas.openxmlformats.org/officeDocument/2006/relationships/image"/><Relationship Id="rId7" Target="../media/image31.png" Type="http://schemas.openxmlformats.org/officeDocument/2006/relationships/image"/><Relationship Id="rId8" Target="../media/image32.sv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35.png" Type="http://schemas.openxmlformats.org/officeDocument/2006/relationships/image"/><Relationship Id="rId7" Target="../media/image36.png" Type="http://schemas.openxmlformats.org/officeDocument/2006/relationships/image"/><Relationship Id="rId8" Target="../media/image37.sv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35.png" Type="http://schemas.openxmlformats.org/officeDocument/2006/relationships/image"/><Relationship Id="rId5" Target="../media/image36.png" Type="http://schemas.openxmlformats.org/officeDocument/2006/relationships/image"/><Relationship Id="rId6" Target="../media/image37.svg" Type="http://schemas.openxmlformats.org/officeDocument/2006/relationships/image"/><Relationship Id="rId7" Target="../media/image1.png" Type="http://schemas.openxmlformats.org/officeDocument/2006/relationships/image"/><Relationship Id="rId8" Target="../media/image2.sv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1.png" Type="http://schemas.openxmlformats.org/officeDocument/2006/relationships/image"/><Relationship Id="rId5" Target="../media/image2.svg" Type="http://schemas.openxmlformats.org/officeDocument/2006/relationships/image"/><Relationship Id="rId6" Target="../media/image38.jpe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1.png" Type="http://schemas.openxmlformats.org/officeDocument/2006/relationships/image"/><Relationship Id="rId5" Target="../media/image2.svg" Type="http://schemas.openxmlformats.org/officeDocument/2006/relationships/image"/><Relationship Id="rId6" Target="../media/image39.pn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0.png" Type="http://schemas.openxmlformats.org/officeDocument/2006/relationships/image"/><Relationship Id="rId3" Target="../media/image41.png" Type="http://schemas.openxmlformats.org/officeDocument/2006/relationships/image"/><Relationship Id="rId4" Target="../media/image42.png" Type="http://schemas.openxmlformats.org/officeDocument/2006/relationships/image"/><Relationship Id="rId5" Target="../media/image43.png" Type="http://schemas.openxmlformats.org/officeDocument/2006/relationships/image"/><Relationship Id="rId6" Target="../media/image44.png" Type="http://schemas.openxmlformats.org/officeDocument/2006/relationships/image"/><Relationship Id="rId7" Target="../media/image45.png" Type="http://schemas.openxmlformats.org/officeDocument/2006/relationships/image"/><Relationship Id="rId8" Target="../media/image46.png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2.png" Type="http://schemas.openxmlformats.org/officeDocument/2006/relationships/image"/><Relationship Id="rId3" Target="../media/image43.png" Type="http://schemas.openxmlformats.org/officeDocument/2006/relationships/image"/><Relationship Id="rId4" Target="../media/image44.png" Type="http://schemas.openxmlformats.org/officeDocument/2006/relationships/image"/><Relationship Id="rId5" Target="../media/image45.png" Type="http://schemas.openxmlformats.org/officeDocument/2006/relationships/image"/><Relationship Id="rId6" Target="../media/image46.png" Type="http://schemas.openxmlformats.org/officeDocument/2006/relationships/image"/><Relationship Id="rId7" Target="../media/image40.png" Type="http://schemas.openxmlformats.org/officeDocument/2006/relationships/image"/><Relationship Id="rId8" Target="../media/image41.png" Type="http://schemas.openxmlformats.org/officeDocument/2006/relationships/image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2.png" Type="http://schemas.openxmlformats.org/officeDocument/2006/relationships/image"/><Relationship Id="rId3" Target="../media/image43.png" Type="http://schemas.openxmlformats.org/officeDocument/2006/relationships/image"/><Relationship Id="rId4" Target="../media/image44.png" Type="http://schemas.openxmlformats.org/officeDocument/2006/relationships/image"/><Relationship Id="rId5" Target="../media/image45.png" Type="http://schemas.openxmlformats.org/officeDocument/2006/relationships/image"/><Relationship Id="rId6" Target="../media/image46.png" Type="http://schemas.openxmlformats.org/officeDocument/2006/relationships/image"/><Relationship Id="rId7" Target="../media/image40.png" Type="http://schemas.openxmlformats.org/officeDocument/2006/relationships/image"/><Relationship Id="rId8" Target="../media/image41.png" Type="http://schemas.openxmlformats.org/officeDocument/2006/relationships/image"/></Relationships>
</file>

<file path=ppt/slides/_rels/slide2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2.png" Type="http://schemas.openxmlformats.org/officeDocument/2006/relationships/image"/><Relationship Id="rId3" Target="../media/image43.png" Type="http://schemas.openxmlformats.org/officeDocument/2006/relationships/image"/><Relationship Id="rId4" Target="../media/image44.png" Type="http://schemas.openxmlformats.org/officeDocument/2006/relationships/image"/><Relationship Id="rId5" Target="../media/image45.png" Type="http://schemas.openxmlformats.org/officeDocument/2006/relationships/image"/><Relationship Id="rId6" Target="../media/image46.png" Type="http://schemas.openxmlformats.org/officeDocument/2006/relationships/image"/><Relationship Id="rId7" Target="../media/image40.png" Type="http://schemas.openxmlformats.org/officeDocument/2006/relationships/image"/><Relationship Id="rId8" Target="../media/image41.png" Type="http://schemas.openxmlformats.org/officeDocument/2006/relationships/image"/></Relationships>
</file>

<file path=ppt/slides/_rels/slide2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2.png" Type="http://schemas.openxmlformats.org/officeDocument/2006/relationships/image"/><Relationship Id="rId3" Target="../media/image43.png" Type="http://schemas.openxmlformats.org/officeDocument/2006/relationships/image"/><Relationship Id="rId4" Target="../media/image44.png" Type="http://schemas.openxmlformats.org/officeDocument/2006/relationships/image"/><Relationship Id="rId5" Target="../media/image45.png" Type="http://schemas.openxmlformats.org/officeDocument/2006/relationships/image"/><Relationship Id="rId6" Target="../media/image46.png" Type="http://schemas.openxmlformats.org/officeDocument/2006/relationships/image"/><Relationship Id="rId7" Target="../media/image40.png" Type="http://schemas.openxmlformats.org/officeDocument/2006/relationships/image"/><Relationship Id="rId8" Target="../media/image41.png" Type="http://schemas.openxmlformats.org/officeDocument/2006/relationships/image"/></Relationships>
</file>

<file path=ppt/slides/_rels/slide2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2.png" Type="http://schemas.openxmlformats.org/officeDocument/2006/relationships/image"/><Relationship Id="rId3" Target="../media/image43.png" Type="http://schemas.openxmlformats.org/officeDocument/2006/relationships/image"/><Relationship Id="rId4" Target="../media/image44.png" Type="http://schemas.openxmlformats.org/officeDocument/2006/relationships/image"/><Relationship Id="rId5" Target="../media/image45.png" Type="http://schemas.openxmlformats.org/officeDocument/2006/relationships/image"/><Relationship Id="rId6" Target="../media/image46.png" Type="http://schemas.openxmlformats.org/officeDocument/2006/relationships/image"/><Relationship Id="rId7" Target="../media/image40.png" Type="http://schemas.openxmlformats.org/officeDocument/2006/relationships/image"/><Relationship Id="rId8" Target="../media/image41.png" Type="http://schemas.openxmlformats.org/officeDocument/2006/relationships/image"/></Relationships>
</file>

<file path=ppt/slides/_rels/slide2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2.png" Type="http://schemas.openxmlformats.org/officeDocument/2006/relationships/image"/><Relationship Id="rId3" Target="../media/image43.png" Type="http://schemas.openxmlformats.org/officeDocument/2006/relationships/image"/><Relationship Id="rId4" Target="../media/image44.png" Type="http://schemas.openxmlformats.org/officeDocument/2006/relationships/image"/><Relationship Id="rId5" Target="../media/image45.png" Type="http://schemas.openxmlformats.org/officeDocument/2006/relationships/image"/><Relationship Id="rId6" Target="../media/image46.png" Type="http://schemas.openxmlformats.org/officeDocument/2006/relationships/image"/><Relationship Id="rId7" Target="../media/image40.png" Type="http://schemas.openxmlformats.org/officeDocument/2006/relationships/image"/><Relationship Id="rId8" Target="../media/image41.png" Type="http://schemas.openxmlformats.org/officeDocument/2006/relationships/image"/></Relationships>
</file>

<file path=ppt/slides/_rels/slide2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2.png" Type="http://schemas.openxmlformats.org/officeDocument/2006/relationships/image"/><Relationship Id="rId3" Target="../media/image43.png" Type="http://schemas.openxmlformats.org/officeDocument/2006/relationships/image"/><Relationship Id="rId4" Target="../media/image44.png" Type="http://schemas.openxmlformats.org/officeDocument/2006/relationships/image"/><Relationship Id="rId5" Target="../media/image45.png" Type="http://schemas.openxmlformats.org/officeDocument/2006/relationships/image"/><Relationship Id="rId6" Target="../media/image46.png" Type="http://schemas.openxmlformats.org/officeDocument/2006/relationships/image"/><Relationship Id="rId7" Target="../media/image40.png" Type="http://schemas.openxmlformats.org/officeDocument/2006/relationships/image"/><Relationship Id="rId8" Target="../media/image41.png" Type="http://schemas.openxmlformats.org/officeDocument/2006/relationships/image"/></Relationships>
</file>

<file path=ppt/slides/_rels/slide2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2.png" Type="http://schemas.openxmlformats.org/officeDocument/2006/relationships/image"/><Relationship Id="rId3" Target="../media/image43.png" Type="http://schemas.openxmlformats.org/officeDocument/2006/relationships/image"/><Relationship Id="rId4" Target="../media/image44.png" Type="http://schemas.openxmlformats.org/officeDocument/2006/relationships/image"/><Relationship Id="rId5" Target="../media/image45.png" Type="http://schemas.openxmlformats.org/officeDocument/2006/relationships/image"/><Relationship Id="rId6" Target="../media/image46.png" Type="http://schemas.openxmlformats.org/officeDocument/2006/relationships/image"/><Relationship Id="rId7" Target="../media/image40.png" Type="http://schemas.openxmlformats.org/officeDocument/2006/relationships/image"/><Relationship Id="rId8" Target="../media/image41.png" Type="http://schemas.openxmlformats.org/officeDocument/2006/relationships/image"/></Relationships>
</file>

<file path=ppt/slides/_rels/slide2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47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140567" y="-2271173"/>
            <a:ext cx="5423759" cy="6757068"/>
          </a:xfrm>
          <a:custGeom>
            <a:avLst/>
            <a:gdLst/>
            <a:ahLst/>
            <a:cxnLst/>
            <a:rect r="r" b="b" t="t" l="l"/>
            <a:pathLst>
              <a:path h="6757068" w="5423759">
                <a:moveTo>
                  <a:pt x="0" y="0"/>
                </a:moveTo>
                <a:lnTo>
                  <a:pt x="5423759" y="0"/>
                </a:lnTo>
                <a:lnTo>
                  <a:pt x="5423759" y="6757068"/>
                </a:lnTo>
                <a:lnTo>
                  <a:pt x="0" y="675706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8" t="0" r="-8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1054395" y="3618844"/>
            <a:ext cx="8721333" cy="10865276"/>
          </a:xfrm>
          <a:custGeom>
            <a:avLst/>
            <a:gdLst/>
            <a:ahLst/>
            <a:cxnLst/>
            <a:rect r="r" b="b" t="t" l="l"/>
            <a:pathLst>
              <a:path h="10865276" w="8721333">
                <a:moveTo>
                  <a:pt x="0" y="0"/>
                </a:moveTo>
                <a:lnTo>
                  <a:pt x="8721333" y="0"/>
                </a:lnTo>
                <a:lnTo>
                  <a:pt x="8721333" y="10865276"/>
                </a:lnTo>
                <a:lnTo>
                  <a:pt x="0" y="1086527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-7" t="0" r="-7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810000">
            <a:off x="5154208" y="5937366"/>
            <a:ext cx="10015740" cy="3487245"/>
          </a:xfrm>
          <a:custGeom>
            <a:avLst/>
            <a:gdLst/>
            <a:ahLst/>
            <a:cxnLst/>
            <a:rect r="r" b="b" t="t" l="l"/>
            <a:pathLst>
              <a:path h="3487245" w="10015740">
                <a:moveTo>
                  <a:pt x="0" y="2338346"/>
                </a:moveTo>
                <a:lnTo>
                  <a:pt x="9739913" y="0"/>
                </a:lnTo>
                <a:lnTo>
                  <a:pt x="10015739" y="1148899"/>
                </a:lnTo>
                <a:lnTo>
                  <a:pt x="275826" y="3487245"/>
                </a:lnTo>
                <a:lnTo>
                  <a:pt x="0" y="2338346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-343800" t="-83632" r="-343800" b="-83632"/>
            </a:stretch>
          </a:blipFill>
          <a:ln w="38100" cap="sq">
            <a:gradFill>
              <a:gsLst>
                <a:gs pos="0">
                  <a:srgbClr val="0CC0DF">
                    <a:alpha val="100000"/>
                  </a:srgbClr>
                </a:gs>
                <a:gs pos="100000">
                  <a:srgbClr val="FFDE59">
                    <a:alpha val="100000"/>
                  </a:srgbClr>
                </a:gs>
              </a:gsLst>
              <a:lin ang="0"/>
            </a:gradFill>
            <a:prstDash val="solid"/>
            <a:miter/>
          </a:ln>
        </p:spPr>
      </p:sp>
      <p:sp>
        <p:nvSpPr>
          <p:cNvPr name="Freeform 5" id="5"/>
          <p:cNvSpPr/>
          <p:nvPr/>
        </p:nvSpPr>
        <p:spPr>
          <a:xfrm flipH="false" flipV="false" rot="0">
            <a:off x="2907507" y="2396837"/>
            <a:ext cx="14168570" cy="5035295"/>
          </a:xfrm>
          <a:custGeom>
            <a:avLst/>
            <a:gdLst/>
            <a:ahLst/>
            <a:cxnLst/>
            <a:rect r="r" b="b" t="t" l="l"/>
            <a:pathLst>
              <a:path h="5035295" w="14168570">
                <a:moveTo>
                  <a:pt x="0" y="0"/>
                </a:moveTo>
                <a:lnTo>
                  <a:pt x="14168570" y="0"/>
                </a:lnTo>
                <a:lnTo>
                  <a:pt x="14168570" y="5035295"/>
                </a:lnTo>
                <a:lnTo>
                  <a:pt x="0" y="503529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-17" r="0" b="-17"/>
            </a:stretch>
          </a:blipFill>
          <a:ln w="38100" cap="sq">
            <a:solidFill>
              <a:srgbClr val="10B981"/>
            </a:solidFill>
            <a:prstDash val="solid"/>
            <a:miter/>
          </a:ln>
        </p:spPr>
      </p:sp>
      <p:sp>
        <p:nvSpPr>
          <p:cNvPr name="Freeform 6" id="6"/>
          <p:cNvSpPr/>
          <p:nvPr/>
        </p:nvSpPr>
        <p:spPr>
          <a:xfrm flipH="false" flipV="false" rot="0">
            <a:off x="-519040" y="1028700"/>
            <a:ext cx="5069887" cy="10029185"/>
          </a:xfrm>
          <a:custGeom>
            <a:avLst/>
            <a:gdLst/>
            <a:ahLst/>
            <a:cxnLst/>
            <a:rect r="r" b="b" t="t" l="l"/>
            <a:pathLst>
              <a:path h="10029185" w="5069887">
                <a:moveTo>
                  <a:pt x="0" y="0"/>
                </a:moveTo>
                <a:lnTo>
                  <a:pt x="5069887" y="0"/>
                </a:lnTo>
                <a:lnTo>
                  <a:pt x="5069887" y="10029185"/>
                </a:lnTo>
                <a:lnTo>
                  <a:pt x="0" y="10029185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-65" t="0" r="-65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496409" y="5008715"/>
            <a:ext cx="3038951" cy="3038951"/>
            <a:chOff x="0" y="0"/>
            <a:chExt cx="4051935" cy="4051935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4051935" cy="4051935"/>
            </a:xfrm>
            <a:custGeom>
              <a:avLst/>
              <a:gdLst/>
              <a:ahLst/>
              <a:cxnLst/>
              <a:rect r="r" b="b" t="t" l="l"/>
              <a:pathLst>
                <a:path h="4051935" w="4051935">
                  <a:moveTo>
                    <a:pt x="0" y="0"/>
                  </a:moveTo>
                  <a:lnTo>
                    <a:pt x="4051935" y="0"/>
                  </a:lnTo>
                  <a:lnTo>
                    <a:pt x="4051935" y="4051935"/>
                  </a:lnTo>
                  <a:lnTo>
                    <a:pt x="0" y="405193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/>
              <a:stretch>
                <a:fillRect l="0" t="0" r="0" b="0"/>
              </a:stretch>
            </a:blipFill>
          </p:spPr>
        </p:sp>
      </p:grpSp>
      <p:sp>
        <p:nvSpPr>
          <p:cNvPr name="TextBox 9" id="9"/>
          <p:cNvSpPr txBox="true"/>
          <p:nvPr/>
        </p:nvSpPr>
        <p:spPr>
          <a:xfrm rot="0">
            <a:off x="5542691" y="7530903"/>
            <a:ext cx="9238774" cy="5167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73"/>
              </a:lnSpc>
            </a:pPr>
            <a:r>
              <a:rPr lang="en-US" sz="2910" i="true" spc="190">
                <a:solidFill>
                  <a:srgbClr val="10B981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"SMARTER BOOKING FOR EVERY PLAY FACILITY."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6039416" y="4048802"/>
            <a:ext cx="10029958" cy="19484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930"/>
              </a:lnSpc>
            </a:pPr>
            <a:r>
              <a:rPr lang="en-US" sz="13018" b="true">
                <a:solidFill>
                  <a:srgbClr val="2B2A2A"/>
                </a:solidFill>
                <a:latin typeface="Poppins Bold"/>
                <a:ea typeface="Poppins Bold"/>
                <a:cs typeface="Poppins Bold"/>
                <a:sym typeface="Poppins Bold"/>
              </a:rPr>
              <a:t>Play Nation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140567" y="-2271173"/>
            <a:ext cx="5423759" cy="6757068"/>
          </a:xfrm>
          <a:custGeom>
            <a:avLst/>
            <a:gdLst/>
            <a:ahLst/>
            <a:cxnLst/>
            <a:rect r="r" b="b" t="t" l="l"/>
            <a:pathLst>
              <a:path h="6757068" w="5423759">
                <a:moveTo>
                  <a:pt x="0" y="0"/>
                </a:moveTo>
                <a:lnTo>
                  <a:pt x="5423759" y="0"/>
                </a:lnTo>
                <a:lnTo>
                  <a:pt x="5423759" y="6757068"/>
                </a:lnTo>
                <a:lnTo>
                  <a:pt x="0" y="675706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8" t="0" r="-8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1054395" y="3618844"/>
            <a:ext cx="8721333" cy="10865276"/>
          </a:xfrm>
          <a:custGeom>
            <a:avLst/>
            <a:gdLst/>
            <a:ahLst/>
            <a:cxnLst/>
            <a:rect r="r" b="b" t="t" l="l"/>
            <a:pathLst>
              <a:path h="10865276" w="8721333">
                <a:moveTo>
                  <a:pt x="0" y="0"/>
                </a:moveTo>
                <a:lnTo>
                  <a:pt x="8721333" y="0"/>
                </a:lnTo>
                <a:lnTo>
                  <a:pt x="8721333" y="10865276"/>
                </a:lnTo>
                <a:lnTo>
                  <a:pt x="0" y="1086527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-7" t="0" r="-7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2220320" y="2904032"/>
            <a:ext cx="12163812" cy="5701428"/>
            <a:chOff x="0" y="0"/>
            <a:chExt cx="15170277" cy="711061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5170277" cy="7110619"/>
            </a:xfrm>
            <a:custGeom>
              <a:avLst/>
              <a:gdLst/>
              <a:ahLst/>
              <a:cxnLst/>
              <a:rect r="r" b="b" t="t" l="l"/>
              <a:pathLst>
                <a:path h="7110619" w="15170277">
                  <a:moveTo>
                    <a:pt x="168783" y="0"/>
                  </a:moveTo>
                  <a:lnTo>
                    <a:pt x="15001494" y="0"/>
                  </a:lnTo>
                  <a:cubicBezTo>
                    <a:pt x="15046325" y="0"/>
                    <a:pt x="15089251" y="19388"/>
                    <a:pt x="15120874" y="53871"/>
                  </a:cubicBezTo>
                  <a:cubicBezTo>
                    <a:pt x="15152497" y="88355"/>
                    <a:pt x="15170277" y="135163"/>
                    <a:pt x="15170277" y="184049"/>
                  </a:cubicBezTo>
                  <a:lnTo>
                    <a:pt x="15170277" y="6926569"/>
                  </a:lnTo>
                  <a:cubicBezTo>
                    <a:pt x="15170277" y="7028219"/>
                    <a:pt x="15094711" y="7110619"/>
                    <a:pt x="15001494" y="7110619"/>
                  </a:cubicBezTo>
                  <a:lnTo>
                    <a:pt x="168783" y="7110619"/>
                  </a:lnTo>
                  <a:cubicBezTo>
                    <a:pt x="123952" y="7110619"/>
                    <a:pt x="81026" y="7091230"/>
                    <a:pt x="49403" y="7056747"/>
                  </a:cubicBezTo>
                  <a:cubicBezTo>
                    <a:pt x="17780" y="7022264"/>
                    <a:pt x="0" y="6975456"/>
                    <a:pt x="0" y="6926569"/>
                  </a:cubicBezTo>
                  <a:lnTo>
                    <a:pt x="0" y="184049"/>
                  </a:lnTo>
                  <a:cubicBezTo>
                    <a:pt x="0" y="135163"/>
                    <a:pt x="17780" y="88355"/>
                    <a:pt x="49403" y="53871"/>
                  </a:cubicBezTo>
                  <a:cubicBezTo>
                    <a:pt x="81026" y="19388"/>
                    <a:pt x="124079" y="0"/>
                    <a:pt x="168783" y="0"/>
                  </a:cubicBezTo>
                  <a:close/>
                </a:path>
              </a:pathLst>
            </a:custGeom>
            <a:solidFill>
              <a:srgbClr val="FFFFFF">
                <a:alpha val="89804"/>
              </a:srgbClr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2613383" y="3251313"/>
            <a:ext cx="11377685" cy="4940640"/>
            <a:chOff x="0" y="0"/>
            <a:chExt cx="15170247" cy="658752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5170246" cy="6587520"/>
            </a:xfrm>
            <a:custGeom>
              <a:avLst/>
              <a:gdLst/>
              <a:ahLst/>
              <a:cxnLst/>
              <a:rect r="r" b="b" t="t" l="l"/>
              <a:pathLst>
                <a:path h="6587520" w="15170246">
                  <a:moveTo>
                    <a:pt x="0" y="0"/>
                  </a:moveTo>
                  <a:lnTo>
                    <a:pt x="15170246" y="0"/>
                  </a:lnTo>
                  <a:lnTo>
                    <a:pt x="15170246" y="6587520"/>
                  </a:lnTo>
                  <a:lnTo>
                    <a:pt x="0" y="658752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47625" cap="sq">
              <a:solidFill>
                <a:srgbClr val="10B981"/>
              </a:solidFill>
              <a:prstDash val="solid"/>
              <a:miter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66675"/>
              <a:ext cx="15170247" cy="665419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just">
                <a:lnSpc>
                  <a:spcPts val="4759"/>
                </a:lnSpc>
              </a:pPr>
              <a:r>
                <a:rPr lang="en-US" sz="3399" b="true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 </a:t>
              </a:r>
              <a:r>
                <a:rPr lang="en-US" sz="3399" b="true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   1. Surbhi Roy          Enrollment-no:(SC23BCCA110)</a:t>
              </a:r>
            </a:p>
            <a:p>
              <a:pPr algn="just">
                <a:lnSpc>
                  <a:spcPts val="4759"/>
                </a:lnSpc>
              </a:pPr>
              <a:r>
                <a:rPr lang="en-US" sz="3399" b="true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    2. Harsh Shah         Enrollment-no:(SC23BCCA118)</a:t>
              </a:r>
            </a:p>
            <a:p>
              <a:pPr algn="just">
                <a:lnSpc>
                  <a:spcPts val="4759"/>
                </a:lnSpc>
              </a:pPr>
              <a:r>
                <a:rPr lang="en-US" sz="3399" b="true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    3. Swayam Shah    Enrollment-no:(SC23BCCA130)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5003257" y="179532"/>
            <a:ext cx="3071781" cy="3071781"/>
            <a:chOff x="0" y="0"/>
            <a:chExt cx="6520817" cy="6520817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6520815" cy="6520815"/>
            </a:xfrm>
            <a:custGeom>
              <a:avLst/>
              <a:gdLst/>
              <a:ahLst/>
              <a:cxnLst/>
              <a:rect r="r" b="b" t="t" l="l"/>
              <a:pathLst>
                <a:path h="6520815" w="6520815">
                  <a:moveTo>
                    <a:pt x="0" y="0"/>
                  </a:moveTo>
                  <a:lnTo>
                    <a:pt x="6520815" y="0"/>
                  </a:lnTo>
                  <a:lnTo>
                    <a:pt x="6520815" y="6520815"/>
                  </a:lnTo>
                  <a:lnTo>
                    <a:pt x="0" y="652081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</p:spPr>
        </p:sp>
      </p:grpSp>
      <p:sp>
        <p:nvSpPr>
          <p:cNvPr name="TextBox 11" id="11"/>
          <p:cNvSpPr txBox="true"/>
          <p:nvPr/>
        </p:nvSpPr>
        <p:spPr>
          <a:xfrm rot="0">
            <a:off x="3867143" y="781050"/>
            <a:ext cx="9850062" cy="20764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294"/>
              </a:lnSpc>
            </a:pPr>
            <a:r>
              <a:rPr lang="en-US" sz="8782" b="true">
                <a:solidFill>
                  <a:srgbClr val="373737"/>
                </a:solidFill>
                <a:latin typeface="Poppins Bold"/>
                <a:ea typeface="Poppins Bold"/>
                <a:cs typeface="Poppins Bold"/>
                <a:sym typeface="Poppins Bold"/>
              </a:rPr>
              <a:t>PlayNation</a:t>
            </a:r>
            <a:r>
              <a:rPr lang="en-US" sz="8782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 </a:t>
            </a:r>
            <a:r>
              <a:rPr lang="en-US" sz="8782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Team</a:t>
            </a:r>
          </a:p>
        </p:txBody>
      </p:sp>
    </p:spTree>
  </p:cSld>
  <p:clrMapOvr>
    <a:masterClrMapping/>
  </p:clrMapOvr>
  <p:transition spd="fast">
    <p:fade/>
  </p:transition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2954694" y="-4913086"/>
            <a:ext cx="9567961" cy="9062350"/>
          </a:xfrm>
          <a:custGeom>
            <a:avLst/>
            <a:gdLst/>
            <a:ahLst/>
            <a:cxnLst/>
            <a:rect r="r" b="b" t="t" l="l"/>
            <a:pathLst>
              <a:path h="9062350" w="9567961">
                <a:moveTo>
                  <a:pt x="0" y="0"/>
                </a:moveTo>
                <a:lnTo>
                  <a:pt x="9567961" y="0"/>
                </a:lnTo>
                <a:lnTo>
                  <a:pt x="9567961" y="9062350"/>
                </a:lnTo>
                <a:lnTo>
                  <a:pt x="0" y="906235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-5" r="0" b="-5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9808261" y="952003"/>
            <a:ext cx="1551432" cy="519017"/>
            <a:chOff x="0" y="0"/>
            <a:chExt cx="2068576" cy="69202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068576" cy="692023"/>
            </a:xfrm>
            <a:custGeom>
              <a:avLst/>
              <a:gdLst/>
              <a:ahLst/>
              <a:cxnLst/>
              <a:rect r="r" b="b" t="t" l="l"/>
              <a:pathLst>
                <a:path h="692023" w="2068576">
                  <a:moveTo>
                    <a:pt x="194310" y="0"/>
                  </a:moveTo>
                  <a:lnTo>
                    <a:pt x="1874266" y="0"/>
                  </a:lnTo>
                  <a:cubicBezTo>
                    <a:pt x="1981581" y="0"/>
                    <a:pt x="2068576" y="86995"/>
                    <a:pt x="2068576" y="194310"/>
                  </a:cubicBezTo>
                  <a:lnTo>
                    <a:pt x="2068576" y="497713"/>
                  </a:lnTo>
                  <a:cubicBezTo>
                    <a:pt x="2068576" y="605028"/>
                    <a:pt x="1981581" y="692023"/>
                    <a:pt x="1874266" y="692023"/>
                  </a:cubicBezTo>
                  <a:lnTo>
                    <a:pt x="194310" y="692023"/>
                  </a:lnTo>
                  <a:cubicBezTo>
                    <a:pt x="86995" y="692023"/>
                    <a:pt x="0" y="605028"/>
                    <a:pt x="0" y="497713"/>
                  </a:cubicBezTo>
                  <a:lnTo>
                    <a:pt x="0" y="194310"/>
                  </a:lnTo>
                  <a:cubicBezTo>
                    <a:pt x="0" y="86995"/>
                    <a:pt x="86995" y="0"/>
                    <a:pt x="194310" y="0"/>
                  </a:cubicBezTo>
                  <a:close/>
                </a:path>
              </a:pathLst>
            </a:custGeom>
            <a:solidFill>
              <a:srgbClr val="8B3DFF">
                <a:alpha val="19608"/>
              </a:srgbClr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-4819" y="3864722"/>
            <a:ext cx="5788317" cy="5788317"/>
            <a:chOff x="0" y="0"/>
            <a:chExt cx="6820027" cy="6820027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6820027" cy="6820027"/>
            </a:xfrm>
            <a:custGeom>
              <a:avLst/>
              <a:gdLst/>
              <a:ahLst/>
              <a:cxnLst/>
              <a:rect r="r" b="b" t="t" l="l"/>
              <a:pathLst>
                <a:path h="6820027" w="6820027">
                  <a:moveTo>
                    <a:pt x="0" y="0"/>
                  </a:moveTo>
                  <a:lnTo>
                    <a:pt x="6820027" y="0"/>
                  </a:lnTo>
                  <a:lnTo>
                    <a:pt x="6820027" y="6820027"/>
                  </a:lnTo>
                  <a:lnTo>
                    <a:pt x="0" y="682002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sp>
        <p:nvSpPr>
          <p:cNvPr name="TextBox 7" id="7"/>
          <p:cNvSpPr txBox="true"/>
          <p:nvPr/>
        </p:nvSpPr>
        <p:spPr>
          <a:xfrm rot="0">
            <a:off x="5825908" y="3553648"/>
            <a:ext cx="10350368" cy="6411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38"/>
              </a:lnSpc>
            </a:pPr>
            <a:r>
              <a:rPr lang="en-US" sz="4364" i="true">
                <a:solidFill>
                  <a:srgbClr val="10B981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# From Boredom to Breakthrough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11054395" y="3618844"/>
            <a:ext cx="8721333" cy="10865276"/>
          </a:xfrm>
          <a:custGeom>
            <a:avLst/>
            <a:gdLst/>
            <a:ahLst/>
            <a:cxnLst/>
            <a:rect r="r" b="b" t="t" l="l"/>
            <a:pathLst>
              <a:path h="10865276" w="8721333">
                <a:moveTo>
                  <a:pt x="0" y="0"/>
                </a:moveTo>
                <a:lnTo>
                  <a:pt x="8721333" y="0"/>
                </a:lnTo>
                <a:lnTo>
                  <a:pt x="8721333" y="10865276"/>
                </a:lnTo>
                <a:lnTo>
                  <a:pt x="0" y="10865276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-7" t="0" r="-7" b="0"/>
            </a:stretch>
          </a:blipFill>
        </p:spPr>
      </p:sp>
      <p:grpSp>
        <p:nvGrpSpPr>
          <p:cNvPr name="Group 9" id="9"/>
          <p:cNvGrpSpPr/>
          <p:nvPr/>
        </p:nvGrpSpPr>
        <p:grpSpPr>
          <a:xfrm rot="0">
            <a:off x="6048589" y="4728246"/>
            <a:ext cx="11210711" cy="4855722"/>
            <a:chOff x="0" y="0"/>
            <a:chExt cx="13739048" cy="5950826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3739048" cy="5950826"/>
            </a:xfrm>
            <a:custGeom>
              <a:avLst/>
              <a:gdLst/>
              <a:ahLst/>
              <a:cxnLst/>
              <a:rect r="r" b="b" t="t" l="l"/>
              <a:pathLst>
                <a:path h="5950826" w="13739048">
                  <a:moveTo>
                    <a:pt x="152859" y="0"/>
                  </a:moveTo>
                  <a:lnTo>
                    <a:pt x="13586188" y="0"/>
                  </a:lnTo>
                  <a:cubicBezTo>
                    <a:pt x="13626790" y="0"/>
                    <a:pt x="13665667" y="16226"/>
                    <a:pt x="13694305" y="45085"/>
                  </a:cubicBezTo>
                  <a:cubicBezTo>
                    <a:pt x="13722945" y="73943"/>
                    <a:pt x="13739048" y="113117"/>
                    <a:pt x="13739048" y="154030"/>
                  </a:cubicBezTo>
                  <a:lnTo>
                    <a:pt x="13739048" y="5796797"/>
                  </a:lnTo>
                  <a:cubicBezTo>
                    <a:pt x="13739048" y="5881866"/>
                    <a:pt x="13670612" y="5950826"/>
                    <a:pt x="13586188" y="5950826"/>
                  </a:cubicBezTo>
                  <a:lnTo>
                    <a:pt x="152859" y="5950826"/>
                  </a:lnTo>
                  <a:cubicBezTo>
                    <a:pt x="112258" y="5950826"/>
                    <a:pt x="73382" y="5934600"/>
                    <a:pt x="44742" y="5905741"/>
                  </a:cubicBezTo>
                  <a:cubicBezTo>
                    <a:pt x="16103" y="5876883"/>
                    <a:pt x="0" y="5837709"/>
                    <a:pt x="0" y="5796797"/>
                  </a:cubicBezTo>
                  <a:lnTo>
                    <a:pt x="0" y="154030"/>
                  </a:lnTo>
                  <a:cubicBezTo>
                    <a:pt x="0" y="113117"/>
                    <a:pt x="16103" y="73943"/>
                    <a:pt x="44742" y="45085"/>
                  </a:cubicBezTo>
                  <a:cubicBezTo>
                    <a:pt x="73382" y="16226"/>
                    <a:pt x="112373" y="0"/>
                    <a:pt x="152859" y="0"/>
                  </a:cubicBezTo>
                  <a:close/>
                </a:path>
              </a:pathLst>
            </a:custGeom>
            <a:solidFill>
              <a:srgbClr val="FFFFFF">
                <a:alpha val="89804"/>
              </a:srgbClr>
            </a:solidFill>
          </p:spPr>
        </p:sp>
      </p:grpSp>
      <p:sp>
        <p:nvSpPr>
          <p:cNvPr name="TextBox 11" id="11"/>
          <p:cNvSpPr txBox="true"/>
          <p:nvPr/>
        </p:nvSpPr>
        <p:spPr>
          <a:xfrm rot="0">
            <a:off x="5934289" y="5019675"/>
            <a:ext cx="10951986" cy="44806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51389" indent="-275694" lvl="1">
              <a:lnSpc>
                <a:spcPts val="4086"/>
              </a:lnSpc>
              <a:buFont typeface="Arial"/>
              <a:buChar char="•"/>
            </a:pPr>
            <a:r>
              <a:rPr lang="en-US" sz="2553" spc="25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 spontaneous pickleball plan was derailed by a fully       booked court.</a:t>
            </a:r>
          </a:p>
          <a:p>
            <a:pPr algn="l" marL="551389" indent="-275694" lvl="1">
              <a:lnSpc>
                <a:spcPts val="4086"/>
              </a:lnSpc>
              <a:buFont typeface="Arial"/>
              <a:buChar char="•"/>
            </a:pPr>
            <a:r>
              <a:rPr lang="en-US" sz="2553" spc="25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Frustration turned into inspiration over a cup of tea.</a:t>
            </a:r>
          </a:p>
          <a:p>
            <a:pPr algn="l" marL="551389" indent="-275694" lvl="1">
              <a:lnSpc>
                <a:spcPts val="4086"/>
              </a:lnSpc>
              <a:buFont typeface="Arial"/>
              <a:buChar char="•"/>
            </a:pPr>
            <a:r>
              <a:rPr lang="en-US" sz="2553" spc="25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The simple question: “Why can’t we check slots online?”  sparked a business idea.</a:t>
            </a:r>
          </a:p>
          <a:p>
            <a:pPr algn="l" marL="551389" indent="-275694" lvl="1">
              <a:lnSpc>
                <a:spcPts val="4086"/>
              </a:lnSpc>
              <a:buFont typeface="Arial"/>
              <a:buChar char="•"/>
            </a:pPr>
            <a:r>
              <a:rPr lang="en-US" sz="2553" spc="25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We set out to build the solution we needed: a simple, real-time turf booking app.</a:t>
            </a:r>
          </a:p>
          <a:p>
            <a:pPr algn="l" marL="551389" indent="-275694" lvl="1">
              <a:lnSpc>
                <a:spcPts val="4086"/>
              </a:lnSpc>
              <a:buFont typeface="Arial"/>
              <a:buChar char="•"/>
            </a:pPr>
            <a:r>
              <a:rPr lang="en-US" sz="2553" spc="25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That evening, a company was born.</a:t>
            </a:r>
          </a:p>
          <a:p>
            <a:pPr algn="l">
              <a:lnSpc>
                <a:spcPts val="2821"/>
              </a:lnSpc>
            </a:pPr>
          </a:p>
        </p:txBody>
      </p:sp>
      <p:sp>
        <p:nvSpPr>
          <p:cNvPr name="TextBox 12" id="12"/>
          <p:cNvSpPr txBox="true"/>
          <p:nvPr/>
        </p:nvSpPr>
        <p:spPr>
          <a:xfrm rot="0">
            <a:off x="702964" y="2019666"/>
            <a:ext cx="5549061" cy="10196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022"/>
              </a:lnSpc>
            </a:pPr>
            <a:r>
              <a:rPr lang="en-US" sz="7497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Abstract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9802368" y="993327"/>
            <a:ext cx="1551432" cy="3982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9"/>
              </a:lnSpc>
            </a:pPr>
            <a:r>
              <a:rPr lang="en-US" sz="20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STORY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1745308" y="993327"/>
            <a:ext cx="2077830" cy="4160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9"/>
              </a:lnSpc>
            </a:pPr>
            <a:r>
              <a:rPr lang="en-US" sz="20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INTRODUCTION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4189703" y="993327"/>
            <a:ext cx="2827402" cy="4160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9"/>
              </a:lnSpc>
            </a:pPr>
            <a:r>
              <a:rPr lang="en-US" sz="20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PROBLEM STATEMENT</a:t>
            </a:r>
          </a:p>
        </p:txBody>
      </p:sp>
    </p:spTree>
  </p:cSld>
  <p:clrMapOvr>
    <a:masterClrMapping/>
  </p:clrMapOvr>
  <p:transition spd="fast">
    <p:fade/>
  </p:transition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5486400" y="-4753394"/>
            <a:ext cx="9567961" cy="9062350"/>
          </a:xfrm>
          <a:custGeom>
            <a:avLst/>
            <a:gdLst/>
            <a:ahLst/>
            <a:cxnLst/>
            <a:rect r="r" b="b" t="t" l="l"/>
            <a:pathLst>
              <a:path h="9062350" w="9567961">
                <a:moveTo>
                  <a:pt x="0" y="0"/>
                </a:moveTo>
                <a:lnTo>
                  <a:pt x="9567961" y="0"/>
                </a:lnTo>
                <a:lnTo>
                  <a:pt x="9567961" y="9062350"/>
                </a:lnTo>
                <a:lnTo>
                  <a:pt x="0" y="906235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-5" r="0" b="-5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1515751" y="942478"/>
            <a:ext cx="2241374" cy="519017"/>
            <a:chOff x="0" y="0"/>
            <a:chExt cx="2988498" cy="69202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988486" cy="692023"/>
            </a:xfrm>
            <a:custGeom>
              <a:avLst/>
              <a:gdLst/>
              <a:ahLst/>
              <a:cxnLst/>
              <a:rect r="r" b="b" t="t" l="l"/>
              <a:pathLst>
                <a:path h="692023" w="2988486">
                  <a:moveTo>
                    <a:pt x="280697" y="0"/>
                  </a:moveTo>
                  <a:lnTo>
                    <a:pt x="2707789" y="0"/>
                  </a:lnTo>
                  <a:cubicBezTo>
                    <a:pt x="2862864" y="0"/>
                    <a:pt x="2988486" y="86995"/>
                    <a:pt x="2988486" y="194310"/>
                  </a:cubicBezTo>
                  <a:lnTo>
                    <a:pt x="2988486" y="497713"/>
                  </a:lnTo>
                  <a:cubicBezTo>
                    <a:pt x="2988486" y="605028"/>
                    <a:pt x="2862864" y="692023"/>
                    <a:pt x="2707789" y="692023"/>
                  </a:cubicBezTo>
                  <a:lnTo>
                    <a:pt x="280697" y="692023"/>
                  </a:lnTo>
                  <a:cubicBezTo>
                    <a:pt x="125622" y="692023"/>
                    <a:pt x="0" y="605028"/>
                    <a:pt x="0" y="497713"/>
                  </a:cubicBezTo>
                  <a:lnTo>
                    <a:pt x="0" y="194310"/>
                  </a:lnTo>
                  <a:cubicBezTo>
                    <a:pt x="0" y="86995"/>
                    <a:pt x="125622" y="0"/>
                    <a:pt x="280697" y="0"/>
                  </a:cubicBezTo>
                  <a:close/>
                </a:path>
              </a:pathLst>
            </a:custGeom>
            <a:solidFill>
              <a:srgbClr val="8B3DFF">
                <a:alpha val="19608"/>
              </a:srgbClr>
            </a:solidFill>
          </p:spPr>
        </p:sp>
      </p:grpSp>
      <p:sp>
        <p:nvSpPr>
          <p:cNvPr name="TextBox 5" id="5"/>
          <p:cNvSpPr txBox="true"/>
          <p:nvPr/>
        </p:nvSpPr>
        <p:spPr>
          <a:xfrm rot="0">
            <a:off x="9802368" y="993327"/>
            <a:ext cx="1551432" cy="3982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9"/>
              </a:lnSpc>
            </a:pPr>
            <a:r>
              <a:rPr lang="en-US" sz="20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STORY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1616573" y="993327"/>
            <a:ext cx="2077830" cy="4160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9"/>
              </a:lnSpc>
            </a:pPr>
            <a:r>
              <a:rPr lang="en-US" sz="20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INTRODUCTION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4189703" y="993327"/>
            <a:ext cx="2827402" cy="4160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9"/>
              </a:lnSpc>
            </a:pPr>
            <a:r>
              <a:rPr lang="en-US" sz="20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PROBLEM STATEMENT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5081483" y="2996598"/>
            <a:ext cx="4720885" cy="1114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023"/>
              </a:lnSpc>
            </a:pPr>
            <a:r>
              <a:rPr lang="en-US" sz="7498" b="true">
                <a:solidFill>
                  <a:srgbClr val="373737"/>
                </a:solidFill>
                <a:latin typeface="Poppins Bold"/>
                <a:ea typeface="Poppins Bold"/>
                <a:cs typeface="Poppins Bold"/>
                <a:sym typeface="Poppins Bold"/>
              </a:rPr>
              <a:t>Overview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12003801" y="4364787"/>
            <a:ext cx="5551265" cy="3474244"/>
            <a:chOff x="0" y="0"/>
            <a:chExt cx="7401686" cy="4632325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7401687" cy="4632325"/>
            </a:xfrm>
            <a:custGeom>
              <a:avLst/>
              <a:gdLst/>
              <a:ahLst/>
              <a:cxnLst/>
              <a:rect r="r" b="b" t="t" l="l"/>
              <a:pathLst>
                <a:path h="4632325" w="7401687">
                  <a:moveTo>
                    <a:pt x="0" y="0"/>
                  </a:moveTo>
                  <a:lnTo>
                    <a:pt x="7401687" y="0"/>
                  </a:lnTo>
                  <a:lnTo>
                    <a:pt x="7401687" y="4632325"/>
                  </a:lnTo>
                  <a:lnTo>
                    <a:pt x="0" y="4632325"/>
                  </a:lnTo>
                  <a:close/>
                </a:path>
              </a:pathLst>
            </a:custGeom>
            <a:blipFill>
              <a:blip r:embed="rId4"/>
              <a:stretch>
                <a:fillRect l="0" t="-3372" r="0" b="-3372"/>
              </a:stretch>
            </a:blipFill>
          </p:spPr>
        </p:sp>
      </p:grpSp>
      <p:sp>
        <p:nvSpPr>
          <p:cNvPr name="Freeform 11" id="11"/>
          <p:cNvSpPr/>
          <p:nvPr/>
        </p:nvSpPr>
        <p:spPr>
          <a:xfrm flipH="false" flipV="false" rot="0">
            <a:off x="11121273" y="4110973"/>
            <a:ext cx="7317529" cy="4164646"/>
          </a:xfrm>
          <a:custGeom>
            <a:avLst/>
            <a:gdLst/>
            <a:ahLst/>
            <a:cxnLst/>
            <a:rect r="r" b="b" t="t" l="l"/>
            <a:pathLst>
              <a:path h="4164646" w="7317529">
                <a:moveTo>
                  <a:pt x="0" y="0"/>
                </a:moveTo>
                <a:lnTo>
                  <a:pt x="7317529" y="0"/>
                </a:lnTo>
                <a:lnTo>
                  <a:pt x="7317529" y="4164646"/>
                </a:lnTo>
                <a:lnTo>
                  <a:pt x="0" y="4164646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-38" r="0" b="-38"/>
            </a:stretch>
          </a:blipFill>
        </p:spPr>
      </p:sp>
      <p:grpSp>
        <p:nvGrpSpPr>
          <p:cNvPr name="Group 12" id="12"/>
          <p:cNvGrpSpPr/>
          <p:nvPr/>
        </p:nvGrpSpPr>
        <p:grpSpPr>
          <a:xfrm rot="0">
            <a:off x="11823337" y="4130766"/>
            <a:ext cx="5914549" cy="3966782"/>
            <a:chOff x="0" y="0"/>
            <a:chExt cx="7886065" cy="5289042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7886065" cy="5289042"/>
            </a:xfrm>
            <a:custGeom>
              <a:avLst/>
              <a:gdLst/>
              <a:ahLst/>
              <a:cxnLst/>
              <a:rect r="r" b="b" t="t" l="l"/>
              <a:pathLst>
                <a:path h="5289042" w="7886065">
                  <a:moveTo>
                    <a:pt x="7608189" y="0"/>
                  </a:moveTo>
                  <a:lnTo>
                    <a:pt x="276352" y="0"/>
                  </a:lnTo>
                  <a:cubicBezTo>
                    <a:pt x="124206" y="0"/>
                    <a:pt x="0" y="124206"/>
                    <a:pt x="0" y="276352"/>
                  </a:cubicBezTo>
                  <a:lnTo>
                    <a:pt x="0" y="5289042"/>
                  </a:lnTo>
                  <a:lnTo>
                    <a:pt x="7886065" y="5289042"/>
                  </a:lnTo>
                  <a:lnTo>
                    <a:pt x="7886065" y="276352"/>
                  </a:lnTo>
                  <a:cubicBezTo>
                    <a:pt x="7884541" y="124206"/>
                    <a:pt x="7760335" y="0"/>
                    <a:pt x="7608189" y="0"/>
                  </a:cubicBezTo>
                  <a:close/>
                  <a:moveTo>
                    <a:pt x="7642352" y="4942713"/>
                  </a:moveTo>
                  <a:lnTo>
                    <a:pt x="240665" y="4942713"/>
                  </a:lnTo>
                  <a:lnTo>
                    <a:pt x="240665" y="312039"/>
                  </a:lnTo>
                  <a:lnTo>
                    <a:pt x="7642352" y="312039"/>
                  </a:lnTo>
                  <a:lnTo>
                    <a:pt x="7642352" y="4942713"/>
                  </a:lnTo>
                  <a:close/>
                </a:path>
              </a:pathLst>
            </a:custGeom>
            <a:solidFill>
              <a:srgbClr val="373737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14293949" y="8098648"/>
            <a:ext cx="971073" cy="88488"/>
            <a:chOff x="0" y="0"/>
            <a:chExt cx="1294764" cy="117983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294765" cy="117983"/>
            </a:xfrm>
            <a:custGeom>
              <a:avLst/>
              <a:gdLst/>
              <a:ahLst/>
              <a:cxnLst/>
              <a:rect r="r" b="b" t="t" l="l"/>
              <a:pathLst>
                <a:path h="117983" w="1294765">
                  <a:moveTo>
                    <a:pt x="117983" y="117983"/>
                  </a:moveTo>
                  <a:lnTo>
                    <a:pt x="1178306" y="117983"/>
                  </a:lnTo>
                  <a:cubicBezTo>
                    <a:pt x="1243457" y="117983"/>
                    <a:pt x="1294765" y="65151"/>
                    <a:pt x="1294765" y="1524"/>
                  </a:cubicBezTo>
                  <a:lnTo>
                    <a:pt x="1294765" y="0"/>
                  </a:lnTo>
                  <a:lnTo>
                    <a:pt x="0" y="0"/>
                  </a:lnTo>
                  <a:lnTo>
                    <a:pt x="0" y="1524"/>
                  </a:lnTo>
                  <a:cubicBezTo>
                    <a:pt x="0" y="65151"/>
                    <a:pt x="52832" y="117983"/>
                    <a:pt x="117983" y="117983"/>
                  </a:cubicBezTo>
                  <a:close/>
                </a:path>
              </a:pathLst>
            </a:custGeom>
            <a:solidFill>
              <a:srgbClr val="727171"/>
            </a:solid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11271466" y="8275619"/>
            <a:ext cx="7017164" cy="32575"/>
            <a:chOff x="0" y="0"/>
            <a:chExt cx="9356218" cy="43434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9356217" cy="43434"/>
            </a:xfrm>
            <a:custGeom>
              <a:avLst/>
              <a:gdLst/>
              <a:ahLst/>
              <a:cxnLst/>
              <a:rect r="r" b="b" t="t" l="l"/>
              <a:pathLst>
                <a:path h="43434" w="9356217">
                  <a:moveTo>
                    <a:pt x="0" y="0"/>
                  </a:moveTo>
                  <a:cubicBezTo>
                    <a:pt x="0" y="24892"/>
                    <a:pt x="20193" y="43434"/>
                    <a:pt x="43434" y="43434"/>
                  </a:cubicBezTo>
                  <a:lnTo>
                    <a:pt x="9312783" y="43434"/>
                  </a:lnTo>
                  <a:cubicBezTo>
                    <a:pt x="9337675" y="43434"/>
                    <a:pt x="9356217" y="23241"/>
                    <a:pt x="935621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727171"/>
            </a:solidFill>
          </p:spPr>
        </p:sp>
      </p:grpSp>
      <p:sp>
        <p:nvSpPr>
          <p:cNvPr name="TextBox 18" id="18"/>
          <p:cNvSpPr txBox="true"/>
          <p:nvPr/>
        </p:nvSpPr>
        <p:spPr>
          <a:xfrm rot="0">
            <a:off x="888546" y="4497269"/>
            <a:ext cx="9830017" cy="50723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24"/>
              </a:lnSpc>
            </a:pPr>
            <a:r>
              <a:rPr lang="en-US" sz="2533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PlayNation is more than just a turf-booking app — it's a solution sparked by spontaneity, tea-fueled conversations, and the frustration of missing out on playtime.</a:t>
            </a:r>
          </a:p>
          <a:p>
            <a:pPr algn="l">
              <a:lnSpc>
                <a:spcPts val="3824"/>
              </a:lnSpc>
            </a:pPr>
            <a:r>
              <a:rPr lang="en-US" sz="2533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PlayNation is your go-to platform to discover, view, and instantly book slots at sports turfs near you. Whether you're planning a last-minute match or organizing a weekend tournament — PlayNation has your back.</a:t>
            </a:r>
          </a:p>
          <a:p>
            <a:pPr algn="l">
              <a:lnSpc>
                <a:spcPts val="3824"/>
              </a:lnSpc>
            </a:pPr>
          </a:p>
          <a:p>
            <a:pPr algn="l">
              <a:lnSpc>
                <a:spcPts val="3824"/>
              </a:lnSpc>
            </a:pPr>
            <a:r>
              <a:rPr lang="en-US" sz="2533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That’s why our tagline is</a:t>
            </a:r>
          </a:p>
          <a:p>
            <a:pPr algn="l">
              <a:lnSpc>
                <a:spcPts val="3824"/>
              </a:lnSpc>
            </a:pPr>
            <a:r>
              <a:rPr lang="en-US" sz="2533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"From Couch to Court – PlayNation Gets You There."</a:t>
            </a:r>
          </a:p>
        </p:txBody>
      </p:sp>
    </p:spTree>
  </p:cSld>
  <p:clrMapOvr>
    <a:masterClrMapping/>
  </p:clrMapOvr>
  <p:transition spd="fast">
    <p:fade/>
  </p:transition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4152769" y="961528"/>
            <a:ext cx="2864414" cy="519017"/>
            <a:chOff x="0" y="0"/>
            <a:chExt cx="3819219" cy="69202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819271" cy="692023"/>
            </a:xfrm>
            <a:custGeom>
              <a:avLst/>
              <a:gdLst/>
              <a:ahLst/>
              <a:cxnLst/>
              <a:rect r="r" b="b" t="t" l="l"/>
              <a:pathLst>
                <a:path h="692023" w="3819271">
                  <a:moveTo>
                    <a:pt x="358775" y="0"/>
                  </a:moveTo>
                  <a:lnTo>
                    <a:pt x="3460496" y="0"/>
                  </a:lnTo>
                  <a:cubicBezTo>
                    <a:pt x="3658616" y="0"/>
                    <a:pt x="3819271" y="86995"/>
                    <a:pt x="3819271" y="194310"/>
                  </a:cubicBezTo>
                  <a:lnTo>
                    <a:pt x="3819271" y="497713"/>
                  </a:lnTo>
                  <a:cubicBezTo>
                    <a:pt x="3819271" y="605028"/>
                    <a:pt x="3658616" y="692023"/>
                    <a:pt x="3460496" y="692023"/>
                  </a:cubicBezTo>
                  <a:lnTo>
                    <a:pt x="358775" y="692023"/>
                  </a:lnTo>
                  <a:cubicBezTo>
                    <a:pt x="160655" y="692023"/>
                    <a:pt x="0" y="605028"/>
                    <a:pt x="0" y="497713"/>
                  </a:cubicBezTo>
                  <a:lnTo>
                    <a:pt x="0" y="194310"/>
                  </a:lnTo>
                  <a:cubicBezTo>
                    <a:pt x="0" y="86995"/>
                    <a:pt x="160655" y="0"/>
                    <a:pt x="358775" y="0"/>
                  </a:cubicBezTo>
                  <a:close/>
                </a:path>
              </a:pathLst>
            </a:custGeom>
            <a:solidFill>
              <a:srgbClr val="8B3DFF">
                <a:alpha val="19608"/>
              </a:srgbClr>
            </a:solidFill>
          </p:spPr>
        </p:sp>
      </p:grpSp>
      <p:sp>
        <p:nvSpPr>
          <p:cNvPr name="TextBox 4" id="4"/>
          <p:cNvSpPr txBox="true"/>
          <p:nvPr/>
        </p:nvSpPr>
        <p:spPr>
          <a:xfrm rot="0">
            <a:off x="9802368" y="993327"/>
            <a:ext cx="1551432" cy="3982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9"/>
              </a:lnSpc>
            </a:pPr>
            <a:r>
              <a:rPr lang="en-US" sz="20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STORY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1616573" y="993327"/>
            <a:ext cx="2077830" cy="4160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9"/>
              </a:lnSpc>
            </a:pPr>
            <a:r>
              <a:rPr lang="en-US" sz="20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INTRODUCTION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4189703" y="993327"/>
            <a:ext cx="2827402" cy="4160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9"/>
              </a:lnSpc>
            </a:pPr>
            <a:r>
              <a:rPr lang="en-US" sz="20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PROBLEM STATEMENT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-1140567" y="-2271173"/>
            <a:ext cx="5423759" cy="6757068"/>
          </a:xfrm>
          <a:custGeom>
            <a:avLst/>
            <a:gdLst/>
            <a:ahLst/>
            <a:cxnLst/>
            <a:rect r="r" b="b" t="t" l="l"/>
            <a:pathLst>
              <a:path h="6757068" w="5423759">
                <a:moveTo>
                  <a:pt x="0" y="0"/>
                </a:moveTo>
                <a:lnTo>
                  <a:pt x="5423759" y="0"/>
                </a:lnTo>
                <a:lnTo>
                  <a:pt x="5423759" y="6757068"/>
                </a:lnTo>
                <a:lnTo>
                  <a:pt x="0" y="675706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8" t="0" r="-8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757643" y="3114771"/>
            <a:ext cx="5947068" cy="6034847"/>
          </a:xfrm>
          <a:custGeom>
            <a:avLst/>
            <a:gdLst/>
            <a:ahLst/>
            <a:cxnLst/>
            <a:rect r="r" b="b" t="t" l="l"/>
            <a:pathLst>
              <a:path h="6034847" w="5947068">
                <a:moveTo>
                  <a:pt x="0" y="0"/>
                </a:moveTo>
                <a:lnTo>
                  <a:pt x="5947068" y="0"/>
                </a:lnTo>
                <a:lnTo>
                  <a:pt x="5947068" y="6034847"/>
                </a:lnTo>
                <a:lnTo>
                  <a:pt x="0" y="603484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-17" t="0" r="-17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8800212" y="7353144"/>
            <a:ext cx="6594397" cy="1174933"/>
          </a:xfrm>
          <a:custGeom>
            <a:avLst/>
            <a:gdLst/>
            <a:ahLst/>
            <a:cxnLst/>
            <a:rect r="r" b="b" t="t" l="l"/>
            <a:pathLst>
              <a:path h="1174933" w="6594397">
                <a:moveTo>
                  <a:pt x="0" y="0"/>
                </a:moveTo>
                <a:lnTo>
                  <a:pt x="6594397" y="0"/>
                </a:lnTo>
                <a:lnTo>
                  <a:pt x="6594397" y="1174933"/>
                </a:lnTo>
                <a:lnTo>
                  <a:pt x="0" y="117493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70000"/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-848" r="0" b="-848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4904720" y="6141720"/>
            <a:ext cx="8701788" cy="10830364"/>
          </a:xfrm>
          <a:custGeom>
            <a:avLst/>
            <a:gdLst/>
            <a:ahLst/>
            <a:cxnLst/>
            <a:rect r="r" b="b" t="t" l="l"/>
            <a:pathLst>
              <a:path h="10830364" w="8701788">
                <a:moveTo>
                  <a:pt x="0" y="0"/>
                </a:moveTo>
                <a:lnTo>
                  <a:pt x="8701788" y="0"/>
                </a:lnTo>
                <a:lnTo>
                  <a:pt x="8701788" y="10830364"/>
                </a:lnTo>
                <a:lnTo>
                  <a:pt x="0" y="10830364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-18" r="0" b="-18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8828837" y="7875973"/>
            <a:ext cx="3050484" cy="4221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39609" indent="-319804" lvl="1">
              <a:lnSpc>
                <a:spcPts val="3081"/>
              </a:lnSpc>
              <a:buFont typeface="Arial"/>
              <a:buChar char="•"/>
            </a:pPr>
            <a:r>
              <a:rPr lang="en-US" sz="2962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Market gaps</a:t>
            </a:r>
          </a:p>
        </p:txBody>
      </p:sp>
      <p:sp>
        <p:nvSpPr>
          <p:cNvPr name="Freeform 12" id="12"/>
          <p:cNvSpPr/>
          <p:nvPr/>
        </p:nvSpPr>
        <p:spPr>
          <a:xfrm flipH="false" flipV="false" rot="0">
            <a:off x="8800211" y="4187000"/>
            <a:ext cx="6594397" cy="1174933"/>
          </a:xfrm>
          <a:custGeom>
            <a:avLst/>
            <a:gdLst/>
            <a:ahLst/>
            <a:cxnLst/>
            <a:rect r="r" b="b" t="t" l="l"/>
            <a:pathLst>
              <a:path h="1174933" w="6594397">
                <a:moveTo>
                  <a:pt x="0" y="0"/>
                </a:moveTo>
                <a:lnTo>
                  <a:pt x="6594397" y="0"/>
                </a:lnTo>
                <a:lnTo>
                  <a:pt x="6594397" y="1174933"/>
                </a:lnTo>
                <a:lnTo>
                  <a:pt x="0" y="117493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70000"/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-848" r="0" b="-848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8800211" y="6320286"/>
            <a:ext cx="6594397" cy="1174933"/>
          </a:xfrm>
          <a:custGeom>
            <a:avLst/>
            <a:gdLst/>
            <a:ahLst/>
            <a:cxnLst/>
            <a:rect r="r" b="b" t="t" l="l"/>
            <a:pathLst>
              <a:path h="1174933" w="6594397">
                <a:moveTo>
                  <a:pt x="0" y="0"/>
                </a:moveTo>
                <a:lnTo>
                  <a:pt x="6594397" y="0"/>
                </a:lnTo>
                <a:lnTo>
                  <a:pt x="6594397" y="1174933"/>
                </a:lnTo>
                <a:lnTo>
                  <a:pt x="0" y="117493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70000"/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-848" r="0" b="-848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8835808" y="4711833"/>
            <a:ext cx="5514528" cy="4221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39609" indent="-319804" lvl="1">
              <a:lnSpc>
                <a:spcPts val="3081"/>
              </a:lnSpc>
              <a:buFont typeface="Arial"/>
              <a:buChar char="•"/>
            </a:pPr>
            <a:r>
              <a:rPr lang="en-US" sz="2962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Lack of real-time visibility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8828837" y="6799088"/>
            <a:ext cx="6594396" cy="3983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88675" indent="-294338" lvl="1">
              <a:lnSpc>
                <a:spcPts val="2835"/>
              </a:lnSpc>
              <a:buFont typeface="Arial"/>
              <a:buChar char="•"/>
            </a:pPr>
            <a:r>
              <a:rPr lang="en-US" sz="2726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Turf owner/management problem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8835808" y="2699879"/>
            <a:ext cx="4188305" cy="10299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488"/>
              </a:lnSpc>
            </a:pPr>
            <a:r>
              <a:rPr lang="en-US" sz="6998" b="true">
                <a:solidFill>
                  <a:srgbClr val="373737"/>
                </a:solidFill>
                <a:latin typeface="Poppins Bold"/>
                <a:ea typeface="Poppins Bold"/>
                <a:cs typeface="Poppins Bold"/>
                <a:sym typeface="Poppins Bold"/>
              </a:rPr>
              <a:t>Problem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2964192" y="3098152"/>
            <a:ext cx="4860831" cy="6506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b="true" sz="6998" spc="-349">
                <a:solidFill>
                  <a:srgbClr val="10B981"/>
                </a:solidFill>
                <a:latin typeface="Poppins Bold"/>
                <a:ea typeface="Poppins Bold"/>
                <a:cs typeface="Poppins Bold"/>
                <a:sym typeface="Poppins Bold"/>
              </a:rPr>
              <a:t>Statement</a:t>
            </a:r>
          </a:p>
        </p:txBody>
      </p:sp>
      <p:sp>
        <p:nvSpPr>
          <p:cNvPr name="Freeform 18" id="18"/>
          <p:cNvSpPr/>
          <p:nvPr/>
        </p:nvSpPr>
        <p:spPr>
          <a:xfrm flipH="false" flipV="false" rot="0">
            <a:off x="8800211" y="5246007"/>
            <a:ext cx="6594397" cy="1174933"/>
          </a:xfrm>
          <a:custGeom>
            <a:avLst/>
            <a:gdLst/>
            <a:ahLst/>
            <a:cxnLst/>
            <a:rect r="r" b="b" t="t" l="l"/>
            <a:pathLst>
              <a:path h="1174933" w="6594397">
                <a:moveTo>
                  <a:pt x="0" y="0"/>
                </a:moveTo>
                <a:lnTo>
                  <a:pt x="6594397" y="0"/>
                </a:lnTo>
                <a:lnTo>
                  <a:pt x="6594397" y="1174933"/>
                </a:lnTo>
                <a:lnTo>
                  <a:pt x="0" y="117493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70000"/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-848" r="0" b="-848"/>
            </a:stretch>
          </a:blipFill>
        </p:spPr>
      </p:sp>
      <p:sp>
        <p:nvSpPr>
          <p:cNvPr name="TextBox 19" id="19"/>
          <p:cNvSpPr txBox="true"/>
          <p:nvPr/>
        </p:nvSpPr>
        <p:spPr>
          <a:xfrm rot="0">
            <a:off x="8814524" y="5772409"/>
            <a:ext cx="5074886" cy="4221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39609" indent="-319804" lvl="1">
              <a:lnSpc>
                <a:spcPts val="3081"/>
              </a:lnSpc>
              <a:buFont typeface="Arial"/>
              <a:buChar char="•"/>
            </a:pPr>
            <a:r>
              <a:rPr lang="en-US" sz="2962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No centralized platform</a:t>
            </a:r>
          </a:p>
        </p:txBody>
      </p:sp>
    </p:spTree>
  </p:cSld>
  <p:clrMapOvr>
    <a:masterClrMapping/>
  </p:clrMapOvr>
  <p:transition spd="fast">
    <p:fade/>
  </p:transition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4152769" y="961528"/>
            <a:ext cx="2864414" cy="519017"/>
            <a:chOff x="0" y="0"/>
            <a:chExt cx="3819219" cy="69202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819271" cy="692023"/>
            </a:xfrm>
            <a:custGeom>
              <a:avLst/>
              <a:gdLst/>
              <a:ahLst/>
              <a:cxnLst/>
              <a:rect r="r" b="b" t="t" l="l"/>
              <a:pathLst>
                <a:path h="692023" w="3819271">
                  <a:moveTo>
                    <a:pt x="358775" y="0"/>
                  </a:moveTo>
                  <a:lnTo>
                    <a:pt x="3460496" y="0"/>
                  </a:lnTo>
                  <a:cubicBezTo>
                    <a:pt x="3658616" y="0"/>
                    <a:pt x="3819271" y="86995"/>
                    <a:pt x="3819271" y="194310"/>
                  </a:cubicBezTo>
                  <a:lnTo>
                    <a:pt x="3819271" y="497713"/>
                  </a:lnTo>
                  <a:cubicBezTo>
                    <a:pt x="3819271" y="605028"/>
                    <a:pt x="3658616" y="692023"/>
                    <a:pt x="3460496" y="692023"/>
                  </a:cubicBezTo>
                  <a:lnTo>
                    <a:pt x="358775" y="692023"/>
                  </a:lnTo>
                  <a:cubicBezTo>
                    <a:pt x="160655" y="692023"/>
                    <a:pt x="0" y="605028"/>
                    <a:pt x="0" y="497713"/>
                  </a:cubicBezTo>
                  <a:lnTo>
                    <a:pt x="0" y="194310"/>
                  </a:lnTo>
                  <a:cubicBezTo>
                    <a:pt x="0" y="86995"/>
                    <a:pt x="160655" y="0"/>
                    <a:pt x="358775" y="0"/>
                  </a:cubicBezTo>
                  <a:close/>
                </a:path>
              </a:pathLst>
            </a:custGeom>
            <a:solidFill>
              <a:srgbClr val="8B3DFF">
                <a:alpha val="19608"/>
              </a:srgbClr>
            </a:solidFill>
          </p:spPr>
        </p:sp>
      </p:grpSp>
      <p:sp>
        <p:nvSpPr>
          <p:cNvPr name="TextBox 4" id="4"/>
          <p:cNvSpPr txBox="true"/>
          <p:nvPr/>
        </p:nvSpPr>
        <p:spPr>
          <a:xfrm rot="0">
            <a:off x="9802368" y="993327"/>
            <a:ext cx="1551432" cy="3982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9"/>
              </a:lnSpc>
            </a:pPr>
            <a:r>
              <a:rPr lang="en-US" sz="20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STORY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1616573" y="993327"/>
            <a:ext cx="2077830" cy="4160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9"/>
              </a:lnSpc>
            </a:pPr>
            <a:r>
              <a:rPr lang="en-US" sz="20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INTRODUCTION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4189703" y="993327"/>
            <a:ext cx="2827402" cy="4160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9"/>
              </a:lnSpc>
            </a:pPr>
            <a:r>
              <a:rPr lang="en-US" sz="20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PROBLEM STATEMENT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-1140567" y="-2271173"/>
            <a:ext cx="5423759" cy="6757068"/>
          </a:xfrm>
          <a:custGeom>
            <a:avLst/>
            <a:gdLst/>
            <a:ahLst/>
            <a:cxnLst/>
            <a:rect r="r" b="b" t="t" l="l"/>
            <a:pathLst>
              <a:path h="6757068" w="5423759">
                <a:moveTo>
                  <a:pt x="0" y="0"/>
                </a:moveTo>
                <a:lnTo>
                  <a:pt x="5423759" y="0"/>
                </a:lnTo>
                <a:lnTo>
                  <a:pt x="5423759" y="6757068"/>
                </a:lnTo>
                <a:lnTo>
                  <a:pt x="0" y="675706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8" t="0" r="-8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757643" y="3114771"/>
            <a:ext cx="5947068" cy="6034847"/>
          </a:xfrm>
          <a:custGeom>
            <a:avLst/>
            <a:gdLst/>
            <a:ahLst/>
            <a:cxnLst/>
            <a:rect r="r" b="b" t="t" l="l"/>
            <a:pathLst>
              <a:path h="6034847" w="5947068">
                <a:moveTo>
                  <a:pt x="0" y="0"/>
                </a:moveTo>
                <a:lnTo>
                  <a:pt x="5947068" y="0"/>
                </a:lnTo>
                <a:lnTo>
                  <a:pt x="5947068" y="6034847"/>
                </a:lnTo>
                <a:lnTo>
                  <a:pt x="0" y="603484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-17" t="0" r="-17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8800212" y="7353144"/>
            <a:ext cx="6594397" cy="1174933"/>
          </a:xfrm>
          <a:custGeom>
            <a:avLst/>
            <a:gdLst/>
            <a:ahLst/>
            <a:cxnLst/>
            <a:rect r="r" b="b" t="t" l="l"/>
            <a:pathLst>
              <a:path h="1174933" w="6594397">
                <a:moveTo>
                  <a:pt x="0" y="0"/>
                </a:moveTo>
                <a:lnTo>
                  <a:pt x="6594397" y="0"/>
                </a:lnTo>
                <a:lnTo>
                  <a:pt x="6594397" y="1174933"/>
                </a:lnTo>
                <a:lnTo>
                  <a:pt x="0" y="117493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70000"/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-848" r="0" b="-848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4904720" y="6141720"/>
            <a:ext cx="8701788" cy="10830364"/>
          </a:xfrm>
          <a:custGeom>
            <a:avLst/>
            <a:gdLst/>
            <a:ahLst/>
            <a:cxnLst/>
            <a:rect r="r" b="b" t="t" l="l"/>
            <a:pathLst>
              <a:path h="10830364" w="8701788">
                <a:moveTo>
                  <a:pt x="0" y="0"/>
                </a:moveTo>
                <a:lnTo>
                  <a:pt x="8701788" y="0"/>
                </a:lnTo>
                <a:lnTo>
                  <a:pt x="8701788" y="10830364"/>
                </a:lnTo>
                <a:lnTo>
                  <a:pt x="0" y="10830364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-18" r="0" b="-18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8828837" y="7875973"/>
            <a:ext cx="5323932" cy="4221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39609" indent="-319804" lvl="1">
              <a:lnSpc>
                <a:spcPts val="3081"/>
              </a:lnSpc>
              <a:buFont typeface="Arial"/>
              <a:buChar char="•"/>
            </a:pPr>
            <a:r>
              <a:rPr lang="en-US" sz="2962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Last minute cancelation</a:t>
            </a:r>
          </a:p>
        </p:txBody>
      </p:sp>
      <p:sp>
        <p:nvSpPr>
          <p:cNvPr name="Freeform 12" id="12"/>
          <p:cNvSpPr/>
          <p:nvPr/>
        </p:nvSpPr>
        <p:spPr>
          <a:xfrm flipH="false" flipV="false" rot="0">
            <a:off x="8800211" y="4187000"/>
            <a:ext cx="6594397" cy="1174933"/>
          </a:xfrm>
          <a:custGeom>
            <a:avLst/>
            <a:gdLst/>
            <a:ahLst/>
            <a:cxnLst/>
            <a:rect r="r" b="b" t="t" l="l"/>
            <a:pathLst>
              <a:path h="1174933" w="6594397">
                <a:moveTo>
                  <a:pt x="0" y="0"/>
                </a:moveTo>
                <a:lnTo>
                  <a:pt x="6594397" y="0"/>
                </a:lnTo>
                <a:lnTo>
                  <a:pt x="6594397" y="1174933"/>
                </a:lnTo>
                <a:lnTo>
                  <a:pt x="0" y="117493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70000"/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-848" r="0" b="-848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8800211" y="6320286"/>
            <a:ext cx="6594397" cy="1174933"/>
          </a:xfrm>
          <a:custGeom>
            <a:avLst/>
            <a:gdLst/>
            <a:ahLst/>
            <a:cxnLst/>
            <a:rect r="r" b="b" t="t" l="l"/>
            <a:pathLst>
              <a:path h="1174933" w="6594397">
                <a:moveTo>
                  <a:pt x="0" y="0"/>
                </a:moveTo>
                <a:lnTo>
                  <a:pt x="6594397" y="0"/>
                </a:lnTo>
                <a:lnTo>
                  <a:pt x="6594397" y="1174933"/>
                </a:lnTo>
                <a:lnTo>
                  <a:pt x="0" y="117493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70000"/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-848" r="0" b="-848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8835808" y="4711833"/>
            <a:ext cx="5587648" cy="4221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39609" indent="-319804" lvl="1">
              <a:lnSpc>
                <a:spcPts val="3081"/>
              </a:lnSpc>
              <a:buFont typeface="Arial"/>
              <a:buChar char="•"/>
            </a:pPr>
            <a:r>
              <a:rPr lang="en-US" sz="2962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Accounts not maintained.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8828837" y="6799088"/>
            <a:ext cx="3651316" cy="3983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88675" indent="-294338" lvl="1">
              <a:lnSpc>
                <a:spcPts val="2835"/>
              </a:lnSpc>
              <a:buFont typeface="Arial"/>
              <a:buChar char="•"/>
            </a:pPr>
            <a:r>
              <a:rPr lang="en-US" sz="2726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Booking Conflicts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8835808" y="2699879"/>
            <a:ext cx="4188305" cy="10299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488"/>
              </a:lnSpc>
            </a:pPr>
            <a:r>
              <a:rPr lang="en-US" sz="6998" b="true">
                <a:solidFill>
                  <a:srgbClr val="373737"/>
                </a:solidFill>
                <a:latin typeface="Poppins Bold"/>
                <a:ea typeface="Poppins Bold"/>
                <a:cs typeface="Poppins Bold"/>
                <a:sym typeface="Poppins Bold"/>
              </a:rPr>
              <a:t>Problem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2964192" y="3098152"/>
            <a:ext cx="4860831" cy="6506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b="true" sz="6998" spc="-349">
                <a:solidFill>
                  <a:srgbClr val="10B981"/>
                </a:solidFill>
                <a:latin typeface="Poppins Bold"/>
                <a:ea typeface="Poppins Bold"/>
                <a:cs typeface="Poppins Bold"/>
                <a:sym typeface="Poppins Bold"/>
              </a:rPr>
              <a:t>Statement</a:t>
            </a:r>
          </a:p>
        </p:txBody>
      </p:sp>
      <p:sp>
        <p:nvSpPr>
          <p:cNvPr name="Freeform 18" id="18"/>
          <p:cNvSpPr/>
          <p:nvPr/>
        </p:nvSpPr>
        <p:spPr>
          <a:xfrm flipH="false" flipV="false" rot="0">
            <a:off x="8800211" y="5246007"/>
            <a:ext cx="6594397" cy="1174933"/>
          </a:xfrm>
          <a:custGeom>
            <a:avLst/>
            <a:gdLst/>
            <a:ahLst/>
            <a:cxnLst/>
            <a:rect r="r" b="b" t="t" l="l"/>
            <a:pathLst>
              <a:path h="1174933" w="6594397">
                <a:moveTo>
                  <a:pt x="0" y="0"/>
                </a:moveTo>
                <a:lnTo>
                  <a:pt x="6594397" y="0"/>
                </a:lnTo>
                <a:lnTo>
                  <a:pt x="6594397" y="1174933"/>
                </a:lnTo>
                <a:lnTo>
                  <a:pt x="0" y="117493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70000"/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-848" r="0" b="-848"/>
            </a:stretch>
          </a:blipFill>
        </p:spPr>
      </p:sp>
      <p:sp>
        <p:nvSpPr>
          <p:cNvPr name="TextBox 19" id="19"/>
          <p:cNvSpPr txBox="true"/>
          <p:nvPr/>
        </p:nvSpPr>
        <p:spPr>
          <a:xfrm rot="0">
            <a:off x="8814524" y="5772409"/>
            <a:ext cx="3840964" cy="4221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39609" indent="-319804" lvl="1">
              <a:lnSpc>
                <a:spcPts val="3081"/>
              </a:lnSpc>
              <a:buFont typeface="Arial"/>
              <a:buChar char="•"/>
            </a:pPr>
            <a:r>
              <a:rPr lang="en-US" sz="2962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No refund policy</a:t>
            </a:r>
          </a:p>
        </p:txBody>
      </p:sp>
    </p:spTree>
  </p:cSld>
  <p:clrMapOvr>
    <a:masterClrMapping/>
  </p:clrMapOvr>
  <p:transition spd="fast">
    <p:fade/>
  </p:transition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324489" y="-4066222"/>
            <a:ext cx="5423759" cy="6757068"/>
          </a:xfrm>
          <a:custGeom>
            <a:avLst/>
            <a:gdLst/>
            <a:ahLst/>
            <a:cxnLst/>
            <a:rect r="r" b="b" t="t" l="l"/>
            <a:pathLst>
              <a:path h="6757068" w="5423759">
                <a:moveTo>
                  <a:pt x="0" y="0"/>
                </a:moveTo>
                <a:lnTo>
                  <a:pt x="5423759" y="0"/>
                </a:lnTo>
                <a:lnTo>
                  <a:pt x="5423759" y="6757068"/>
                </a:lnTo>
                <a:lnTo>
                  <a:pt x="0" y="675706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8" t="0" r="-8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9669046" y="5717096"/>
            <a:ext cx="9096810" cy="11333055"/>
          </a:xfrm>
          <a:custGeom>
            <a:avLst/>
            <a:gdLst/>
            <a:ahLst/>
            <a:cxnLst/>
            <a:rect r="r" b="b" t="t" l="l"/>
            <a:pathLst>
              <a:path h="11333055" w="9096810">
                <a:moveTo>
                  <a:pt x="0" y="0"/>
                </a:moveTo>
                <a:lnTo>
                  <a:pt x="9096810" y="0"/>
                </a:lnTo>
                <a:lnTo>
                  <a:pt x="9096810" y="11333055"/>
                </a:lnTo>
                <a:lnTo>
                  <a:pt x="0" y="1133305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-7" t="0" r="-7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11550021" y="947871"/>
            <a:ext cx="1551432" cy="519017"/>
            <a:chOff x="0" y="0"/>
            <a:chExt cx="2068576" cy="692023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068576" cy="692023"/>
            </a:xfrm>
            <a:custGeom>
              <a:avLst/>
              <a:gdLst/>
              <a:ahLst/>
              <a:cxnLst/>
              <a:rect r="r" b="b" t="t" l="l"/>
              <a:pathLst>
                <a:path h="692023" w="2068576">
                  <a:moveTo>
                    <a:pt x="194310" y="0"/>
                  </a:moveTo>
                  <a:lnTo>
                    <a:pt x="1874266" y="0"/>
                  </a:lnTo>
                  <a:cubicBezTo>
                    <a:pt x="1981581" y="0"/>
                    <a:pt x="2068576" y="86995"/>
                    <a:pt x="2068576" y="194310"/>
                  </a:cubicBezTo>
                  <a:lnTo>
                    <a:pt x="2068576" y="497713"/>
                  </a:lnTo>
                  <a:cubicBezTo>
                    <a:pt x="2068576" y="605028"/>
                    <a:pt x="1981581" y="692023"/>
                    <a:pt x="1874266" y="692023"/>
                  </a:cubicBezTo>
                  <a:lnTo>
                    <a:pt x="194310" y="692023"/>
                  </a:lnTo>
                  <a:cubicBezTo>
                    <a:pt x="86995" y="692023"/>
                    <a:pt x="0" y="605028"/>
                    <a:pt x="0" y="497713"/>
                  </a:cubicBezTo>
                  <a:lnTo>
                    <a:pt x="0" y="194310"/>
                  </a:lnTo>
                  <a:cubicBezTo>
                    <a:pt x="0" y="86995"/>
                    <a:pt x="86995" y="0"/>
                    <a:pt x="194310" y="0"/>
                  </a:cubicBezTo>
                  <a:close/>
                </a:path>
              </a:pathLst>
            </a:custGeom>
            <a:solidFill>
              <a:srgbClr val="8B3DFF">
                <a:alpha val="19608"/>
              </a:srgbClr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1549979" y="949580"/>
            <a:ext cx="1551474" cy="551451"/>
            <a:chOff x="0" y="0"/>
            <a:chExt cx="2068632" cy="735268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068632" cy="735268"/>
            </a:xfrm>
            <a:custGeom>
              <a:avLst/>
              <a:gdLst/>
              <a:ahLst/>
              <a:cxnLst/>
              <a:rect r="r" b="b" t="t" l="l"/>
              <a:pathLst>
                <a:path h="735268" w="2068632">
                  <a:moveTo>
                    <a:pt x="0" y="0"/>
                  </a:moveTo>
                  <a:lnTo>
                    <a:pt x="2068632" y="0"/>
                  </a:lnTo>
                  <a:lnTo>
                    <a:pt x="2068632" y="735268"/>
                  </a:lnTo>
                  <a:lnTo>
                    <a:pt x="0" y="73526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57150"/>
              <a:ext cx="2068632" cy="79241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520"/>
                </a:lnSpc>
              </a:pPr>
              <a:r>
                <a:rPr lang="en-US" sz="1800" spc="52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NEEDS</a:t>
              </a: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13577787" y="993061"/>
            <a:ext cx="1279328" cy="4073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53"/>
              </a:lnSpc>
            </a:pPr>
            <a:r>
              <a:rPr lang="en-US" sz="1967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FEATURES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5352942" y="2719421"/>
            <a:ext cx="16449690" cy="10186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382"/>
              </a:lnSpc>
            </a:pPr>
            <a:r>
              <a:rPr lang="en-US" sz="6897" b="true">
                <a:solidFill>
                  <a:srgbClr val="2B2A2A">
                    <a:alpha val="76863"/>
                  </a:srgbClr>
                </a:solidFill>
                <a:latin typeface="Poppins Bold"/>
                <a:ea typeface="Poppins Bold"/>
                <a:cs typeface="Poppins Bold"/>
                <a:sym typeface="Poppins Bold"/>
              </a:rPr>
              <a:t>Why to choose </a:t>
            </a:r>
            <a:r>
              <a:rPr lang="en-US" sz="6897" b="true">
                <a:solidFill>
                  <a:srgbClr val="10B981">
                    <a:alpha val="76863"/>
                  </a:srgbClr>
                </a:solidFill>
                <a:latin typeface="Poppins Bold"/>
                <a:ea typeface="Poppins Bold"/>
                <a:cs typeface="Poppins Bold"/>
                <a:sym typeface="Poppins Bold"/>
              </a:rPr>
              <a:t>PlayNation ?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5333365" y="975134"/>
            <a:ext cx="1196185" cy="4073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53"/>
              </a:lnSpc>
            </a:pPr>
            <a:r>
              <a:rPr lang="en-US" sz="1967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MODULES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6248614" y="4728246"/>
            <a:ext cx="11210711" cy="5205698"/>
            <a:chOff x="0" y="0"/>
            <a:chExt cx="13739048" cy="6379732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3739048" cy="6379732"/>
            </a:xfrm>
            <a:custGeom>
              <a:avLst/>
              <a:gdLst/>
              <a:ahLst/>
              <a:cxnLst/>
              <a:rect r="r" b="b" t="t" l="l"/>
              <a:pathLst>
                <a:path h="6379732" w="13739048">
                  <a:moveTo>
                    <a:pt x="152859" y="0"/>
                  </a:moveTo>
                  <a:lnTo>
                    <a:pt x="13586188" y="0"/>
                  </a:lnTo>
                  <a:cubicBezTo>
                    <a:pt x="13626790" y="0"/>
                    <a:pt x="13665667" y="17395"/>
                    <a:pt x="13694305" y="48334"/>
                  </a:cubicBezTo>
                  <a:cubicBezTo>
                    <a:pt x="13722945" y="79273"/>
                    <a:pt x="13739048" y="121270"/>
                    <a:pt x="13739048" y="165131"/>
                  </a:cubicBezTo>
                  <a:lnTo>
                    <a:pt x="13739048" y="6214601"/>
                  </a:lnTo>
                  <a:cubicBezTo>
                    <a:pt x="13739048" y="6305802"/>
                    <a:pt x="13670612" y="6379732"/>
                    <a:pt x="13586188" y="6379732"/>
                  </a:cubicBezTo>
                  <a:lnTo>
                    <a:pt x="152859" y="6379732"/>
                  </a:lnTo>
                  <a:cubicBezTo>
                    <a:pt x="112258" y="6379732"/>
                    <a:pt x="73382" y="6362336"/>
                    <a:pt x="44742" y="6331398"/>
                  </a:cubicBezTo>
                  <a:cubicBezTo>
                    <a:pt x="16103" y="6300459"/>
                    <a:pt x="0" y="6258462"/>
                    <a:pt x="0" y="6214601"/>
                  </a:cubicBezTo>
                  <a:lnTo>
                    <a:pt x="0" y="165131"/>
                  </a:lnTo>
                  <a:cubicBezTo>
                    <a:pt x="0" y="121270"/>
                    <a:pt x="16103" y="79273"/>
                    <a:pt x="44742" y="48334"/>
                  </a:cubicBezTo>
                  <a:cubicBezTo>
                    <a:pt x="73382" y="17395"/>
                    <a:pt x="112373" y="0"/>
                    <a:pt x="152859" y="0"/>
                  </a:cubicBezTo>
                  <a:close/>
                </a:path>
              </a:pathLst>
            </a:custGeom>
            <a:solidFill>
              <a:srgbClr val="FFFFFF">
                <a:alpha val="89804"/>
              </a:srgbClr>
            </a:solidFill>
          </p:spPr>
        </p:sp>
      </p:grpSp>
      <p:sp>
        <p:nvSpPr>
          <p:cNvPr name="TextBox 14" id="14"/>
          <p:cNvSpPr txBox="true"/>
          <p:nvPr/>
        </p:nvSpPr>
        <p:spPr>
          <a:xfrm rot="0">
            <a:off x="8119356" y="5066263"/>
            <a:ext cx="10554744" cy="43295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890434" indent="-222608" lvl="3">
              <a:lnSpc>
                <a:spcPts val="4924"/>
              </a:lnSpc>
              <a:buFont typeface="Arial"/>
              <a:buChar char="￭"/>
            </a:pPr>
            <a:r>
              <a:rPr lang="en-US" sz="326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Instant Access to Nearby Turfs.</a:t>
            </a:r>
          </a:p>
          <a:p>
            <a:pPr algn="l" marL="890434" indent="-222608" lvl="3">
              <a:lnSpc>
                <a:spcPts val="4924"/>
              </a:lnSpc>
              <a:buFont typeface="Arial"/>
              <a:buChar char="￭"/>
            </a:pPr>
            <a:r>
              <a:rPr lang="en-US" sz="326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Book in Seconds, Play Without Hassle.</a:t>
            </a:r>
          </a:p>
          <a:p>
            <a:pPr algn="l" marL="890434" indent="-222608" lvl="3">
              <a:lnSpc>
                <a:spcPts val="4924"/>
              </a:lnSpc>
              <a:buFont typeface="Arial"/>
              <a:buChar char="￭"/>
            </a:pPr>
            <a:r>
              <a:rPr lang="en-US" sz="326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Everything in One Place.</a:t>
            </a:r>
          </a:p>
          <a:p>
            <a:pPr algn="l" marL="890434" indent="-222608" lvl="3">
              <a:lnSpc>
                <a:spcPts val="4924"/>
              </a:lnSpc>
              <a:buFont typeface="Arial"/>
              <a:buChar char="￭"/>
            </a:pPr>
            <a:r>
              <a:rPr lang="en-US" sz="326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Trusted Reviews &amp; Ratings.</a:t>
            </a:r>
          </a:p>
          <a:p>
            <a:pPr algn="l" marL="890434" indent="-222608" lvl="3">
              <a:lnSpc>
                <a:spcPts val="4924"/>
              </a:lnSpc>
              <a:buFont typeface="Arial"/>
              <a:buChar char="￭"/>
            </a:pPr>
            <a:r>
              <a:rPr lang="en-US" sz="326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Secure, Cashless Payments</a:t>
            </a:r>
          </a:p>
          <a:p>
            <a:pPr algn="l" marL="890434" indent="-222608" lvl="3">
              <a:lnSpc>
                <a:spcPts val="4924"/>
              </a:lnSpc>
              <a:buFont typeface="Arial"/>
              <a:buChar char="￭"/>
            </a:pPr>
            <a:r>
              <a:rPr lang="en-US" sz="326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Reminders &amp; Match Management.</a:t>
            </a:r>
          </a:p>
          <a:p>
            <a:pPr algn="l" marL="890416" indent="-222604" lvl="3">
              <a:lnSpc>
                <a:spcPts val="4920"/>
              </a:lnSpc>
              <a:buFont typeface="Arial"/>
              <a:buChar char="￭"/>
            </a:pPr>
            <a:r>
              <a:rPr lang="en-US" sz="326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Built by Players, For Players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-457210" y="4272284"/>
            <a:ext cx="9366504" cy="5861685"/>
            <a:chOff x="0" y="0"/>
            <a:chExt cx="12488672" cy="781558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2488672" cy="7815580"/>
            </a:xfrm>
            <a:custGeom>
              <a:avLst/>
              <a:gdLst/>
              <a:ahLst/>
              <a:cxnLst/>
              <a:rect r="r" b="b" t="t" l="l"/>
              <a:pathLst>
                <a:path h="7815580" w="12488672">
                  <a:moveTo>
                    <a:pt x="0" y="0"/>
                  </a:moveTo>
                  <a:lnTo>
                    <a:pt x="12488672" y="0"/>
                  </a:lnTo>
                  <a:lnTo>
                    <a:pt x="12488672" y="7815580"/>
                  </a:lnTo>
                  <a:lnTo>
                    <a:pt x="0" y="78155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</p:spPr>
        </p:sp>
      </p:grpSp>
    </p:spTree>
  </p:cSld>
  <p:clrMapOvr>
    <a:masterClrMapping/>
  </p:clrMapOvr>
  <p:transition spd="fast">
    <p:fade/>
  </p:transition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846247" y="-3269976"/>
            <a:ext cx="5423759" cy="6757068"/>
          </a:xfrm>
          <a:custGeom>
            <a:avLst/>
            <a:gdLst/>
            <a:ahLst/>
            <a:cxnLst/>
            <a:rect r="r" b="b" t="t" l="l"/>
            <a:pathLst>
              <a:path h="6757068" w="5423759">
                <a:moveTo>
                  <a:pt x="0" y="0"/>
                </a:moveTo>
                <a:lnTo>
                  <a:pt x="5423759" y="0"/>
                </a:lnTo>
                <a:lnTo>
                  <a:pt x="5423759" y="6757068"/>
                </a:lnTo>
                <a:lnTo>
                  <a:pt x="0" y="675706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8" t="0" r="-8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2603048" y="3321762"/>
            <a:ext cx="4487655" cy="11143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022"/>
              </a:lnSpc>
            </a:pPr>
            <a:r>
              <a:rPr lang="en-US" sz="7497" b="true">
                <a:solidFill>
                  <a:srgbClr val="373737"/>
                </a:solidFill>
                <a:latin typeface="Poppins Bold"/>
                <a:ea typeface="Poppins Bold"/>
                <a:cs typeface="Poppins Bold"/>
                <a:sym typeface="Poppins Bold"/>
              </a:rPr>
              <a:t>Features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9786826" y="2279026"/>
            <a:ext cx="7581921" cy="7189455"/>
          </a:xfrm>
          <a:custGeom>
            <a:avLst/>
            <a:gdLst/>
            <a:ahLst/>
            <a:cxnLst/>
            <a:rect r="r" b="b" t="t" l="l"/>
            <a:pathLst>
              <a:path h="7189455" w="7581921">
                <a:moveTo>
                  <a:pt x="0" y="0"/>
                </a:moveTo>
                <a:lnTo>
                  <a:pt x="7581922" y="0"/>
                </a:lnTo>
                <a:lnTo>
                  <a:pt x="7581922" y="7189454"/>
                </a:lnTo>
                <a:lnTo>
                  <a:pt x="0" y="718945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-16" r="0" b="-16"/>
            </a:stretch>
          </a:blipFill>
          <a:ln w="47625" cap="sq">
            <a:solidFill>
              <a:srgbClr val="10B981"/>
            </a:solidFill>
            <a:prstDash val="solid"/>
            <a:miter/>
          </a:ln>
        </p:spPr>
      </p:sp>
      <p:sp>
        <p:nvSpPr>
          <p:cNvPr name="TextBox 5" id="5"/>
          <p:cNvSpPr txBox="true"/>
          <p:nvPr/>
        </p:nvSpPr>
        <p:spPr>
          <a:xfrm rot="0">
            <a:off x="11272146" y="3391842"/>
            <a:ext cx="8533429" cy="56363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34"/>
              </a:lnSpc>
            </a:pPr>
            <a:r>
              <a:rPr lang="en-US" sz="3095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Turf Discovery</a:t>
            </a:r>
          </a:p>
          <a:p>
            <a:pPr algn="l">
              <a:lnSpc>
                <a:spcPts val="4334"/>
              </a:lnSpc>
            </a:pPr>
          </a:p>
          <a:p>
            <a:pPr algn="l">
              <a:lnSpc>
                <a:spcPts val="4334"/>
              </a:lnSpc>
            </a:pPr>
            <a:r>
              <a:rPr lang="en-US" sz="3095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Real-Time Slot Booking</a:t>
            </a:r>
          </a:p>
          <a:p>
            <a:pPr algn="l">
              <a:lnSpc>
                <a:spcPts val="4334"/>
              </a:lnSpc>
            </a:pPr>
          </a:p>
          <a:p>
            <a:pPr algn="l">
              <a:lnSpc>
                <a:spcPts val="4334"/>
              </a:lnSpc>
            </a:pPr>
            <a:r>
              <a:rPr lang="en-US" sz="3095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Notifications &amp; Reminders</a:t>
            </a:r>
          </a:p>
          <a:p>
            <a:pPr algn="l">
              <a:lnSpc>
                <a:spcPts val="4334"/>
              </a:lnSpc>
            </a:pPr>
          </a:p>
          <a:p>
            <a:pPr algn="l">
              <a:lnSpc>
                <a:spcPts val="4334"/>
              </a:lnSpc>
            </a:pPr>
            <a:r>
              <a:rPr lang="en-US" sz="3095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Payments &amp; Billing</a:t>
            </a:r>
          </a:p>
          <a:p>
            <a:pPr algn="l">
              <a:lnSpc>
                <a:spcPts val="4334"/>
              </a:lnSpc>
            </a:pPr>
          </a:p>
          <a:p>
            <a:pPr algn="l">
              <a:lnSpc>
                <a:spcPts val="4334"/>
              </a:lnSpc>
            </a:pPr>
            <a:r>
              <a:rPr lang="en-US" sz="3095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Turf Owner Dashboard</a:t>
            </a:r>
          </a:p>
          <a:p>
            <a:pPr algn="ctr">
              <a:lnSpc>
                <a:spcPts val="4334"/>
              </a:lnSpc>
            </a:pPr>
          </a:p>
        </p:txBody>
      </p:sp>
      <p:grpSp>
        <p:nvGrpSpPr>
          <p:cNvPr name="Group 6" id="6"/>
          <p:cNvGrpSpPr/>
          <p:nvPr/>
        </p:nvGrpSpPr>
        <p:grpSpPr>
          <a:xfrm rot="0">
            <a:off x="1644880" y="3674014"/>
            <a:ext cx="5445823" cy="5354193"/>
            <a:chOff x="0" y="0"/>
            <a:chExt cx="7261098" cy="7138924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7261098" cy="7138924"/>
            </a:xfrm>
            <a:custGeom>
              <a:avLst/>
              <a:gdLst/>
              <a:ahLst/>
              <a:cxnLst/>
              <a:rect r="r" b="b" t="t" l="l"/>
              <a:pathLst>
                <a:path h="7138924" w="7261098">
                  <a:moveTo>
                    <a:pt x="0" y="0"/>
                  </a:moveTo>
                  <a:lnTo>
                    <a:pt x="7261098" y="0"/>
                  </a:lnTo>
                  <a:lnTo>
                    <a:pt x="7261098" y="7138924"/>
                  </a:lnTo>
                  <a:lnTo>
                    <a:pt x="0" y="713892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-27462" t="0" r="-27462" b="0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2379809" y="1495471"/>
            <a:ext cx="4395406" cy="1769173"/>
            <a:chOff x="0" y="0"/>
            <a:chExt cx="5860542" cy="2358898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5860542" cy="2358898"/>
            </a:xfrm>
            <a:custGeom>
              <a:avLst/>
              <a:gdLst/>
              <a:ahLst/>
              <a:cxnLst/>
              <a:rect r="r" b="b" t="t" l="l"/>
              <a:pathLst>
                <a:path h="2358898" w="5860542">
                  <a:moveTo>
                    <a:pt x="0" y="0"/>
                  </a:moveTo>
                  <a:lnTo>
                    <a:pt x="5860542" y="0"/>
                  </a:lnTo>
                  <a:lnTo>
                    <a:pt x="5860542" y="2358898"/>
                  </a:lnTo>
                  <a:lnTo>
                    <a:pt x="0" y="235889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-136" r="0" b="-136"/>
              </a:stretch>
            </a:blipFill>
          </p:spPr>
        </p:sp>
      </p:grpSp>
      <p:sp>
        <p:nvSpPr>
          <p:cNvPr name="Freeform 10" id="10"/>
          <p:cNvSpPr/>
          <p:nvPr/>
        </p:nvSpPr>
        <p:spPr>
          <a:xfrm flipH="false" flipV="false" rot="0">
            <a:off x="10563927" y="3487092"/>
            <a:ext cx="532458" cy="532458"/>
          </a:xfrm>
          <a:custGeom>
            <a:avLst/>
            <a:gdLst/>
            <a:ahLst/>
            <a:cxnLst/>
            <a:rect r="r" b="b" t="t" l="l"/>
            <a:pathLst>
              <a:path h="532458" w="532458">
                <a:moveTo>
                  <a:pt x="0" y="0"/>
                </a:moveTo>
                <a:lnTo>
                  <a:pt x="532458" y="0"/>
                </a:lnTo>
                <a:lnTo>
                  <a:pt x="532458" y="532458"/>
                </a:lnTo>
                <a:lnTo>
                  <a:pt x="0" y="532458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10563927" y="4547308"/>
            <a:ext cx="532458" cy="532458"/>
          </a:xfrm>
          <a:custGeom>
            <a:avLst/>
            <a:gdLst/>
            <a:ahLst/>
            <a:cxnLst/>
            <a:rect r="r" b="b" t="t" l="l"/>
            <a:pathLst>
              <a:path h="532458" w="532458">
                <a:moveTo>
                  <a:pt x="0" y="0"/>
                </a:moveTo>
                <a:lnTo>
                  <a:pt x="532458" y="0"/>
                </a:lnTo>
                <a:lnTo>
                  <a:pt x="532458" y="532458"/>
                </a:lnTo>
                <a:lnTo>
                  <a:pt x="0" y="532458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10551489" y="5607524"/>
            <a:ext cx="532458" cy="532458"/>
          </a:xfrm>
          <a:custGeom>
            <a:avLst/>
            <a:gdLst/>
            <a:ahLst/>
            <a:cxnLst/>
            <a:rect r="r" b="b" t="t" l="l"/>
            <a:pathLst>
              <a:path h="532458" w="532458">
                <a:moveTo>
                  <a:pt x="0" y="0"/>
                </a:moveTo>
                <a:lnTo>
                  <a:pt x="532458" y="0"/>
                </a:lnTo>
                <a:lnTo>
                  <a:pt x="532458" y="532458"/>
                </a:lnTo>
                <a:lnTo>
                  <a:pt x="0" y="532458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3" id="13"/>
          <p:cNvGrpSpPr/>
          <p:nvPr/>
        </p:nvGrpSpPr>
        <p:grpSpPr>
          <a:xfrm rot="0">
            <a:off x="13441693" y="947871"/>
            <a:ext cx="1551432" cy="519017"/>
            <a:chOff x="0" y="0"/>
            <a:chExt cx="2068576" cy="692023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2068576" cy="692023"/>
            </a:xfrm>
            <a:custGeom>
              <a:avLst/>
              <a:gdLst/>
              <a:ahLst/>
              <a:cxnLst/>
              <a:rect r="r" b="b" t="t" l="l"/>
              <a:pathLst>
                <a:path h="692023" w="2068576">
                  <a:moveTo>
                    <a:pt x="194310" y="0"/>
                  </a:moveTo>
                  <a:lnTo>
                    <a:pt x="1874266" y="0"/>
                  </a:lnTo>
                  <a:cubicBezTo>
                    <a:pt x="1981581" y="0"/>
                    <a:pt x="2068576" y="86995"/>
                    <a:pt x="2068576" y="194310"/>
                  </a:cubicBezTo>
                  <a:lnTo>
                    <a:pt x="2068576" y="497713"/>
                  </a:lnTo>
                  <a:cubicBezTo>
                    <a:pt x="2068576" y="605028"/>
                    <a:pt x="1981581" y="692023"/>
                    <a:pt x="1874266" y="692023"/>
                  </a:cubicBezTo>
                  <a:lnTo>
                    <a:pt x="194310" y="692023"/>
                  </a:lnTo>
                  <a:cubicBezTo>
                    <a:pt x="86995" y="692023"/>
                    <a:pt x="0" y="605028"/>
                    <a:pt x="0" y="497713"/>
                  </a:cubicBezTo>
                  <a:lnTo>
                    <a:pt x="0" y="194310"/>
                  </a:lnTo>
                  <a:cubicBezTo>
                    <a:pt x="0" y="86995"/>
                    <a:pt x="86995" y="0"/>
                    <a:pt x="194310" y="0"/>
                  </a:cubicBezTo>
                  <a:close/>
                </a:path>
              </a:pathLst>
            </a:custGeom>
            <a:solidFill>
              <a:srgbClr val="8B3DFF">
                <a:alpha val="19608"/>
              </a:srgbClr>
            </a:solid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11547404" y="868073"/>
            <a:ext cx="1551389" cy="728753"/>
            <a:chOff x="0" y="0"/>
            <a:chExt cx="2068519" cy="97167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2068519" cy="971670"/>
            </a:xfrm>
            <a:custGeom>
              <a:avLst/>
              <a:gdLst/>
              <a:ahLst/>
              <a:cxnLst/>
              <a:rect r="r" b="b" t="t" l="l"/>
              <a:pathLst>
                <a:path h="971670" w="2068519">
                  <a:moveTo>
                    <a:pt x="0" y="0"/>
                  </a:moveTo>
                  <a:lnTo>
                    <a:pt x="2068519" y="0"/>
                  </a:lnTo>
                  <a:lnTo>
                    <a:pt x="2068519" y="971670"/>
                  </a:lnTo>
                  <a:lnTo>
                    <a:pt x="0" y="97167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57150"/>
              <a:ext cx="2068519" cy="10288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520"/>
                </a:lnSpc>
              </a:pPr>
              <a:r>
                <a:rPr lang="en-US" sz="1800" spc="52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NEEDS</a:t>
              </a:r>
            </a:p>
          </p:txBody>
        </p:sp>
      </p:grpSp>
      <p:sp>
        <p:nvSpPr>
          <p:cNvPr name="TextBox 18" id="18"/>
          <p:cNvSpPr txBox="true"/>
          <p:nvPr/>
        </p:nvSpPr>
        <p:spPr>
          <a:xfrm rot="0">
            <a:off x="13577787" y="993061"/>
            <a:ext cx="1279328" cy="4073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53"/>
              </a:lnSpc>
            </a:pPr>
            <a:r>
              <a:rPr lang="en-US" sz="1967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FEATURES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5333365" y="975134"/>
            <a:ext cx="1196185" cy="4073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53"/>
              </a:lnSpc>
            </a:pPr>
            <a:r>
              <a:rPr lang="en-US" sz="1967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MODULES</a:t>
            </a:r>
          </a:p>
        </p:txBody>
      </p:sp>
      <p:sp>
        <p:nvSpPr>
          <p:cNvPr name="Freeform 20" id="20"/>
          <p:cNvSpPr/>
          <p:nvPr/>
        </p:nvSpPr>
        <p:spPr>
          <a:xfrm flipH="false" flipV="false" rot="0">
            <a:off x="10551489" y="6710168"/>
            <a:ext cx="532458" cy="532458"/>
          </a:xfrm>
          <a:custGeom>
            <a:avLst/>
            <a:gdLst/>
            <a:ahLst/>
            <a:cxnLst/>
            <a:rect r="r" b="b" t="t" l="l"/>
            <a:pathLst>
              <a:path h="532458" w="532458">
                <a:moveTo>
                  <a:pt x="0" y="0"/>
                </a:moveTo>
                <a:lnTo>
                  <a:pt x="532458" y="0"/>
                </a:lnTo>
                <a:lnTo>
                  <a:pt x="532458" y="532458"/>
                </a:lnTo>
                <a:lnTo>
                  <a:pt x="0" y="532458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1" id="21"/>
          <p:cNvSpPr/>
          <p:nvPr/>
        </p:nvSpPr>
        <p:spPr>
          <a:xfrm flipH="false" flipV="false" rot="0">
            <a:off x="10551489" y="7770384"/>
            <a:ext cx="532458" cy="532458"/>
          </a:xfrm>
          <a:custGeom>
            <a:avLst/>
            <a:gdLst/>
            <a:ahLst/>
            <a:cxnLst/>
            <a:rect r="r" b="b" t="t" l="l"/>
            <a:pathLst>
              <a:path h="532458" w="532458">
                <a:moveTo>
                  <a:pt x="0" y="0"/>
                </a:moveTo>
                <a:lnTo>
                  <a:pt x="532458" y="0"/>
                </a:lnTo>
                <a:lnTo>
                  <a:pt x="532458" y="532458"/>
                </a:lnTo>
                <a:lnTo>
                  <a:pt x="0" y="532458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  <p:transition spd="fast">
    <p:fade/>
  </p:transition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988167" y="-3075086"/>
            <a:ext cx="5423759" cy="6757068"/>
          </a:xfrm>
          <a:custGeom>
            <a:avLst/>
            <a:gdLst/>
            <a:ahLst/>
            <a:cxnLst/>
            <a:rect r="r" b="b" t="t" l="l"/>
            <a:pathLst>
              <a:path h="6757068" w="5423759">
                <a:moveTo>
                  <a:pt x="0" y="0"/>
                </a:moveTo>
                <a:lnTo>
                  <a:pt x="5423759" y="0"/>
                </a:lnTo>
                <a:lnTo>
                  <a:pt x="5423759" y="6757068"/>
                </a:lnTo>
                <a:lnTo>
                  <a:pt x="0" y="675706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8" t="0" r="-8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252125" y="3158787"/>
            <a:ext cx="5753672" cy="4854607"/>
            <a:chOff x="0" y="0"/>
            <a:chExt cx="7671562" cy="6472809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7671562" cy="6472809"/>
            </a:xfrm>
            <a:custGeom>
              <a:avLst/>
              <a:gdLst/>
              <a:ahLst/>
              <a:cxnLst/>
              <a:rect r="r" b="b" t="t" l="l"/>
              <a:pathLst>
                <a:path h="6472809" w="7671562">
                  <a:moveTo>
                    <a:pt x="0" y="0"/>
                  </a:moveTo>
                  <a:lnTo>
                    <a:pt x="7671562" y="0"/>
                  </a:lnTo>
                  <a:lnTo>
                    <a:pt x="7671562" y="6472809"/>
                  </a:lnTo>
                  <a:lnTo>
                    <a:pt x="0" y="647280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65" r="0" b="-65"/>
              </a:stretch>
            </a:blipFill>
          </p:spPr>
        </p:sp>
      </p:grpSp>
      <p:sp>
        <p:nvSpPr>
          <p:cNvPr name="Freeform 5" id="5"/>
          <p:cNvSpPr/>
          <p:nvPr/>
        </p:nvSpPr>
        <p:spPr>
          <a:xfrm flipH="false" flipV="false" rot="0">
            <a:off x="0" y="3092636"/>
            <a:ext cx="5309831" cy="3285815"/>
          </a:xfrm>
          <a:custGeom>
            <a:avLst/>
            <a:gdLst/>
            <a:ahLst/>
            <a:cxnLst/>
            <a:rect r="r" b="b" t="t" l="l"/>
            <a:pathLst>
              <a:path h="3285815" w="5309831">
                <a:moveTo>
                  <a:pt x="0" y="0"/>
                </a:moveTo>
                <a:lnTo>
                  <a:pt x="5309831" y="0"/>
                </a:lnTo>
                <a:lnTo>
                  <a:pt x="5309831" y="3285815"/>
                </a:lnTo>
                <a:lnTo>
                  <a:pt x="0" y="3285815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-46" r="0" b="-46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511069" y="4353411"/>
            <a:ext cx="4324380" cy="11143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022"/>
              </a:lnSpc>
            </a:pPr>
            <a:r>
              <a:rPr lang="en-US" sz="7497" b="true">
                <a:solidFill>
                  <a:srgbClr val="373737"/>
                </a:solidFill>
                <a:latin typeface="Poppins Bold"/>
                <a:ea typeface="Poppins Bold"/>
                <a:cs typeface="Poppins Bold"/>
                <a:sym typeface="Poppins Bold"/>
              </a:rPr>
              <a:t>Modules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7443723" y="3104346"/>
            <a:ext cx="10280671" cy="4897338"/>
          </a:xfrm>
          <a:custGeom>
            <a:avLst/>
            <a:gdLst/>
            <a:ahLst/>
            <a:cxnLst/>
            <a:rect r="r" b="b" t="t" l="l"/>
            <a:pathLst>
              <a:path h="4897338" w="10280671">
                <a:moveTo>
                  <a:pt x="0" y="0"/>
                </a:moveTo>
                <a:lnTo>
                  <a:pt x="10280671" y="0"/>
                </a:lnTo>
                <a:lnTo>
                  <a:pt x="10280671" y="4897338"/>
                </a:lnTo>
                <a:lnTo>
                  <a:pt x="0" y="4897338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-245" r="0" b="-245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7620307" y="4929648"/>
            <a:ext cx="4173675" cy="1404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04"/>
              </a:lnSpc>
            </a:pPr>
            <a:r>
              <a:rPr lang="en-US" sz="5242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USER</a:t>
            </a:r>
          </a:p>
          <a:p>
            <a:pPr algn="ctr">
              <a:lnSpc>
                <a:spcPts val="5504"/>
              </a:lnSpc>
            </a:pPr>
            <a:r>
              <a:rPr lang="en-US" sz="5242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MODULE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2730882" y="3325655"/>
            <a:ext cx="741309" cy="11600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704"/>
              </a:lnSpc>
            </a:pPr>
            <a:r>
              <a:rPr lang="en-US" sz="5503" b="true">
                <a:solidFill>
                  <a:srgbClr val="FFFFFF"/>
                </a:solidFill>
                <a:latin typeface="TT Autonomous Mono Bold"/>
                <a:ea typeface="TT Autonomous Mono Bold"/>
                <a:cs typeface="TT Autonomous Mono Bold"/>
                <a:sym typeface="TT Autonomous Mono Bold"/>
              </a:rPr>
              <a:t>1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2730882" y="5038725"/>
            <a:ext cx="741309" cy="11600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704"/>
              </a:lnSpc>
            </a:pPr>
            <a:r>
              <a:rPr lang="en-US" sz="5503" b="true">
                <a:solidFill>
                  <a:srgbClr val="FFFFFF"/>
                </a:solidFill>
                <a:latin typeface="TT Autonomous Mono Bold"/>
                <a:ea typeface="TT Autonomous Mono Bold"/>
                <a:cs typeface="TT Autonomous Mono Bold"/>
                <a:sym typeface="TT Autonomous Mono Bold"/>
              </a:rPr>
              <a:t>2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2730882" y="6708281"/>
            <a:ext cx="741309" cy="11600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704"/>
              </a:lnSpc>
            </a:pPr>
            <a:r>
              <a:rPr lang="en-US" sz="5503" b="true">
                <a:solidFill>
                  <a:srgbClr val="FFFFFF"/>
                </a:solidFill>
                <a:latin typeface="TT Autonomous Mono Bold"/>
                <a:ea typeface="TT Autonomous Mono Bold"/>
                <a:cs typeface="TT Autonomous Mono Bold"/>
                <a:sym typeface="TT Autonomous Mono Bold"/>
              </a:rPr>
              <a:t>3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3906501" y="3543300"/>
            <a:ext cx="3671578" cy="7240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28"/>
              </a:lnSpc>
            </a:pPr>
            <a:r>
              <a:rPr lang="en-US" sz="1861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User registration/ login(Email, Phone OTP, Google)</a:t>
            </a:r>
          </a:p>
          <a:p>
            <a:pPr algn="l">
              <a:lnSpc>
                <a:spcPts val="1483"/>
              </a:lnSpc>
            </a:pPr>
          </a:p>
        </p:txBody>
      </p:sp>
      <p:sp>
        <p:nvSpPr>
          <p:cNvPr name="TextBox 13" id="13"/>
          <p:cNvSpPr txBox="true"/>
          <p:nvPr/>
        </p:nvSpPr>
        <p:spPr>
          <a:xfrm rot="0">
            <a:off x="13906501" y="5292659"/>
            <a:ext cx="3681950" cy="5302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079"/>
              </a:lnSpc>
            </a:pPr>
            <a:r>
              <a:rPr lang="en-US" sz="1907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Profile Management</a:t>
            </a:r>
          </a:p>
          <a:p>
            <a:pPr algn="just">
              <a:lnSpc>
                <a:spcPts val="2079"/>
              </a:lnSpc>
            </a:pPr>
            <a:r>
              <a:rPr lang="en-US" sz="1907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Booking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3906501" y="6902660"/>
            <a:ext cx="3804086" cy="6403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406"/>
              </a:lnSpc>
            </a:pPr>
            <a:r>
              <a:rPr lang="en-US" sz="2206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Notification </a:t>
            </a:r>
          </a:p>
          <a:p>
            <a:pPr algn="just">
              <a:lnSpc>
                <a:spcPts val="2406"/>
              </a:lnSpc>
            </a:pPr>
            <a:r>
              <a:rPr lang="en-US" sz="2206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payment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15146217" y="928821"/>
            <a:ext cx="1551432" cy="519017"/>
            <a:chOff x="0" y="0"/>
            <a:chExt cx="2068576" cy="692023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2068576" cy="692023"/>
            </a:xfrm>
            <a:custGeom>
              <a:avLst/>
              <a:gdLst/>
              <a:ahLst/>
              <a:cxnLst/>
              <a:rect r="r" b="b" t="t" l="l"/>
              <a:pathLst>
                <a:path h="692023" w="2068576">
                  <a:moveTo>
                    <a:pt x="194310" y="0"/>
                  </a:moveTo>
                  <a:lnTo>
                    <a:pt x="1874266" y="0"/>
                  </a:lnTo>
                  <a:cubicBezTo>
                    <a:pt x="1981581" y="0"/>
                    <a:pt x="2068576" y="86995"/>
                    <a:pt x="2068576" y="194310"/>
                  </a:cubicBezTo>
                  <a:lnTo>
                    <a:pt x="2068576" y="497713"/>
                  </a:lnTo>
                  <a:cubicBezTo>
                    <a:pt x="2068576" y="605028"/>
                    <a:pt x="1981581" y="692023"/>
                    <a:pt x="1874266" y="692023"/>
                  </a:cubicBezTo>
                  <a:lnTo>
                    <a:pt x="194310" y="692023"/>
                  </a:lnTo>
                  <a:cubicBezTo>
                    <a:pt x="86995" y="692023"/>
                    <a:pt x="0" y="605028"/>
                    <a:pt x="0" y="497713"/>
                  </a:cubicBezTo>
                  <a:lnTo>
                    <a:pt x="0" y="194310"/>
                  </a:lnTo>
                  <a:cubicBezTo>
                    <a:pt x="0" y="86995"/>
                    <a:pt x="86995" y="0"/>
                    <a:pt x="194310" y="0"/>
                  </a:cubicBezTo>
                  <a:close/>
                </a:path>
              </a:pathLst>
            </a:custGeom>
            <a:solidFill>
              <a:srgbClr val="8B3DFF">
                <a:alpha val="19608"/>
              </a:srgbClr>
            </a:solid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11550148" y="868073"/>
            <a:ext cx="1551389" cy="728753"/>
            <a:chOff x="0" y="0"/>
            <a:chExt cx="2068519" cy="97167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2068519" cy="971670"/>
            </a:xfrm>
            <a:custGeom>
              <a:avLst/>
              <a:gdLst/>
              <a:ahLst/>
              <a:cxnLst/>
              <a:rect r="r" b="b" t="t" l="l"/>
              <a:pathLst>
                <a:path h="971670" w="2068519">
                  <a:moveTo>
                    <a:pt x="0" y="0"/>
                  </a:moveTo>
                  <a:lnTo>
                    <a:pt x="2068519" y="0"/>
                  </a:lnTo>
                  <a:lnTo>
                    <a:pt x="2068519" y="971670"/>
                  </a:lnTo>
                  <a:lnTo>
                    <a:pt x="0" y="97167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57150"/>
              <a:ext cx="2068519" cy="10288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520"/>
                </a:lnSpc>
              </a:pPr>
              <a:r>
                <a:rPr lang="en-US" sz="1800" spc="52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NEEDS</a:t>
              </a:r>
            </a:p>
          </p:txBody>
        </p:sp>
      </p:grpSp>
      <p:sp>
        <p:nvSpPr>
          <p:cNvPr name="TextBox 20" id="20"/>
          <p:cNvSpPr txBox="true"/>
          <p:nvPr/>
        </p:nvSpPr>
        <p:spPr>
          <a:xfrm rot="0">
            <a:off x="13577787" y="993061"/>
            <a:ext cx="1279328" cy="4073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53"/>
              </a:lnSpc>
            </a:pPr>
            <a:r>
              <a:rPr lang="en-US" sz="1967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FEATURES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5333365" y="975134"/>
            <a:ext cx="1196185" cy="4073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53"/>
              </a:lnSpc>
            </a:pPr>
            <a:r>
              <a:rPr lang="en-US" sz="1967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MODULES</a:t>
            </a:r>
          </a:p>
        </p:txBody>
      </p:sp>
    </p:spTree>
  </p:cSld>
  <p:clrMapOvr>
    <a:masterClrMapping/>
  </p:clrMapOvr>
  <p:transition spd="fast">
    <p:fade/>
  </p:transition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988167" y="-3075086"/>
            <a:ext cx="5423759" cy="6757068"/>
          </a:xfrm>
          <a:custGeom>
            <a:avLst/>
            <a:gdLst/>
            <a:ahLst/>
            <a:cxnLst/>
            <a:rect r="r" b="b" t="t" l="l"/>
            <a:pathLst>
              <a:path h="6757068" w="5423759">
                <a:moveTo>
                  <a:pt x="0" y="0"/>
                </a:moveTo>
                <a:lnTo>
                  <a:pt x="5423759" y="0"/>
                </a:lnTo>
                <a:lnTo>
                  <a:pt x="5423759" y="6757068"/>
                </a:lnTo>
                <a:lnTo>
                  <a:pt x="0" y="675706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8" t="0" r="-8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7443723" y="3104346"/>
            <a:ext cx="10280671" cy="4897338"/>
          </a:xfrm>
          <a:custGeom>
            <a:avLst/>
            <a:gdLst/>
            <a:ahLst/>
            <a:cxnLst/>
            <a:rect r="r" b="b" t="t" l="l"/>
            <a:pathLst>
              <a:path h="4897338" w="10280671">
                <a:moveTo>
                  <a:pt x="0" y="0"/>
                </a:moveTo>
                <a:lnTo>
                  <a:pt x="10280671" y="0"/>
                </a:lnTo>
                <a:lnTo>
                  <a:pt x="10280671" y="4897338"/>
                </a:lnTo>
                <a:lnTo>
                  <a:pt x="0" y="489733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-245" r="0" b="-245"/>
            </a:stretch>
          </a:blipFill>
          <a:ln cap="sq">
            <a:noFill/>
            <a:prstDash val="solid"/>
            <a:miter/>
          </a:ln>
        </p:spPr>
      </p:sp>
      <p:sp>
        <p:nvSpPr>
          <p:cNvPr name="TextBox 4" id="4"/>
          <p:cNvSpPr txBox="true"/>
          <p:nvPr/>
        </p:nvSpPr>
        <p:spPr>
          <a:xfrm rot="0">
            <a:off x="7620307" y="4929648"/>
            <a:ext cx="4173675" cy="1404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04"/>
              </a:lnSpc>
            </a:pPr>
            <a:r>
              <a:rPr lang="en-US" sz="5242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OWNER</a:t>
            </a:r>
          </a:p>
          <a:p>
            <a:pPr algn="ctr">
              <a:lnSpc>
                <a:spcPts val="5504"/>
              </a:lnSpc>
            </a:pPr>
            <a:r>
              <a:rPr lang="en-US" sz="5242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MODULE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3900086" y="3607426"/>
            <a:ext cx="2821409" cy="7178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028"/>
              </a:lnSpc>
            </a:pPr>
            <a:r>
              <a:rPr lang="en-US" sz="1861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Turf/table registration &amp; verification</a:t>
            </a:r>
          </a:p>
          <a:p>
            <a:pPr algn="just">
              <a:lnSpc>
                <a:spcPts val="1483"/>
              </a:lnSpc>
            </a:pPr>
          </a:p>
        </p:txBody>
      </p:sp>
      <p:sp>
        <p:nvSpPr>
          <p:cNvPr name="TextBox 6" id="6"/>
          <p:cNvSpPr txBox="true"/>
          <p:nvPr/>
        </p:nvSpPr>
        <p:spPr>
          <a:xfrm rot="0">
            <a:off x="13900086" y="5291475"/>
            <a:ext cx="3434408" cy="7192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79"/>
              </a:lnSpc>
            </a:pPr>
            <a:r>
              <a:rPr lang="en-US" sz="1907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Set available time slots and pricing</a:t>
            </a:r>
          </a:p>
          <a:p>
            <a:pPr algn="l">
              <a:lnSpc>
                <a:spcPts val="1653"/>
              </a:lnSpc>
            </a:pPr>
          </a:p>
        </p:txBody>
      </p:sp>
      <p:sp>
        <p:nvSpPr>
          <p:cNvPr name="TextBox 7" id="7"/>
          <p:cNvSpPr txBox="true"/>
          <p:nvPr/>
        </p:nvSpPr>
        <p:spPr>
          <a:xfrm rot="0">
            <a:off x="13900086" y="7056412"/>
            <a:ext cx="3434408" cy="4620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079"/>
              </a:lnSpc>
            </a:pPr>
            <a:r>
              <a:rPr lang="en-US" sz="1907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View upcoming bookings</a:t>
            </a:r>
          </a:p>
          <a:p>
            <a:pPr algn="just">
              <a:lnSpc>
                <a:spcPts val="1653"/>
              </a:lnSpc>
            </a:pPr>
          </a:p>
        </p:txBody>
      </p:sp>
      <p:grpSp>
        <p:nvGrpSpPr>
          <p:cNvPr name="Group 8" id="8"/>
          <p:cNvGrpSpPr/>
          <p:nvPr/>
        </p:nvGrpSpPr>
        <p:grpSpPr>
          <a:xfrm rot="0">
            <a:off x="15146217" y="928821"/>
            <a:ext cx="1551432" cy="519017"/>
            <a:chOff x="0" y="0"/>
            <a:chExt cx="2068576" cy="692023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068576" cy="692023"/>
            </a:xfrm>
            <a:custGeom>
              <a:avLst/>
              <a:gdLst/>
              <a:ahLst/>
              <a:cxnLst/>
              <a:rect r="r" b="b" t="t" l="l"/>
              <a:pathLst>
                <a:path h="692023" w="2068576">
                  <a:moveTo>
                    <a:pt x="194310" y="0"/>
                  </a:moveTo>
                  <a:lnTo>
                    <a:pt x="1874266" y="0"/>
                  </a:lnTo>
                  <a:cubicBezTo>
                    <a:pt x="1981581" y="0"/>
                    <a:pt x="2068576" y="86995"/>
                    <a:pt x="2068576" y="194310"/>
                  </a:cubicBezTo>
                  <a:lnTo>
                    <a:pt x="2068576" y="497713"/>
                  </a:lnTo>
                  <a:cubicBezTo>
                    <a:pt x="2068576" y="605028"/>
                    <a:pt x="1981581" y="692023"/>
                    <a:pt x="1874266" y="692023"/>
                  </a:cubicBezTo>
                  <a:lnTo>
                    <a:pt x="194310" y="692023"/>
                  </a:lnTo>
                  <a:cubicBezTo>
                    <a:pt x="86995" y="692023"/>
                    <a:pt x="0" y="605028"/>
                    <a:pt x="0" y="497713"/>
                  </a:cubicBezTo>
                  <a:lnTo>
                    <a:pt x="0" y="194310"/>
                  </a:lnTo>
                  <a:cubicBezTo>
                    <a:pt x="0" y="86995"/>
                    <a:pt x="86995" y="0"/>
                    <a:pt x="194310" y="0"/>
                  </a:cubicBezTo>
                  <a:close/>
                </a:path>
              </a:pathLst>
            </a:custGeom>
            <a:solidFill>
              <a:srgbClr val="8B3DFF">
                <a:alpha val="19608"/>
              </a:srgbClr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1550148" y="868073"/>
            <a:ext cx="1551389" cy="728753"/>
            <a:chOff x="0" y="0"/>
            <a:chExt cx="2068519" cy="97167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068519" cy="971670"/>
            </a:xfrm>
            <a:custGeom>
              <a:avLst/>
              <a:gdLst/>
              <a:ahLst/>
              <a:cxnLst/>
              <a:rect r="r" b="b" t="t" l="l"/>
              <a:pathLst>
                <a:path h="971670" w="2068519">
                  <a:moveTo>
                    <a:pt x="0" y="0"/>
                  </a:moveTo>
                  <a:lnTo>
                    <a:pt x="2068519" y="0"/>
                  </a:lnTo>
                  <a:lnTo>
                    <a:pt x="2068519" y="971670"/>
                  </a:lnTo>
                  <a:lnTo>
                    <a:pt x="0" y="97167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57150"/>
              <a:ext cx="2068519" cy="10288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520"/>
                </a:lnSpc>
              </a:pPr>
              <a:r>
                <a:rPr lang="en-US" sz="1800" spc="52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NEEDS</a:t>
              </a:r>
            </a:p>
          </p:txBody>
        </p:sp>
      </p:grpSp>
      <p:sp>
        <p:nvSpPr>
          <p:cNvPr name="TextBox 13" id="13"/>
          <p:cNvSpPr txBox="true"/>
          <p:nvPr/>
        </p:nvSpPr>
        <p:spPr>
          <a:xfrm rot="0">
            <a:off x="13577787" y="993061"/>
            <a:ext cx="1279328" cy="4073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53"/>
              </a:lnSpc>
            </a:pPr>
            <a:r>
              <a:rPr lang="en-US" sz="1967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FEATURES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5333365" y="975134"/>
            <a:ext cx="1196185" cy="4073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53"/>
              </a:lnSpc>
            </a:pPr>
            <a:r>
              <a:rPr lang="en-US" sz="1967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MODULES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2730882" y="3325655"/>
            <a:ext cx="741309" cy="11600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704"/>
              </a:lnSpc>
            </a:pPr>
            <a:r>
              <a:rPr lang="en-US" sz="5503" b="true">
                <a:solidFill>
                  <a:srgbClr val="FFFFFF"/>
                </a:solidFill>
                <a:latin typeface="TT Autonomous Mono Bold"/>
                <a:ea typeface="TT Autonomous Mono Bold"/>
                <a:cs typeface="TT Autonomous Mono Bold"/>
                <a:sym typeface="TT Autonomous Mono Bold"/>
              </a:rPr>
              <a:t>1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2730882" y="5038725"/>
            <a:ext cx="741309" cy="11600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704"/>
              </a:lnSpc>
            </a:pPr>
            <a:r>
              <a:rPr lang="en-US" sz="5503" b="true">
                <a:solidFill>
                  <a:srgbClr val="FFFFFF"/>
                </a:solidFill>
                <a:latin typeface="TT Autonomous Mono Bold"/>
                <a:ea typeface="TT Autonomous Mono Bold"/>
                <a:cs typeface="TT Autonomous Mono Bold"/>
                <a:sym typeface="TT Autonomous Mono Bold"/>
              </a:rPr>
              <a:t>2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2730882" y="6708281"/>
            <a:ext cx="741309" cy="11600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704"/>
              </a:lnSpc>
            </a:pPr>
            <a:r>
              <a:rPr lang="en-US" sz="5503" b="true">
                <a:solidFill>
                  <a:srgbClr val="FFFFFF"/>
                </a:solidFill>
                <a:latin typeface="TT Autonomous Mono Bold"/>
                <a:ea typeface="TT Autonomous Mono Bold"/>
                <a:cs typeface="TT Autonomous Mono Bold"/>
                <a:sym typeface="TT Autonomous Mono Bold"/>
              </a:rPr>
              <a:t>3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-252125" y="3158787"/>
            <a:ext cx="5753672" cy="4854607"/>
            <a:chOff x="0" y="0"/>
            <a:chExt cx="7671562" cy="6472809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7671562" cy="6472809"/>
            </a:xfrm>
            <a:custGeom>
              <a:avLst/>
              <a:gdLst/>
              <a:ahLst/>
              <a:cxnLst/>
              <a:rect r="r" b="b" t="t" l="l"/>
              <a:pathLst>
                <a:path h="6472809" w="7671562">
                  <a:moveTo>
                    <a:pt x="0" y="0"/>
                  </a:moveTo>
                  <a:lnTo>
                    <a:pt x="7671562" y="0"/>
                  </a:lnTo>
                  <a:lnTo>
                    <a:pt x="7671562" y="6472809"/>
                  </a:lnTo>
                  <a:lnTo>
                    <a:pt x="0" y="647280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-65" r="0" b="-65"/>
              </a:stretch>
            </a:blipFill>
          </p:spPr>
        </p:sp>
      </p:grpSp>
      <p:sp>
        <p:nvSpPr>
          <p:cNvPr name="Freeform 20" id="20"/>
          <p:cNvSpPr/>
          <p:nvPr/>
        </p:nvSpPr>
        <p:spPr>
          <a:xfrm flipH="false" flipV="false" rot="0">
            <a:off x="0" y="3092636"/>
            <a:ext cx="5309831" cy="3285815"/>
          </a:xfrm>
          <a:custGeom>
            <a:avLst/>
            <a:gdLst/>
            <a:ahLst/>
            <a:cxnLst/>
            <a:rect r="r" b="b" t="t" l="l"/>
            <a:pathLst>
              <a:path h="3285815" w="5309831">
                <a:moveTo>
                  <a:pt x="0" y="0"/>
                </a:moveTo>
                <a:lnTo>
                  <a:pt x="5309831" y="0"/>
                </a:lnTo>
                <a:lnTo>
                  <a:pt x="5309831" y="3285815"/>
                </a:lnTo>
                <a:lnTo>
                  <a:pt x="0" y="3285815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-46" r="0" b="-46"/>
            </a:stretch>
          </a:blipFill>
        </p:spPr>
      </p:sp>
      <p:sp>
        <p:nvSpPr>
          <p:cNvPr name="TextBox 21" id="21"/>
          <p:cNvSpPr txBox="true"/>
          <p:nvPr/>
        </p:nvSpPr>
        <p:spPr>
          <a:xfrm rot="0">
            <a:off x="511069" y="4353411"/>
            <a:ext cx="4324380" cy="11143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022"/>
              </a:lnSpc>
            </a:pPr>
            <a:r>
              <a:rPr lang="en-US" sz="7497" b="true">
                <a:solidFill>
                  <a:srgbClr val="373737"/>
                </a:solidFill>
                <a:latin typeface="Poppins Bold"/>
                <a:ea typeface="Poppins Bold"/>
                <a:cs typeface="Poppins Bold"/>
                <a:sym typeface="Poppins Bold"/>
              </a:rPr>
              <a:t>Modules</a:t>
            </a:r>
          </a:p>
        </p:txBody>
      </p:sp>
    </p:spTree>
  </p:cSld>
  <p:clrMapOvr>
    <a:masterClrMapping/>
  </p:clrMapOvr>
  <p:transition spd="fast">
    <p:fade/>
  </p:transition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988167" y="-3075086"/>
            <a:ext cx="5423759" cy="6757068"/>
          </a:xfrm>
          <a:custGeom>
            <a:avLst/>
            <a:gdLst/>
            <a:ahLst/>
            <a:cxnLst/>
            <a:rect r="r" b="b" t="t" l="l"/>
            <a:pathLst>
              <a:path h="6757068" w="5423759">
                <a:moveTo>
                  <a:pt x="0" y="0"/>
                </a:moveTo>
                <a:lnTo>
                  <a:pt x="5423759" y="0"/>
                </a:lnTo>
                <a:lnTo>
                  <a:pt x="5423759" y="6757068"/>
                </a:lnTo>
                <a:lnTo>
                  <a:pt x="0" y="675706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8" t="0" r="-8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7443723" y="3104346"/>
            <a:ext cx="10280671" cy="4897338"/>
          </a:xfrm>
          <a:custGeom>
            <a:avLst/>
            <a:gdLst/>
            <a:ahLst/>
            <a:cxnLst/>
            <a:rect r="r" b="b" t="t" l="l"/>
            <a:pathLst>
              <a:path h="4897338" w="10280671">
                <a:moveTo>
                  <a:pt x="0" y="0"/>
                </a:moveTo>
                <a:lnTo>
                  <a:pt x="10280671" y="0"/>
                </a:lnTo>
                <a:lnTo>
                  <a:pt x="10280671" y="4897338"/>
                </a:lnTo>
                <a:lnTo>
                  <a:pt x="0" y="489733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-245" r="0" b="-245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7620307" y="4929648"/>
            <a:ext cx="4173675" cy="1404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04"/>
              </a:lnSpc>
            </a:pPr>
            <a:r>
              <a:rPr lang="en-US" sz="5242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ADMIN</a:t>
            </a:r>
          </a:p>
          <a:p>
            <a:pPr algn="ctr">
              <a:lnSpc>
                <a:spcPts val="5504"/>
              </a:lnSpc>
            </a:pPr>
            <a:r>
              <a:rPr lang="en-US" sz="5242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MODULE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3833411" y="3708057"/>
            <a:ext cx="2821409" cy="4606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028"/>
              </a:lnSpc>
            </a:pPr>
            <a:r>
              <a:rPr lang="en-US" sz="1861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User and Turf approval</a:t>
            </a:r>
          </a:p>
          <a:p>
            <a:pPr algn="just">
              <a:lnSpc>
                <a:spcPts val="1483"/>
              </a:lnSpc>
            </a:pPr>
          </a:p>
        </p:txBody>
      </p:sp>
      <p:sp>
        <p:nvSpPr>
          <p:cNvPr name="TextBox 6" id="6"/>
          <p:cNvSpPr txBox="true"/>
          <p:nvPr/>
        </p:nvSpPr>
        <p:spPr>
          <a:xfrm rot="0">
            <a:off x="13833411" y="5420502"/>
            <a:ext cx="4047482" cy="5108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79"/>
              </a:lnSpc>
            </a:pPr>
            <a:r>
              <a:rPr lang="en-US" sz="1907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Payment / Report monitoring</a:t>
            </a:r>
          </a:p>
          <a:p>
            <a:pPr algn="l">
              <a:lnSpc>
                <a:spcPts val="1653"/>
              </a:lnSpc>
            </a:pPr>
          </a:p>
        </p:txBody>
      </p:sp>
      <p:sp>
        <p:nvSpPr>
          <p:cNvPr name="TextBox 7" id="7"/>
          <p:cNvSpPr txBox="true"/>
          <p:nvPr/>
        </p:nvSpPr>
        <p:spPr>
          <a:xfrm rot="0">
            <a:off x="13833411" y="6869068"/>
            <a:ext cx="3779413" cy="9993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669"/>
              </a:lnSpc>
            </a:pPr>
            <a:r>
              <a:rPr lang="en-US" sz="1907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Content moderation</a:t>
            </a:r>
          </a:p>
          <a:p>
            <a:pPr algn="just">
              <a:lnSpc>
                <a:spcPts val="2669"/>
              </a:lnSpc>
            </a:pPr>
            <a:r>
              <a:rPr lang="en-US" sz="1907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(Reviews, Support)</a:t>
            </a:r>
          </a:p>
          <a:p>
            <a:pPr algn="just">
              <a:lnSpc>
                <a:spcPts val="2669"/>
              </a:lnSpc>
            </a:pPr>
          </a:p>
        </p:txBody>
      </p:sp>
      <p:grpSp>
        <p:nvGrpSpPr>
          <p:cNvPr name="Group 8" id="8"/>
          <p:cNvGrpSpPr/>
          <p:nvPr/>
        </p:nvGrpSpPr>
        <p:grpSpPr>
          <a:xfrm rot="0">
            <a:off x="15155742" y="928821"/>
            <a:ext cx="1551432" cy="519017"/>
            <a:chOff x="0" y="0"/>
            <a:chExt cx="2068576" cy="692023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068576" cy="692023"/>
            </a:xfrm>
            <a:custGeom>
              <a:avLst/>
              <a:gdLst/>
              <a:ahLst/>
              <a:cxnLst/>
              <a:rect r="r" b="b" t="t" l="l"/>
              <a:pathLst>
                <a:path h="692023" w="2068576">
                  <a:moveTo>
                    <a:pt x="194310" y="0"/>
                  </a:moveTo>
                  <a:lnTo>
                    <a:pt x="1874266" y="0"/>
                  </a:lnTo>
                  <a:cubicBezTo>
                    <a:pt x="1981581" y="0"/>
                    <a:pt x="2068576" y="86995"/>
                    <a:pt x="2068576" y="194310"/>
                  </a:cubicBezTo>
                  <a:lnTo>
                    <a:pt x="2068576" y="497713"/>
                  </a:lnTo>
                  <a:cubicBezTo>
                    <a:pt x="2068576" y="605028"/>
                    <a:pt x="1981581" y="692023"/>
                    <a:pt x="1874266" y="692023"/>
                  </a:cubicBezTo>
                  <a:lnTo>
                    <a:pt x="194310" y="692023"/>
                  </a:lnTo>
                  <a:cubicBezTo>
                    <a:pt x="86995" y="692023"/>
                    <a:pt x="0" y="605028"/>
                    <a:pt x="0" y="497713"/>
                  </a:cubicBezTo>
                  <a:lnTo>
                    <a:pt x="0" y="194310"/>
                  </a:lnTo>
                  <a:cubicBezTo>
                    <a:pt x="0" y="86995"/>
                    <a:pt x="86995" y="0"/>
                    <a:pt x="194310" y="0"/>
                  </a:cubicBezTo>
                  <a:close/>
                </a:path>
              </a:pathLst>
            </a:custGeom>
            <a:solidFill>
              <a:srgbClr val="8B3DFF">
                <a:alpha val="19608"/>
              </a:srgbClr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1550148" y="868073"/>
            <a:ext cx="1551389" cy="728753"/>
            <a:chOff x="0" y="0"/>
            <a:chExt cx="2068519" cy="97167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068519" cy="971670"/>
            </a:xfrm>
            <a:custGeom>
              <a:avLst/>
              <a:gdLst/>
              <a:ahLst/>
              <a:cxnLst/>
              <a:rect r="r" b="b" t="t" l="l"/>
              <a:pathLst>
                <a:path h="971670" w="2068519">
                  <a:moveTo>
                    <a:pt x="0" y="0"/>
                  </a:moveTo>
                  <a:lnTo>
                    <a:pt x="2068519" y="0"/>
                  </a:lnTo>
                  <a:lnTo>
                    <a:pt x="2068519" y="971670"/>
                  </a:lnTo>
                  <a:lnTo>
                    <a:pt x="0" y="97167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57150"/>
              <a:ext cx="2068519" cy="10288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520"/>
                </a:lnSpc>
              </a:pPr>
              <a:r>
                <a:rPr lang="en-US" sz="1800" spc="52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NEEDS</a:t>
              </a:r>
            </a:p>
          </p:txBody>
        </p:sp>
      </p:grpSp>
      <p:sp>
        <p:nvSpPr>
          <p:cNvPr name="TextBox 13" id="13"/>
          <p:cNvSpPr txBox="true"/>
          <p:nvPr/>
        </p:nvSpPr>
        <p:spPr>
          <a:xfrm rot="0">
            <a:off x="13577787" y="993061"/>
            <a:ext cx="1279328" cy="4073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53"/>
              </a:lnSpc>
            </a:pPr>
            <a:r>
              <a:rPr lang="en-US" sz="1967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FEATURES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5333365" y="975134"/>
            <a:ext cx="1196185" cy="4073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53"/>
              </a:lnSpc>
            </a:pPr>
            <a:r>
              <a:rPr lang="en-US" sz="1967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MODULES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2730882" y="3325655"/>
            <a:ext cx="741309" cy="11600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704"/>
              </a:lnSpc>
            </a:pPr>
            <a:r>
              <a:rPr lang="en-US" sz="5503" b="true">
                <a:solidFill>
                  <a:srgbClr val="FFFFFF"/>
                </a:solidFill>
                <a:latin typeface="TT Autonomous Mono Bold"/>
                <a:ea typeface="TT Autonomous Mono Bold"/>
                <a:cs typeface="TT Autonomous Mono Bold"/>
                <a:sym typeface="TT Autonomous Mono Bold"/>
              </a:rPr>
              <a:t>1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2730882" y="5038725"/>
            <a:ext cx="741309" cy="11600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704"/>
              </a:lnSpc>
            </a:pPr>
            <a:r>
              <a:rPr lang="en-US" sz="5503" b="true">
                <a:solidFill>
                  <a:srgbClr val="FFFFFF"/>
                </a:solidFill>
                <a:latin typeface="TT Autonomous Mono Bold"/>
                <a:ea typeface="TT Autonomous Mono Bold"/>
                <a:cs typeface="TT Autonomous Mono Bold"/>
                <a:sym typeface="TT Autonomous Mono Bold"/>
              </a:rPr>
              <a:t>2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2730882" y="6708281"/>
            <a:ext cx="741309" cy="11600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704"/>
              </a:lnSpc>
            </a:pPr>
            <a:r>
              <a:rPr lang="en-US" sz="5503" b="true">
                <a:solidFill>
                  <a:srgbClr val="FFFFFF"/>
                </a:solidFill>
                <a:latin typeface="TT Autonomous Mono Bold"/>
                <a:ea typeface="TT Autonomous Mono Bold"/>
                <a:cs typeface="TT Autonomous Mono Bold"/>
                <a:sym typeface="TT Autonomous Mono Bold"/>
              </a:rPr>
              <a:t>3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-252125" y="3158787"/>
            <a:ext cx="5753672" cy="4854607"/>
            <a:chOff x="0" y="0"/>
            <a:chExt cx="7671562" cy="6472809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7671562" cy="6472809"/>
            </a:xfrm>
            <a:custGeom>
              <a:avLst/>
              <a:gdLst/>
              <a:ahLst/>
              <a:cxnLst/>
              <a:rect r="r" b="b" t="t" l="l"/>
              <a:pathLst>
                <a:path h="6472809" w="7671562">
                  <a:moveTo>
                    <a:pt x="0" y="0"/>
                  </a:moveTo>
                  <a:lnTo>
                    <a:pt x="7671562" y="0"/>
                  </a:lnTo>
                  <a:lnTo>
                    <a:pt x="7671562" y="6472809"/>
                  </a:lnTo>
                  <a:lnTo>
                    <a:pt x="0" y="647280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-65" r="0" b="-65"/>
              </a:stretch>
            </a:blipFill>
          </p:spPr>
        </p:sp>
      </p:grpSp>
      <p:sp>
        <p:nvSpPr>
          <p:cNvPr name="Freeform 20" id="20"/>
          <p:cNvSpPr/>
          <p:nvPr/>
        </p:nvSpPr>
        <p:spPr>
          <a:xfrm flipH="false" flipV="false" rot="0">
            <a:off x="0" y="3092636"/>
            <a:ext cx="5309831" cy="3285815"/>
          </a:xfrm>
          <a:custGeom>
            <a:avLst/>
            <a:gdLst/>
            <a:ahLst/>
            <a:cxnLst/>
            <a:rect r="r" b="b" t="t" l="l"/>
            <a:pathLst>
              <a:path h="3285815" w="5309831">
                <a:moveTo>
                  <a:pt x="0" y="0"/>
                </a:moveTo>
                <a:lnTo>
                  <a:pt x="5309831" y="0"/>
                </a:lnTo>
                <a:lnTo>
                  <a:pt x="5309831" y="3285815"/>
                </a:lnTo>
                <a:lnTo>
                  <a:pt x="0" y="3285815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-46" r="0" b="-46"/>
            </a:stretch>
          </a:blipFill>
        </p:spPr>
      </p:sp>
      <p:sp>
        <p:nvSpPr>
          <p:cNvPr name="TextBox 21" id="21"/>
          <p:cNvSpPr txBox="true"/>
          <p:nvPr/>
        </p:nvSpPr>
        <p:spPr>
          <a:xfrm rot="0">
            <a:off x="511069" y="4353411"/>
            <a:ext cx="4324380" cy="11143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022"/>
              </a:lnSpc>
            </a:pPr>
            <a:r>
              <a:rPr lang="en-US" sz="7497" b="true">
                <a:solidFill>
                  <a:srgbClr val="373737"/>
                </a:solidFill>
                <a:latin typeface="Poppins Bold"/>
                <a:ea typeface="Poppins Bold"/>
                <a:cs typeface="Poppins Bold"/>
                <a:sym typeface="Poppins Bold"/>
              </a:rPr>
              <a:t>Modules</a:t>
            </a:r>
          </a:p>
        </p:txBody>
      </p:sp>
    </p:spTree>
  </p:cSld>
  <p:clrMapOvr>
    <a:masterClrMapping/>
  </p:clrMapOvr>
  <p:transition spd="fast">
    <p:fade/>
  </p:transition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895337" y="-4703033"/>
            <a:ext cx="5423759" cy="6757068"/>
          </a:xfrm>
          <a:custGeom>
            <a:avLst/>
            <a:gdLst/>
            <a:ahLst/>
            <a:cxnLst/>
            <a:rect r="r" b="b" t="t" l="l"/>
            <a:pathLst>
              <a:path h="6757068" w="5423759">
                <a:moveTo>
                  <a:pt x="0" y="0"/>
                </a:moveTo>
                <a:lnTo>
                  <a:pt x="5423759" y="0"/>
                </a:lnTo>
                <a:lnTo>
                  <a:pt x="5423759" y="6757068"/>
                </a:lnTo>
                <a:lnTo>
                  <a:pt x="0" y="675706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8" t="0" r="-8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1054395" y="3618844"/>
            <a:ext cx="8721333" cy="10865276"/>
          </a:xfrm>
          <a:custGeom>
            <a:avLst/>
            <a:gdLst/>
            <a:ahLst/>
            <a:cxnLst/>
            <a:rect r="r" b="b" t="t" l="l"/>
            <a:pathLst>
              <a:path h="10865276" w="8721333">
                <a:moveTo>
                  <a:pt x="0" y="0"/>
                </a:moveTo>
                <a:lnTo>
                  <a:pt x="8721333" y="0"/>
                </a:lnTo>
                <a:lnTo>
                  <a:pt x="8721333" y="10865276"/>
                </a:lnTo>
                <a:lnTo>
                  <a:pt x="0" y="1086527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-7" t="0" r="-7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527497" y="1826502"/>
            <a:ext cx="11907789" cy="1076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022"/>
              </a:lnSpc>
            </a:pPr>
            <a:r>
              <a:rPr lang="en-US" sz="7497" b="true">
                <a:solidFill>
                  <a:srgbClr val="373737"/>
                </a:solidFill>
                <a:latin typeface="Poppins Bold"/>
                <a:ea typeface="Poppins Bold"/>
                <a:cs typeface="Poppins Bold"/>
                <a:sym typeface="Poppins Bold"/>
              </a:rPr>
              <a:t>Technologies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551549" y="2810362"/>
            <a:ext cx="8129541" cy="11143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022"/>
              </a:lnSpc>
            </a:pPr>
            <a:r>
              <a:rPr lang="en-US" sz="7497" b="true">
                <a:solidFill>
                  <a:srgbClr val="373737"/>
                </a:solidFill>
                <a:latin typeface="Poppins Bold"/>
                <a:ea typeface="Poppins Bold"/>
                <a:cs typeface="Poppins Bold"/>
                <a:sym typeface="Poppins Bold"/>
              </a:rPr>
              <a:t>&amp; tools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9625852" y="3318590"/>
            <a:ext cx="8662130" cy="5630990"/>
            <a:chOff x="0" y="0"/>
            <a:chExt cx="11549507" cy="7507986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1549507" cy="7507986"/>
            </a:xfrm>
            <a:custGeom>
              <a:avLst/>
              <a:gdLst/>
              <a:ahLst/>
              <a:cxnLst/>
              <a:rect r="r" b="b" t="t" l="l"/>
              <a:pathLst>
                <a:path h="7507986" w="11549507">
                  <a:moveTo>
                    <a:pt x="0" y="0"/>
                  </a:moveTo>
                  <a:lnTo>
                    <a:pt x="11549507" y="0"/>
                  </a:lnTo>
                  <a:lnTo>
                    <a:pt x="11549507" y="7507986"/>
                  </a:lnTo>
                  <a:lnTo>
                    <a:pt x="0" y="750798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-6949" t="0" r="-6949" b="0"/>
              </a:stretch>
            </a:blipFill>
          </p:spPr>
        </p:sp>
      </p:grpSp>
      <p:sp>
        <p:nvSpPr>
          <p:cNvPr name="Freeform 8" id="8"/>
          <p:cNvSpPr/>
          <p:nvPr/>
        </p:nvSpPr>
        <p:spPr>
          <a:xfrm flipH="false" flipV="false" rot="0">
            <a:off x="1306667" y="4485895"/>
            <a:ext cx="7408236" cy="5076573"/>
          </a:xfrm>
          <a:custGeom>
            <a:avLst/>
            <a:gdLst/>
            <a:ahLst/>
            <a:cxnLst/>
            <a:rect r="r" b="b" t="t" l="l"/>
            <a:pathLst>
              <a:path h="5076573" w="7408236">
                <a:moveTo>
                  <a:pt x="0" y="0"/>
                </a:moveTo>
                <a:lnTo>
                  <a:pt x="7408236" y="0"/>
                </a:lnTo>
                <a:lnTo>
                  <a:pt x="7408236" y="5076573"/>
                </a:lnTo>
                <a:lnTo>
                  <a:pt x="0" y="5076573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-5" r="0" b="-5"/>
            </a:stretch>
          </a:blipFill>
          <a:ln w="47625" cap="sq">
            <a:solidFill>
              <a:srgbClr val="10B981"/>
            </a:solidFill>
            <a:prstDash val="solid"/>
            <a:miter/>
          </a:ln>
        </p:spPr>
      </p:sp>
      <p:sp>
        <p:nvSpPr>
          <p:cNvPr name="TextBox 9" id="9"/>
          <p:cNvSpPr txBox="true"/>
          <p:nvPr/>
        </p:nvSpPr>
        <p:spPr>
          <a:xfrm rot="0">
            <a:off x="1306667" y="4573399"/>
            <a:ext cx="7686203" cy="45491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18947" indent="-359473" lvl="1">
              <a:lnSpc>
                <a:spcPts val="7326"/>
              </a:lnSpc>
              <a:buFont typeface="Arial"/>
              <a:buChar char="•"/>
            </a:pPr>
            <a:r>
              <a:rPr lang="en-US" sz="3329" spc="96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FRONT-END: HTML, CSS, JS,  React.js</a:t>
            </a:r>
          </a:p>
          <a:p>
            <a:pPr algn="l" marL="718947" indent="-359473" lvl="1">
              <a:lnSpc>
                <a:spcPts val="7326"/>
              </a:lnSpc>
              <a:buFont typeface="Arial"/>
              <a:buChar char="•"/>
            </a:pPr>
            <a:r>
              <a:rPr lang="en-US" sz="3329" spc="96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BACK-END: NODE.js (Env) + EXPRESS.js </a:t>
            </a:r>
          </a:p>
          <a:p>
            <a:pPr algn="l" marL="718947" indent="-359473" lvl="1">
              <a:lnSpc>
                <a:spcPts val="7326"/>
              </a:lnSpc>
              <a:buFont typeface="Arial"/>
              <a:buChar char="•"/>
            </a:pPr>
            <a:r>
              <a:rPr lang="en-US" sz="3329" spc="96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DATABASE: PostgreSQL 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4695353" y="970851"/>
            <a:ext cx="3119487" cy="4073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53"/>
              </a:lnSpc>
            </a:pPr>
            <a:r>
              <a:rPr lang="en-US" sz="1967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ROLE &amp; RESPONSIBILITY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12650786" y="810145"/>
            <a:ext cx="1947997" cy="728753"/>
            <a:chOff x="0" y="0"/>
            <a:chExt cx="2597329" cy="97167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597329" cy="971670"/>
            </a:xfrm>
            <a:custGeom>
              <a:avLst/>
              <a:gdLst/>
              <a:ahLst/>
              <a:cxnLst/>
              <a:rect r="r" b="b" t="t" l="l"/>
              <a:pathLst>
                <a:path h="971670" w="2597329">
                  <a:moveTo>
                    <a:pt x="0" y="0"/>
                  </a:moveTo>
                  <a:lnTo>
                    <a:pt x="2597329" y="0"/>
                  </a:lnTo>
                  <a:lnTo>
                    <a:pt x="2597329" y="971670"/>
                  </a:lnTo>
                  <a:lnTo>
                    <a:pt x="0" y="97167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57150"/>
              <a:ext cx="2597329" cy="10288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520"/>
                </a:lnSpc>
              </a:pPr>
              <a:r>
                <a:rPr lang="en-US" sz="1800" spc="52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FUTURE-SCOPE</a:t>
              </a:r>
            </a:p>
          </p:txBody>
        </p:sp>
      </p:grpSp>
      <p:sp>
        <p:nvSpPr>
          <p:cNvPr name="TextBox 14" id="14"/>
          <p:cNvSpPr txBox="true"/>
          <p:nvPr/>
        </p:nvSpPr>
        <p:spPr>
          <a:xfrm rot="0">
            <a:off x="10462567" y="970851"/>
            <a:ext cx="1939249" cy="4073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53"/>
              </a:lnSpc>
            </a:pPr>
            <a:r>
              <a:rPr lang="en-US" sz="1967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TECHNOLOGY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10502756" y="915013"/>
            <a:ext cx="1899060" cy="519017"/>
            <a:chOff x="0" y="0"/>
            <a:chExt cx="2532080" cy="692023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2532081" cy="692023"/>
            </a:xfrm>
            <a:custGeom>
              <a:avLst/>
              <a:gdLst/>
              <a:ahLst/>
              <a:cxnLst/>
              <a:rect r="r" b="b" t="t" l="l"/>
              <a:pathLst>
                <a:path h="692023" w="2532081">
                  <a:moveTo>
                    <a:pt x="237849" y="0"/>
                  </a:moveTo>
                  <a:lnTo>
                    <a:pt x="2294232" y="0"/>
                  </a:lnTo>
                  <a:cubicBezTo>
                    <a:pt x="2425593" y="0"/>
                    <a:pt x="2532081" y="86995"/>
                    <a:pt x="2532081" y="194310"/>
                  </a:cubicBezTo>
                  <a:lnTo>
                    <a:pt x="2532081" y="497713"/>
                  </a:lnTo>
                  <a:cubicBezTo>
                    <a:pt x="2532081" y="605028"/>
                    <a:pt x="2425593" y="692023"/>
                    <a:pt x="2294232" y="692023"/>
                  </a:cubicBezTo>
                  <a:lnTo>
                    <a:pt x="237849" y="692023"/>
                  </a:lnTo>
                  <a:cubicBezTo>
                    <a:pt x="106488" y="692023"/>
                    <a:pt x="0" y="605028"/>
                    <a:pt x="0" y="497713"/>
                  </a:cubicBezTo>
                  <a:lnTo>
                    <a:pt x="0" y="194310"/>
                  </a:lnTo>
                  <a:cubicBezTo>
                    <a:pt x="0" y="86995"/>
                    <a:pt x="106488" y="0"/>
                    <a:pt x="237849" y="0"/>
                  </a:cubicBezTo>
                  <a:close/>
                </a:path>
              </a:pathLst>
            </a:custGeom>
            <a:solidFill>
              <a:srgbClr val="8B3DFF">
                <a:alpha val="19608"/>
              </a:srgbClr>
            </a:solidFill>
          </p:spPr>
        </p:sp>
      </p:grpSp>
    </p:spTree>
  </p:cSld>
  <p:clrMapOvr>
    <a:masterClrMapping/>
  </p:clrMapOvr>
  <p:transition spd="fast">
    <p:fade/>
  </p:transition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1054395" y="3618844"/>
            <a:ext cx="8721333" cy="10865276"/>
          </a:xfrm>
          <a:custGeom>
            <a:avLst/>
            <a:gdLst/>
            <a:ahLst/>
            <a:cxnLst/>
            <a:rect r="r" b="b" t="t" l="l"/>
            <a:pathLst>
              <a:path h="10865276" w="8721333">
                <a:moveTo>
                  <a:pt x="0" y="0"/>
                </a:moveTo>
                <a:lnTo>
                  <a:pt x="8721333" y="0"/>
                </a:lnTo>
                <a:lnTo>
                  <a:pt x="8721333" y="10865276"/>
                </a:lnTo>
                <a:lnTo>
                  <a:pt x="0" y="1086527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7" t="0" r="-7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9625852" y="3318590"/>
            <a:ext cx="8662130" cy="5630990"/>
            <a:chOff x="0" y="0"/>
            <a:chExt cx="11549507" cy="7507986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1549507" cy="7507986"/>
            </a:xfrm>
            <a:custGeom>
              <a:avLst/>
              <a:gdLst/>
              <a:ahLst/>
              <a:cxnLst/>
              <a:rect r="r" b="b" t="t" l="l"/>
              <a:pathLst>
                <a:path h="7507986" w="11549507">
                  <a:moveTo>
                    <a:pt x="0" y="0"/>
                  </a:moveTo>
                  <a:lnTo>
                    <a:pt x="11549507" y="0"/>
                  </a:lnTo>
                  <a:lnTo>
                    <a:pt x="11549507" y="7507986"/>
                  </a:lnTo>
                  <a:lnTo>
                    <a:pt x="0" y="750798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6949" t="0" r="-6949" b="0"/>
              </a:stretch>
            </a:blipFill>
          </p:spPr>
        </p:sp>
      </p:grpSp>
      <p:sp>
        <p:nvSpPr>
          <p:cNvPr name="Freeform 5" id="5"/>
          <p:cNvSpPr/>
          <p:nvPr/>
        </p:nvSpPr>
        <p:spPr>
          <a:xfrm flipH="false" flipV="false" rot="0">
            <a:off x="1306667" y="4485895"/>
            <a:ext cx="7408236" cy="5076573"/>
          </a:xfrm>
          <a:custGeom>
            <a:avLst/>
            <a:gdLst/>
            <a:ahLst/>
            <a:cxnLst/>
            <a:rect r="r" b="b" t="t" l="l"/>
            <a:pathLst>
              <a:path h="5076573" w="7408236">
                <a:moveTo>
                  <a:pt x="0" y="0"/>
                </a:moveTo>
                <a:lnTo>
                  <a:pt x="7408236" y="0"/>
                </a:lnTo>
                <a:lnTo>
                  <a:pt x="7408236" y="5076573"/>
                </a:lnTo>
                <a:lnTo>
                  <a:pt x="0" y="5076573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-5" r="0" b="-5"/>
            </a:stretch>
          </a:blipFill>
          <a:ln w="47625" cap="sq">
            <a:solidFill>
              <a:srgbClr val="10B981"/>
            </a:solidFill>
            <a:prstDash val="solid"/>
            <a:miter/>
          </a:ln>
        </p:spPr>
      </p:sp>
      <p:sp>
        <p:nvSpPr>
          <p:cNvPr name="TextBox 6" id="6"/>
          <p:cNvSpPr txBox="true"/>
          <p:nvPr/>
        </p:nvSpPr>
        <p:spPr>
          <a:xfrm rot="0">
            <a:off x="1217024" y="5035235"/>
            <a:ext cx="7497879" cy="36254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18515" indent="-359258" lvl="1">
              <a:lnSpc>
                <a:spcPts val="7321"/>
              </a:lnSpc>
              <a:buFont typeface="Arial"/>
              <a:buChar char="•"/>
            </a:pPr>
            <a:r>
              <a:rPr lang="en-US" sz="3328" spc="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VS.CODE: for development</a:t>
            </a:r>
          </a:p>
          <a:p>
            <a:pPr algn="l" marL="718515" indent="-359258" lvl="1">
              <a:lnSpc>
                <a:spcPts val="7321"/>
              </a:lnSpc>
              <a:buFont typeface="Arial"/>
              <a:buChar char="•"/>
            </a:pPr>
            <a:r>
              <a:rPr lang="en-US" sz="3328" spc="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GIT for version control</a:t>
            </a:r>
          </a:p>
          <a:p>
            <a:pPr algn="l" marL="718515" indent="-359258" lvl="1">
              <a:lnSpc>
                <a:spcPts val="7321"/>
              </a:lnSpc>
              <a:buFont typeface="Arial"/>
              <a:buChar char="•"/>
            </a:pPr>
            <a:r>
              <a:rPr lang="en-US" sz="3328" spc="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GITHUB for team collaboration</a:t>
            </a:r>
          </a:p>
          <a:p>
            <a:pPr algn="l" marL="718515" indent="-359258" lvl="1">
              <a:lnSpc>
                <a:spcPts val="7321"/>
              </a:lnSpc>
              <a:buFont typeface="Arial"/>
              <a:buChar char="•"/>
            </a:pPr>
            <a:r>
              <a:rPr lang="en-US" sz="3328" spc="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SUPABASE for database 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4695353" y="970851"/>
            <a:ext cx="3119487" cy="4073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53"/>
              </a:lnSpc>
            </a:pPr>
            <a:r>
              <a:rPr lang="en-US" sz="1967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ROLE &amp; RESPONSIBILITY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12650786" y="796869"/>
            <a:ext cx="1947997" cy="728753"/>
            <a:chOff x="0" y="0"/>
            <a:chExt cx="2597329" cy="97167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597329" cy="971670"/>
            </a:xfrm>
            <a:custGeom>
              <a:avLst/>
              <a:gdLst/>
              <a:ahLst/>
              <a:cxnLst/>
              <a:rect r="r" b="b" t="t" l="l"/>
              <a:pathLst>
                <a:path h="971670" w="2597329">
                  <a:moveTo>
                    <a:pt x="0" y="0"/>
                  </a:moveTo>
                  <a:lnTo>
                    <a:pt x="2597329" y="0"/>
                  </a:lnTo>
                  <a:lnTo>
                    <a:pt x="2597329" y="971670"/>
                  </a:lnTo>
                  <a:lnTo>
                    <a:pt x="0" y="97167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57150"/>
              <a:ext cx="2597329" cy="10288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520"/>
                </a:lnSpc>
              </a:pPr>
              <a:r>
                <a:rPr lang="en-US" sz="1800" spc="52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FUTURE-SCOPE</a:t>
              </a:r>
            </a:p>
          </p:txBody>
        </p:sp>
      </p:grpSp>
      <p:sp>
        <p:nvSpPr>
          <p:cNvPr name="TextBox 11" id="11"/>
          <p:cNvSpPr txBox="true"/>
          <p:nvPr/>
        </p:nvSpPr>
        <p:spPr>
          <a:xfrm rot="0">
            <a:off x="10462567" y="970851"/>
            <a:ext cx="1939249" cy="4073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53"/>
              </a:lnSpc>
            </a:pPr>
            <a:r>
              <a:rPr lang="en-US" sz="1967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TECHNOLOGY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527497" y="1826502"/>
            <a:ext cx="11907789" cy="1076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022"/>
              </a:lnSpc>
            </a:pPr>
            <a:r>
              <a:rPr lang="en-US" sz="7497" b="true">
                <a:solidFill>
                  <a:srgbClr val="373737"/>
                </a:solidFill>
                <a:latin typeface="Poppins Bold"/>
                <a:ea typeface="Poppins Bold"/>
                <a:cs typeface="Poppins Bold"/>
                <a:sym typeface="Poppins Bold"/>
              </a:rPr>
              <a:t>Technologies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551549" y="2810362"/>
            <a:ext cx="8129541" cy="11143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022"/>
              </a:lnSpc>
            </a:pPr>
            <a:r>
              <a:rPr lang="en-US" sz="7497" b="true">
                <a:solidFill>
                  <a:srgbClr val="373737"/>
                </a:solidFill>
                <a:latin typeface="Poppins Bold"/>
                <a:ea typeface="Poppins Bold"/>
                <a:cs typeface="Poppins Bold"/>
                <a:sym typeface="Poppins Bold"/>
              </a:rPr>
              <a:t>&amp; tools</a:t>
            </a:r>
          </a:p>
        </p:txBody>
      </p:sp>
      <p:sp>
        <p:nvSpPr>
          <p:cNvPr name="Freeform 14" id="14"/>
          <p:cNvSpPr/>
          <p:nvPr/>
        </p:nvSpPr>
        <p:spPr>
          <a:xfrm flipH="false" flipV="false" rot="0">
            <a:off x="-895337" y="-4703033"/>
            <a:ext cx="5423759" cy="6757068"/>
          </a:xfrm>
          <a:custGeom>
            <a:avLst/>
            <a:gdLst/>
            <a:ahLst/>
            <a:cxnLst/>
            <a:rect r="r" b="b" t="t" l="l"/>
            <a:pathLst>
              <a:path h="6757068" w="5423759">
                <a:moveTo>
                  <a:pt x="0" y="0"/>
                </a:moveTo>
                <a:lnTo>
                  <a:pt x="5423759" y="0"/>
                </a:lnTo>
                <a:lnTo>
                  <a:pt x="5423759" y="6757068"/>
                </a:lnTo>
                <a:lnTo>
                  <a:pt x="0" y="6757068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-8" t="0" r="-8" b="0"/>
            </a:stretch>
          </a:blipFill>
        </p:spPr>
      </p:sp>
      <p:grpSp>
        <p:nvGrpSpPr>
          <p:cNvPr name="Group 15" id="15"/>
          <p:cNvGrpSpPr/>
          <p:nvPr/>
        </p:nvGrpSpPr>
        <p:grpSpPr>
          <a:xfrm rot="0">
            <a:off x="10502756" y="915013"/>
            <a:ext cx="1899060" cy="519017"/>
            <a:chOff x="0" y="0"/>
            <a:chExt cx="2532080" cy="692023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2532081" cy="692023"/>
            </a:xfrm>
            <a:custGeom>
              <a:avLst/>
              <a:gdLst/>
              <a:ahLst/>
              <a:cxnLst/>
              <a:rect r="r" b="b" t="t" l="l"/>
              <a:pathLst>
                <a:path h="692023" w="2532081">
                  <a:moveTo>
                    <a:pt x="237849" y="0"/>
                  </a:moveTo>
                  <a:lnTo>
                    <a:pt x="2294232" y="0"/>
                  </a:lnTo>
                  <a:cubicBezTo>
                    <a:pt x="2425593" y="0"/>
                    <a:pt x="2532081" y="86995"/>
                    <a:pt x="2532081" y="194310"/>
                  </a:cubicBezTo>
                  <a:lnTo>
                    <a:pt x="2532081" y="497713"/>
                  </a:lnTo>
                  <a:cubicBezTo>
                    <a:pt x="2532081" y="605028"/>
                    <a:pt x="2425593" y="692023"/>
                    <a:pt x="2294232" y="692023"/>
                  </a:cubicBezTo>
                  <a:lnTo>
                    <a:pt x="237849" y="692023"/>
                  </a:lnTo>
                  <a:cubicBezTo>
                    <a:pt x="106488" y="692023"/>
                    <a:pt x="0" y="605028"/>
                    <a:pt x="0" y="497713"/>
                  </a:cubicBezTo>
                  <a:lnTo>
                    <a:pt x="0" y="194310"/>
                  </a:lnTo>
                  <a:cubicBezTo>
                    <a:pt x="0" y="86995"/>
                    <a:pt x="106488" y="0"/>
                    <a:pt x="237849" y="0"/>
                  </a:cubicBezTo>
                  <a:close/>
                </a:path>
              </a:pathLst>
            </a:custGeom>
            <a:solidFill>
              <a:srgbClr val="8B3DFF">
                <a:alpha val="19608"/>
              </a:srgbClr>
            </a:solidFill>
          </p:spPr>
        </p:sp>
      </p:grpSp>
    </p:spTree>
  </p:cSld>
  <p:clrMapOvr>
    <a:masterClrMapping/>
  </p:clrMapOvr>
  <p:transition spd="fast">
    <p:fade/>
  </p:transition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462567" y="3716860"/>
            <a:ext cx="9096810" cy="11333055"/>
          </a:xfrm>
          <a:custGeom>
            <a:avLst/>
            <a:gdLst/>
            <a:ahLst/>
            <a:cxnLst/>
            <a:rect r="r" b="b" t="t" l="l"/>
            <a:pathLst>
              <a:path h="11333055" w="9096810">
                <a:moveTo>
                  <a:pt x="0" y="0"/>
                </a:moveTo>
                <a:lnTo>
                  <a:pt x="9096810" y="0"/>
                </a:lnTo>
                <a:lnTo>
                  <a:pt x="9096810" y="11333055"/>
                </a:lnTo>
                <a:lnTo>
                  <a:pt x="0" y="1133305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7" t="0" r="-7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9821164" y="3209882"/>
            <a:ext cx="7777625" cy="6600238"/>
            <a:chOff x="0" y="0"/>
            <a:chExt cx="9531702" cy="808878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9531702" cy="8088780"/>
            </a:xfrm>
            <a:custGeom>
              <a:avLst/>
              <a:gdLst/>
              <a:ahLst/>
              <a:cxnLst/>
              <a:rect r="r" b="b" t="t" l="l"/>
              <a:pathLst>
                <a:path h="8088780" w="9531702">
                  <a:moveTo>
                    <a:pt x="106049" y="0"/>
                  </a:moveTo>
                  <a:lnTo>
                    <a:pt x="9425653" y="0"/>
                  </a:lnTo>
                  <a:cubicBezTo>
                    <a:pt x="9453821" y="0"/>
                    <a:pt x="9480792" y="22055"/>
                    <a:pt x="9500661" y="61282"/>
                  </a:cubicBezTo>
                  <a:cubicBezTo>
                    <a:pt x="9520531" y="100509"/>
                    <a:pt x="9531702" y="153757"/>
                    <a:pt x="9531702" y="209368"/>
                  </a:cubicBezTo>
                  <a:lnTo>
                    <a:pt x="9531702" y="7879412"/>
                  </a:lnTo>
                  <a:cubicBezTo>
                    <a:pt x="9531702" y="7995045"/>
                    <a:pt x="9484223" y="8088780"/>
                    <a:pt x="9425653" y="8088780"/>
                  </a:cubicBezTo>
                  <a:lnTo>
                    <a:pt x="106049" y="8088780"/>
                  </a:lnTo>
                  <a:cubicBezTo>
                    <a:pt x="77881" y="8088780"/>
                    <a:pt x="50910" y="8066725"/>
                    <a:pt x="31041" y="8027498"/>
                  </a:cubicBezTo>
                  <a:cubicBezTo>
                    <a:pt x="11171" y="7988271"/>
                    <a:pt x="0" y="7935023"/>
                    <a:pt x="0" y="7879412"/>
                  </a:cubicBezTo>
                  <a:lnTo>
                    <a:pt x="0" y="209368"/>
                  </a:lnTo>
                  <a:cubicBezTo>
                    <a:pt x="0" y="153757"/>
                    <a:pt x="11171" y="100509"/>
                    <a:pt x="31041" y="61282"/>
                  </a:cubicBezTo>
                  <a:cubicBezTo>
                    <a:pt x="50910" y="22055"/>
                    <a:pt x="77961" y="0"/>
                    <a:pt x="106049" y="0"/>
                  </a:cubicBezTo>
                  <a:close/>
                </a:path>
              </a:pathLst>
            </a:custGeom>
            <a:solidFill>
              <a:srgbClr val="FFFFFF">
                <a:alpha val="89804"/>
              </a:srgbClr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12574586" y="972172"/>
            <a:ext cx="1947997" cy="442798"/>
            <a:chOff x="0" y="0"/>
            <a:chExt cx="2597329" cy="590398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597329" cy="590398"/>
            </a:xfrm>
            <a:custGeom>
              <a:avLst/>
              <a:gdLst/>
              <a:ahLst/>
              <a:cxnLst/>
              <a:rect r="r" b="b" t="t" l="l"/>
              <a:pathLst>
                <a:path h="590398" w="2597329">
                  <a:moveTo>
                    <a:pt x="0" y="0"/>
                  </a:moveTo>
                  <a:lnTo>
                    <a:pt x="2597329" y="0"/>
                  </a:lnTo>
                  <a:lnTo>
                    <a:pt x="2597329" y="590398"/>
                  </a:lnTo>
                  <a:lnTo>
                    <a:pt x="0" y="59039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57150"/>
              <a:ext cx="2597329" cy="64754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520"/>
                </a:lnSpc>
              </a:pPr>
              <a:r>
                <a:rPr lang="en-US" sz="1800" spc="52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FUTURE-SCOPE</a:t>
              </a: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-895337" y="-4703033"/>
            <a:ext cx="5423759" cy="6757068"/>
          </a:xfrm>
          <a:custGeom>
            <a:avLst/>
            <a:gdLst/>
            <a:ahLst/>
            <a:cxnLst/>
            <a:rect r="r" b="b" t="t" l="l"/>
            <a:pathLst>
              <a:path h="6757068" w="5423759">
                <a:moveTo>
                  <a:pt x="0" y="0"/>
                </a:moveTo>
                <a:lnTo>
                  <a:pt x="5423759" y="0"/>
                </a:lnTo>
                <a:lnTo>
                  <a:pt x="5423759" y="6757068"/>
                </a:lnTo>
                <a:lnTo>
                  <a:pt x="0" y="675706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-8" t="0" r="-8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028700" y="4050632"/>
            <a:ext cx="7613633" cy="5332755"/>
          </a:xfrm>
          <a:custGeom>
            <a:avLst/>
            <a:gdLst/>
            <a:ahLst/>
            <a:cxnLst/>
            <a:rect r="r" b="b" t="t" l="l"/>
            <a:pathLst>
              <a:path h="5332755" w="7613633">
                <a:moveTo>
                  <a:pt x="0" y="0"/>
                </a:moveTo>
                <a:lnTo>
                  <a:pt x="7613633" y="0"/>
                </a:lnTo>
                <a:lnTo>
                  <a:pt x="7613633" y="5332756"/>
                </a:lnTo>
                <a:lnTo>
                  <a:pt x="0" y="5332756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9215324" y="3150647"/>
            <a:ext cx="6573396" cy="10262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519"/>
              </a:lnSpc>
            </a:pPr>
            <a:r>
              <a:rPr lang="en-US" sz="8000" b="true">
                <a:solidFill>
                  <a:srgbClr val="2B2A2A"/>
                </a:solidFill>
                <a:latin typeface="TT Norms Bold"/>
                <a:ea typeface="TT Norms Bold"/>
                <a:cs typeface="TT Norms Bold"/>
                <a:sym typeface="TT Norms Bold"/>
              </a:rPr>
              <a:t>Future Scope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9980474" y="4708997"/>
            <a:ext cx="7136222" cy="45493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43"/>
              </a:lnSpc>
            </a:pPr>
            <a:r>
              <a:rPr lang="en-US" sz="2595" spc="12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1. AI-Powered Smart Recommendations </a:t>
            </a:r>
          </a:p>
          <a:p>
            <a:pPr algn="l">
              <a:lnSpc>
                <a:spcPts val="5243"/>
              </a:lnSpc>
            </a:pPr>
            <a:r>
              <a:rPr lang="en-US" sz="2595" spc="12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2. Dynamic Pricing Model</a:t>
            </a:r>
          </a:p>
          <a:p>
            <a:pPr algn="l">
              <a:lnSpc>
                <a:spcPts val="5243"/>
              </a:lnSpc>
            </a:pPr>
            <a:r>
              <a:rPr lang="en-US" sz="2595" spc="12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3. In-App Chat &amp; Team Coordination</a:t>
            </a:r>
          </a:p>
          <a:p>
            <a:pPr algn="l">
              <a:lnSpc>
                <a:spcPts val="5243"/>
              </a:lnSpc>
            </a:pPr>
            <a:r>
              <a:rPr lang="en-US" sz="2595" spc="12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4. Live Streaming &amp; Match Highlights</a:t>
            </a:r>
          </a:p>
          <a:p>
            <a:pPr algn="l">
              <a:lnSpc>
                <a:spcPts val="5243"/>
              </a:lnSpc>
            </a:pPr>
            <a:r>
              <a:rPr lang="en-US" sz="2595" spc="12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5. Hardware Integration for Smart Turfs</a:t>
            </a:r>
          </a:p>
          <a:p>
            <a:pPr algn="l">
              <a:lnSpc>
                <a:spcPts val="5243"/>
              </a:lnSpc>
            </a:pPr>
            <a:r>
              <a:rPr lang="en-US" sz="2595" spc="12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6. Training &amp; Coaching Marketplace</a:t>
            </a:r>
          </a:p>
          <a:p>
            <a:pPr algn="l">
              <a:lnSpc>
                <a:spcPts val="5243"/>
              </a:lnSpc>
            </a:pPr>
            <a:r>
              <a:rPr lang="en-US" sz="2595" spc="12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7. Nation-Wide Expansion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4695353" y="970851"/>
            <a:ext cx="3119487" cy="4073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53"/>
              </a:lnSpc>
            </a:pPr>
            <a:r>
              <a:rPr lang="en-US" sz="1967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ROLE &amp; RESPONSIBILITY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0462567" y="970851"/>
            <a:ext cx="1939249" cy="4073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53"/>
              </a:lnSpc>
            </a:pPr>
            <a:r>
              <a:rPr lang="en-US" sz="1967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TECHNOLOGY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12502022" y="934063"/>
            <a:ext cx="2096299" cy="519017"/>
            <a:chOff x="0" y="0"/>
            <a:chExt cx="2795065" cy="692023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795065" cy="692023"/>
            </a:xfrm>
            <a:custGeom>
              <a:avLst/>
              <a:gdLst/>
              <a:ahLst/>
              <a:cxnLst/>
              <a:rect r="r" b="b" t="t" l="l"/>
              <a:pathLst>
                <a:path h="692023" w="2795065">
                  <a:moveTo>
                    <a:pt x="262552" y="0"/>
                  </a:moveTo>
                  <a:lnTo>
                    <a:pt x="2532513" y="0"/>
                  </a:lnTo>
                  <a:cubicBezTo>
                    <a:pt x="2677518" y="0"/>
                    <a:pt x="2795065" y="86995"/>
                    <a:pt x="2795065" y="194310"/>
                  </a:cubicBezTo>
                  <a:lnTo>
                    <a:pt x="2795065" y="497713"/>
                  </a:lnTo>
                  <a:cubicBezTo>
                    <a:pt x="2795065" y="605028"/>
                    <a:pt x="2677518" y="692023"/>
                    <a:pt x="2532513" y="692023"/>
                  </a:cubicBezTo>
                  <a:lnTo>
                    <a:pt x="262552" y="692023"/>
                  </a:lnTo>
                  <a:cubicBezTo>
                    <a:pt x="117548" y="692023"/>
                    <a:pt x="0" y="605028"/>
                    <a:pt x="0" y="497713"/>
                  </a:cubicBezTo>
                  <a:lnTo>
                    <a:pt x="0" y="194310"/>
                  </a:lnTo>
                  <a:cubicBezTo>
                    <a:pt x="0" y="86995"/>
                    <a:pt x="117548" y="0"/>
                    <a:pt x="262552" y="0"/>
                  </a:cubicBezTo>
                  <a:close/>
                </a:path>
              </a:pathLst>
            </a:custGeom>
            <a:solidFill>
              <a:srgbClr val="8B3DFF">
                <a:alpha val="19608"/>
              </a:srgbClr>
            </a:solidFill>
          </p:spPr>
        </p:sp>
      </p:grpSp>
    </p:spTree>
  </p:cSld>
  <p:clrMapOvr>
    <a:masterClrMapping/>
  </p:clrMapOvr>
  <p:transition spd="fast">
    <p:fade/>
  </p:transition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3927333" y="5746532"/>
            <a:ext cx="8721333" cy="10865276"/>
          </a:xfrm>
          <a:custGeom>
            <a:avLst/>
            <a:gdLst/>
            <a:ahLst/>
            <a:cxnLst/>
            <a:rect r="r" b="b" t="t" l="l"/>
            <a:pathLst>
              <a:path h="10865276" w="8721333">
                <a:moveTo>
                  <a:pt x="0" y="0"/>
                </a:moveTo>
                <a:lnTo>
                  <a:pt x="8721333" y="0"/>
                </a:lnTo>
                <a:lnTo>
                  <a:pt x="8721333" y="10865276"/>
                </a:lnTo>
                <a:lnTo>
                  <a:pt x="0" y="1086527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7" t="0" r="-7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8797766" y="8687976"/>
            <a:ext cx="7112984" cy="1053180"/>
            <a:chOff x="0" y="0"/>
            <a:chExt cx="9483979" cy="1404239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9483979" cy="1404239"/>
            </a:xfrm>
            <a:custGeom>
              <a:avLst/>
              <a:gdLst/>
              <a:ahLst/>
              <a:cxnLst/>
              <a:rect r="r" b="b" t="t" l="l"/>
              <a:pathLst>
                <a:path h="1404239" w="9483979">
                  <a:moveTo>
                    <a:pt x="170815" y="0"/>
                  </a:moveTo>
                  <a:lnTo>
                    <a:pt x="9313164" y="0"/>
                  </a:lnTo>
                  <a:cubicBezTo>
                    <a:pt x="9358503" y="0"/>
                    <a:pt x="9401937" y="18034"/>
                    <a:pt x="9433941" y="50038"/>
                  </a:cubicBezTo>
                  <a:cubicBezTo>
                    <a:pt x="9465945" y="82042"/>
                    <a:pt x="9483979" y="125476"/>
                    <a:pt x="9483979" y="170815"/>
                  </a:cubicBezTo>
                  <a:lnTo>
                    <a:pt x="9483979" y="1233424"/>
                  </a:lnTo>
                  <a:cubicBezTo>
                    <a:pt x="9483979" y="1278763"/>
                    <a:pt x="9465945" y="1322197"/>
                    <a:pt x="9433941" y="1354201"/>
                  </a:cubicBezTo>
                  <a:cubicBezTo>
                    <a:pt x="9401937" y="1386205"/>
                    <a:pt x="9358503" y="1404239"/>
                    <a:pt x="9313164" y="1404239"/>
                  </a:cubicBezTo>
                  <a:lnTo>
                    <a:pt x="170815" y="1404239"/>
                  </a:lnTo>
                  <a:cubicBezTo>
                    <a:pt x="125476" y="1404239"/>
                    <a:pt x="82042" y="1386205"/>
                    <a:pt x="50038" y="1354201"/>
                  </a:cubicBezTo>
                  <a:cubicBezTo>
                    <a:pt x="18034" y="1322197"/>
                    <a:pt x="0" y="1278636"/>
                    <a:pt x="0" y="1233424"/>
                  </a:cubicBezTo>
                  <a:lnTo>
                    <a:pt x="0" y="170815"/>
                  </a:lnTo>
                  <a:cubicBezTo>
                    <a:pt x="0" y="125476"/>
                    <a:pt x="18034" y="82042"/>
                    <a:pt x="50038" y="50038"/>
                  </a:cubicBezTo>
                  <a:cubicBezTo>
                    <a:pt x="82042" y="18034"/>
                    <a:pt x="125476" y="0"/>
                    <a:pt x="170815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Freeform 5" id="5"/>
          <p:cNvSpPr/>
          <p:nvPr/>
        </p:nvSpPr>
        <p:spPr>
          <a:xfrm flipH="false" flipV="false" rot="0">
            <a:off x="-1557833" y="-3378534"/>
            <a:ext cx="5423759" cy="6757068"/>
          </a:xfrm>
          <a:custGeom>
            <a:avLst/>
            <a:gdLst/>
            <a:ahLst/>
            <a:cxnLst/>
            <a:rect r="r" b="b" t="t" l="l"/>
            <a:pathLst>
              <a:path h="6757068" w="5423759">
                <a:moveTo>
                  <a:pt x="0" y="0"/>
                </a:moveTo>
                <a:lnTo>
                  <a:pt x="5423759" y="0"/>
                </a:lnTo>
                <a:lnTo>
                  <a:pt x="5423759" y="6757068"/>
                </a:lnTo>
                <a:lnTo>
                  <a:pt x="0" y="675706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-8" t="0" r="-8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4695353" y="970851"/>
            <a:ext cx="2780479" cy="3501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53"/>
              </a:lnSpc>
            </a:pPr>
            <a:r>
              <a:rPr lang="en-US" sz="1967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ROLE &amp; RESPONSIBILITY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12421526" y="797680"/>
            <a:ext cx="1947997" cy="728753"/>
            <a:chOff x="0" y="0"/>
            <a:chExt cx="2597329" cy="97167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597329" cy="971670"/>
            </a:xfrm>
            <a:custGeom>
              <a:avLst/>
              <a:gdLst/>
              <a:ahLst/>
              <a:cxnLst/>
              <a:rect r="r" b="b" t="t" l="l"/>
              <a:pathLst>
                <a:path h="971670" w="2597329">
                  <a:moveTo>
                    <a:pt x="0" y="0"/>
                  </a:moveTo>
                  <a:lnTo>
                    <a:pt x="2597329" y="0"/>
                  </a:lnTo>
                  <a:lnTo>
                    <a:pt x="2597329" y="971670"/>
                  </a:lnTo>
                  <a:lnTo>
                    <a:pt x="0" y="97167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57150"/>
              <a:ext cx="2597329" cy="10288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520"/>
                </a:lnSpc>
              </a:pPr>
              <a:r>
                <a:rPr lang="en-US" sz="1800" spc="52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FUTURE-SCOPE</a:t>
              </a:r>
            </a:p>
          </p:txBody>
        </p:sp>
      </p:grpSp>
      <p:sp>
        <p:nvSpPr>
          <p:cNvPr name="TextBox 10" id="10"/>
          <p:cNvSpPr txBox="true"/>
          <p:nvPr/>
        </p:nvSpPr>
        <p:spPr>
          <a:xfrm rot="0">
            <a:off x="10462567" y="970851"/>
            <a:ext cx="1939249" cy="4073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53"/>
              </a:lnSpc>
            </a:pPr>
            <a:r>
              <a:rPr lang="en-US" sz="1967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TECHNOLOGY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332089" y="1526433"/>
            <a:ext cx="7817739" cy="8440198"/>
            <a:chOff x="0" y="0"/>
            <a:chExt cx="10423652" cy="11253597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0423652" cy="11253597"/>
            </a:xfrm>
            <a:custGeom>
              <a:avLst/>
              <a:gdLst/>
              <a:ahLst/>
              <a:cxnLst/>
              <a:rect r="r" b="b" t="t" l="l"/>
              <a:pathLst>
                <a:path h="11253597" w="10423652">
                  <a:moveTo>
                    <a:pt x="0" y="0"/>
                  </a:moveTo>
                  <a:lnTo>
                    <a:pt x="10423652" y="0"/>
                  </a:lnTo>
                  <a:lnTo>
                    <a:pt x="10423652" y="11253597"/>
                  </a:lnTo>
                  <a:lnTo>
                    <a:pt x="0" y="1125359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-12" r="0" b="-12"/>
              </a:stretch>
            </a:blip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8803423" y="4627325"/>
            <a:ext cx="7152513" cy="1245298"/>
            <a:chOff x="0" y="0"/>
            <a:chExt cx="9536684" cy="1660398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9536684" cy="1660398"/>
            </a:xfrm>
            <a:custGeom>
              <a:avLst/>
              <a:gdLst/>
              <a:ahLst/>
              <a:cxnLst/>
              <a:rect r="r" b="b" t="t" l="l"/>
              <a:pathLst>
                <a:path h="1660398" w="9536684">
                  <a:moveTo>
                    <a:pt x="169926" y="0"/>
                  </a:moveTo>
                  <a:lnTo>
                    <a:pt x="9366758" y="0"/>
                  </a:lnTo>
                  <a:cubicBezTo>
                    <a:pt x="9460611" y="0"/>
                    <a:pt x="9536684" y="76073"/>
                    <a:pt x="9536684" y="169926"/>
                  </a:cubicBezTo>
                  <a:lnTo>
                    <a:pt x="9536684" y="1490472"/>
                  </a:lnTo>
                  <a:cubicBezTo>
                    <a:pt x="9536684" y="1584325"/>
                    <a:pt x="9460611" y="1660398"/>
                    <a:pt x="9366758" y="1660398"/>
                  </a:cubicBezTo>
                  <a:lnTo>
                    <a:pt x="169926" y="1660398"/>
                  </a:lnTo>
                  <a:cubicBezTo>
                    <a:pt x="76073" y="1660398"/>
                    <a:pt x="0" y="1584325"/>
                    <a:pt x="0" y="1490472"/>
                  </a:cubicBezTo>
                  <a:lnTo>
                    <a:pt x="0" y="169926"/>
                  </a:lnTo>
                  <a:cubicBezTo>
                    <a:pt x="0" y="76073"/>
                    <a:pt x="76073" y="0"/>
                    <a:pt x="169926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8803423" y="4638515"/>
            <a:ext cx="7152442" cy="1245394"/>
            <a:chOff x="0" y="0"/>
            <a:chExt cx="9536589" cy="1660526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9536589" cy="1660526"/>
            </a:xfrm>
            <a:custGeom>
              <a:avLst/>
              <a:gdLst/>
              <a:ahLst/>
              <a:cxnLst/>
              <a:rect r="r" b="b" t="t" l="l"/>
              <a:pathLst>
                <a:path h="1660526" w="9536589">
                  <a:moveTo>
                    <a:pt x="127000" y="0"/>
                  </a:moveTo>
                  <a:lnTo>
                    <a:pt x="9409589" y="0"/>
                  </a:lnTo>
                  <a:cubicBezTo>
                    <a:pt x="9479729" y="0"/>
                    <a:pt x="9536589" y="56860"/>
                    <a:pt x="9536589" y="127000"/>
                  </a:cubicBezTo>
                  <a:lnTo>
                    <a:pt x="9536589" y="1533526"/>
                  </a:lnTo>
                  <a:cubicBezTo>
                    <a:pt x="9536589" y="1567208"/>
                    <a:pt x="9523209" y="1599511"/>
                    <a:pt x="9499391" y="1623328"/>
                  </a:cubicBezTo>
                  <a:cubicBezTo>
                    <a:pt x="9475574" y="1647145"/>
                    <a:pt x="9443272" y="1660526"/>
                    <a:pt x="9409589" y="1660526"/>
                  </a:cubicBezTo>
                  <a:lnTo>
                    <a:pt x="127000" y="1660526"/>
                  </a:lnTo>
                  <a:cubicBezTo>
                    <a:pt x="56860" y="1660526"/>
                    <a:pt x="0" y="1603666"/>
                    <a:pt x="0" y="1533526"/>
                  </a:cubicBezTo>
                  <a:lnTo>
                    <a:pt x="0" y="127000"/>
                  </a:lnTo>
                  <a:cubicBezTo>
                    <a:pt x="0" y="56860"/>
                    <a:pt x="56860" y="0"/>
                    <a:pt x="1270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sq">
              <a:solidFill>
                <a:srgbClr val="10B981"/>
              </a:solidFill>
              <a:prstDash val="solid"/>
              <a:miter/>
            </a:ln>
          </p:spPr>
        </p:sp>
        <p:sp>
          <p:nvSpPr>
            <p:cNvPr name="TextBox 17" id="17"/>
            <p:cNvSpPr txBox="true"/>
            <p:nvPr/>
          </p:nvSpPr>
          <p:spPr>
            <a:xfrm>
              <a:off x="0" y="-57150"/>
              <a:ext cx="9536589" cy="171767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753"/>
                </a:lnSpc>
              </a:pPr>
              <a:r>
                <a:rPr lang="en-US" sz="1967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Role: Responsible for designing and implementing the user interface (UI) and user experience (UX) for web/mobile platforms.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8803423" y="3942031"/>
            <a:ext cx="4042315" cy="685324"/>
            <a:chOff x="0" y="0"/>
            <a:chExt cx="5389753" cy="913765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5389753" cy="913765"/>
            </a:xfrm>
            <a:custGeom>
              <a:avLst/>
              <a:gdLst/>
              <a:ahLst/>
              <a:cxnLst/>
              <a:rect r="r" b="b" t="t" l="l"/>
              <a:pathLst>
                <a:path h="913765" w="5389753">
                  <a:moveTo>
                    <a:pt x="223647" y="0"/>
                  </a:moveTo>
                  <a:lnTo>
                    <a:pt x="5166106" y="0"/>
                  </a:lnTo>
                  <a:cubicBezTo>
                    <a:pt x="5289677" y="0"/>
                    <a:pt x="5389753" y="100203"/>
                    <a:pt x="5389753" y="223647"/>
                  </a:cubicBezTo>
                  <a:lnTo>
                    <a:pt x="5389753" y="689991"/>
                  </a:lnTo>
                  <a:cubicBezTo>
                    <a:pt x="5389753" y="749300"/>
                    <a:pt x="5366131" y="806196"/>
                    <a:pt x="5324221" y="848233"/>
                  </a:cubicBezTo>
                  <a:cubicBezTo>
                    <a:pt x="5282311" y="890270"/>
                    <a:pt x="5225415" y="913765"/>
                    <a:pt x="5165979" y="913765"/>
                  </a:cubicBezTo>
                  <a:lnTo>
                    <a:pt x="223647" y="913765"/>
                  </a:lnTo>
                  <a:cubicBezTo>
                    <a:pt x="164338" y="913765"/>
                    <a:pt x="107442" y="890143"/>
                    <a:pt x="65405" y="848233"/>
                  </a:cubicBezTo>
                  <a:cubicBezTo>
                    <a:pt x="23368" y="806323"/>
                    <a:pt x="0" y="749300"/>
                    <a:pt x="0" y="689991"/>
                  </a:cubicBezTo>
                  <a:lnTo>
                    <a:pt x="0" y="223647"/>
                  </a:lnTo>
                  <a:cubicBezTo>
                    <a:pt x="0" y="164338"/>
                    <a:pt x="23622" y="107442"/>
                    <a:pt x="65532" y="65532"/>
                  </a:cubicBezTo>
                  <a:cubicBezTo>
                    <a:pt x="107442" y="23622"/>
                    <a:pt x="164338" y="0"/>
                    <a:pt x="223647" y="0"/>
                  </a:cubicBezTo>
                  <a:close/>
                </a:path>
              </a:pathLst>
            </a:custGeom>
            <a:solidFill>
              <a:srgbClr val="8B3DFF">
                <a:alpha val="19608"/>
              </a:srgbClr>
            </a:solid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8803423" y="3942031"/>
            <a:ext cx="4042401" cy="685249"/>
            <a:chOff x="0" y="0"/>
            <a:chExt cx="5389868" cy="913665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5389868" cy="913665"/>
            </a:xfrm>
            <a:custGeom>
              <a:avLst/>
              <a:gdLst/>
              <a:ahLst/>
              <a:cxnLst/>
              <a:rect r="r" b="b" t="t" l="l"/>
              <a:pathLst>
                <a:path h="913665" w="5389868">
                  <a:moveTo>
                    <a:pt x="0" y="0"/>
                  </a:moveTo>
                  <a:lnTo>
                    <a:pt x="5389868" y="0"/>
                  </a:lnTo>
                  <a:lnTo>
                    <a:pt x="5389868" y="913665"/>
                  </a:lnTo>
                  <a:lnTo>
                    <a:pt x="0" y="91366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57150"/>
              <a:ext cx="5389868" cy="9708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520"/>
                </a:lnSpc>
              </a:pPr>
              <a:r>
                <a:rPr lang="en-US" b="true" sz="1800" spc="52">
                  <a:solidFill>
                    <a:srgbClr val="000000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Harsh – Frontend Developer</a:t>
              </a:r>
            </a:p>
          </p:txBody>
        </p:sp>
      </p:grpSp>
      <p:sp>
        <p:nvSpPr>
          <p:cNvPr name="TextBox 23" id="23"/>
          <p:cNvSpPr txBox="true"/>
          <p:nvPr/>
        </p:nvSpPr>
        <p:spPr>
          <a:xfrm rot="0">
            <a:off x="8788003" y="2703211"/>
            <a:ext cx="8115641" cy="11143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022"/>
              </a:lnSpc>
            </a:pPr>
            <a:r>
              <a:rPr lang="en-US" sz="7497" b="true">
                <a:solidFill>
                  <a:srgbClr val="373737"/>
                </a:solidFill>
                <a:latin typeface="Poppins Bold"/>
                <a:ea typeface="Poppins Bold"/>
                <a:cs typeface="Poppins Bold"/>
                <a:sym typeface="Poppins Bold"/>
              </a:rPr>
              <a:t>RESPONSIBILITY</a:t>
            </a:r>
          </a:p>
        </p:txBody>
      </p:sp>
      <p:grpSp>
        <p:nvGrpSpPr>
          <p:cNvPr name="Group 24" id="24"/>
          <p:cNvGrpSpPr/>
          <p:nvPr/>
        </p:nvGrpSpPr>
        <p:grpSpPr>
          <a:xfrm rot="0">
            <a:off x="8818843" y="6075060"/>
            <a:ext cx="4302728" cy="685324"/>
            <a:chOff x="0" y="0"/>
            <a:chExt cx="5736971" cy="913765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5736971" cy="913765"/>
            </a:xfrm>
            <a:custGeom>
              <a:avLst/>
              <a:gdLst/>
              <a:ahLst/>
              <a:cxnLst/>
              <a:rect r="r" b="b" t="t" l="l"/>
              <a:pathLst>
                <a:path h="913765" w="5736971">
                  <a:moveTo>
                    <a:pt x="210185" y="0"/>
                  </a:moveTo>
                  <a:lnTo>
                    <a:pt x="5526786" y="0"/>
                  </a:lnTo>
                  <a:cubicBezTo>
                    <a:pt x="5582539" y="0"/>
                    <a:pt x="5636006" y="22098"/>
                    <a:pt x="5675376" y="61595"/>
                  </a:cubicBezTo>
                  <a:cubicBezTo>
                    <a:pt x="5714746" y="101092"/>
                    <a:pt x="5736971" y="154432"/>
                    <a:pt x="5736971" y="210185"/>
                  </a:cubicBezTo>
                  <a:lnTo>
                    <a:pt x="5736971" y="703580"/>
                  </a:lnTo>
                  <a:cubicBezTo>
                    <a:pt x="5736971" y="759333"/>
                    <a:pt x="5714873" y="812800"/>
                    <a:pt x="5675376" y="852170"/>
                  </a:cubicBezTo>
                  <a:cubicBezTo>
                    <a:pt x="5635879" y="891540"/>
                    <a:pt x="5582539" y="913765"/>
                    <a:pt x="5526786" y="913765"/>
                  </a:cubicBezTo>
                  <a:lnTo>
                    <a:pt x="210185" y="913765"/>
                  </a:lnTo>
                  <a:cubicBezTo>
                    <a:pt x="154432" y="913765"/>
                    <a:pt x="100965" y="891667"/>
                    <a:pt x="61595" y="852170"/>
                  </a:cubicBezTo>
                  <a:cubicBezTo>
                    <a:pt x="22225" y="812673"/>
                    <a:pt x="0" y="759333"/>
                    <a:pt x="0" y="703580"/>
                  </a:cubicBezTo>
                  <a:lnTo>
                    <a:pt x="0" y="210185"/>
                  </a:lnTo>
                  <a:cubicBezTo>
                    <a:pt x="0" y="154432"/>
                    <a:pt x="22098" y="100965"/>
                    <a:pt x="61595" y="61595"/>
                  </a:cubicBezTo>
                  <a:cubicBezTo>
                    <a:pt x="101092" y="22225"/>
                    <a:pt x="154432" y="0"/>
                    <a:pt x="210185" y="0"/>
                  </a:cubicBezTo>
                  <a:close/>
                </a:path>
              </a:pathLst>
            </a:custGeom>
            <a:solidFill>
              <a:srgbClr val="8B3DFF">
                <a:alpha val="19608"/>
              </a:srgbClr>
            </a:solid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8818843" y="6075060"/>
            <a:ext cx="4302690" cy="661645"/>
            <a:chOff x="0" y="0"/>
            <a:chExt cx="5736920" cy="882193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5736920" cy="882193"/>
            </a:xfrm>
            <a:custGeom>
              <a:avLst/>
              <a:gdLst/>
              <a:ahLst/>
              <a:cxnLst/>
              <a:rect r="r" b="b" t="t" l="l"/>
              <a:pathLst>
                <a:path h="882193" w="5736920">
                  <a:moveTo>
                    <a:pt x="0" y="0"/>
                  </a:moveTo>
                  <a:lnTo>
                    <a:pt x="5736920" y="0"/>
                  </a:lnTo>
                  <a:lnTo>
                    <a:pt x="5736920" y="882193"/>
                  </a:lnTo>
                  <a:lnTo>
                    <a:pt x="0" y="88219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57150"/>
              <a:ext cx="5736920" cy="93934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520"/>
                </a:lnSpc>
              </a:pPr>
              <a:r>
                <a:rPr lang="en-US" b="true" sz="1800" spc="52">
                  <a:solidFill>
                    <a:srgbClr val="000000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Swayam – Backend</a:t>
              </a:r>
              <a:r>
                <a:rPr lang="en-US" sz="1800" spc="52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 </a:t>
              </a:r>
              <a:r>
                <a:rPr lang="en-US" b="true" sz="1800" spc="52">
                  <a:solidFill>
                    <a:srgbClr val="000000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Developer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8803423" y="6736794"/>
            <a:ext cx="7167848" cy="1053180"/>
            <a:chOff x="0" y="0"/>
            <a:chExt cx="9557131" cy="1404239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9557131" cy="1404239"/>
            </a:xfrm>
            <a:custGeom>
              <a:avLst/>
              <a:gdLst/>
              <a:ahLst/>
              <a:cxnLst/>
              <a:rect r="r" b="b" t="t" l="l"/>
              <a:pathLst>
                <a:path h="1404239" w="9557131">
                  <a:moveTo>
                    <a:pt x="169545" y="0"/>
                  </a:moveTo>
                  <a:lnTo>
                    <a:pt x="9387586" y="0"/>
                  </a:lnTo>
                  <a:cubicBezTo>
                    <a:pt x="9481185" y="0"/>
                    <a:pt x="9557131" y="75946"/>
                    <a:pt x="9557131" y="169545"/>
                  </a:cubicBezTo>
                  <a:lnTo>
                    <a:pt x="9557131" y="1234694"/>
                  </a:lnTo>
                  <a:cubicBezTo>
                    <a:pt x="9557131" y="1279652"/>
                    <a:pt x="9539224" y="1322705"/>
                    <a:pt x="9507474" y="1354582"/>
                  </a:cubicBezTo>
                  <a:cubicBezTo>
                    <a:pt x="9475724" y="1386459"/>
                    <a:pt x="9432544" y="1404239"/>
                    <a:pt x="9387586" y="1404239"/>
                  </a:cubicBezTo>
                  <a:lnTo>
                    <a:pt x="169545" y="1404239"/>
                  </a:lnTo>
                  <a:cubicBezTo>
                    <a:pt x="75946" y="1404239"/>
                    <a:pt x="0" y="1328293"/>
                    <a:pt x="0" y="1234694"/>
                  </a:cubicBezTo>
                  <a:lnTo>
                    <a:pt x="0" y="169545"/>
                  </a:lnTo>
                  <a:cubicBezTo>
                    <a:pt x="0" y="75946"/>
                    <a:pt x="75946" y="0"/>
                    <a:pt x="169545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31" id="31"/>
          <p:cNvGrpSpPr/>
          <p:nvPr/>
        </p:nvGrpSpPr>
        <p:grpSpPr>
          <a:xfrm rot="0">
            <a:off x="8803423" y="6736749"/>
            <a:ext cx="7167861" cy="1053181"/>
            <a:chOff x="0" y="0"/>
            <a:chExt cx="9557148" cy="1404242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9557148" cy="1404242"/>
            </a:xfrm>
            <a:custGeom>
              <a:avLst/>
              <a:gdLst/>
              <a:ahLst/>
              <a:cxnLst/>
              <a:rect r="r" b="b" t="t" l="l"/>
              <a:pathLst>
                <a:path h="1404242" w="9557148">
                  <a:moveTo>
                    <a:pt x="127000" y="0"/>
                  </a:moveTo>
                  <a:lnTo>
                    <a:pt x="9430148" y="0"/>
                  </a:lnTo>
                  <a:cubicBezTo>
                    <a:pt x="9463830" y="0"/>
                    <a:pt x="9496133" y="13380"/>
                    <a:pt x="9519950" y="37197"/>
                  </a:cubicBezTo>
                  <a:cubicBezTo>
                    <a:pt x="9543767" y="61015"/>
                    <a:pt x="9557148" y="93318"/>
                    <a:pt x="9557148" y="127000"/>
                  </a:cubicBezTo>
                  <a:lnTo>
                    <a:pt x="9557148" y="1277242"/>
                  </a:lnTo>
                  <a:cubicBezTo>
                    <a:pt x="9557148" y="1347382"/>
                    <a:pt x="9500288" y="1404242"/>
                    <a:pt x="9430148" y="1404242"/>
                  </a:cubicBezTo>
                  <a:lnTo>
                    <a:pt x="127000" y="1404242"/>
                  </a:lnTo>
                  <a:cubicBezTo>
                    <a:pt x="56860" y="1404242"/>
                    <a:pt x="0" y="1347382"/>
                    <a:pt x="0" y="1277242"/>
                  </a:cubicBezTo>
                  <a:lnTo>
                    <a:pt x="0" y="127000"/>
                  </a:lnTo>
                  <a:cubicBezTo>
                    <a:pt x="0" y="56860"/>
                    <a:pt x="56860" y="0"/>
                    <a:pt x="1270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47625" cap="sq">
              <a:solidFill>
                <a:srgbClr val="10B981"/>
              </a:solidFill>
              <a:prstDash val="solid"/>
              <a:miter/>
            </a:ln>
          </p:spPr>
        </p:sp>
        <p:sp>
          <p:nvSpPr>
            <p:cNvPr name="TextBox 33" id="33"/>
            <p:cNvSpPr txBox="true"/>
            <p:nvPr/>
          </p:nvSpPr>
          <p:spPr>
            <a:xfrm>
              <a:off x="0" y="-57150"/>
              <a:ext cx="9557148" cy="14613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753"/>
                </a:lnSpc>
              </a:pPr>
              <a:r>
                <a:rPr lang="en-US" sz="1967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Role: Manages the server-side logic, APIs, and system integrations that power the app’s core functionality.</a:t>
              </a:r>
            </a:p>
          </p:txBody>
        </p:sp>
      </p:grpSp>
      <p:grpSp>
        <p:nvGrpSpPr>
          <p:cNvPr name="Group 34" id="34"/>
          <p:cNvGrpSpPr/>
          <p:nvPr/>
        </p:nvGrpSpPr>
        <p:grpSpPr>
          <a:xfrm rot="0">
            <a:off x="8813006" y="7981080"/>
            <a:ext cx="4471606" cy="710089"/>
            <a:chOff x="0" y="0"/>
            <a:chExt cx="5962142" cy="946785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5962142" cy="946785"/>
            </a:xfrm>
            <a:custGeom>
              <a:avLst/>
              <a:gdLst/>
              <a:ahLst/>
              <a:cxnLst/>
              <a:rect r="r" b="b" t="t" l="l"/>
              <a:pathLst>
                <a:path h="946785" w="5962142">
                  <a:moveTo>
                    <a:pt x="202184" y="0"/>
                  </a:moveTo>
                  <a:lnTo>
                    <a:pt x="5759958" y="0"/>
                  </a:lnTo>
                  <a:cubicBezTo>
                    <a:pt x="5871591" y="0"/>
                    <a:pt x="5962142" y="90551"/>
                    <a:pt x="5962142" y="202184"/>
                  </a:cubicBezTo>
                  <a:lnTo>
                    <a:pt x="5962142" y="744474"/>
                  </a:lnTo>
                  <a:cubicBezTo>
                    <a:pt x="5962142" y="856107"/>
                    <a:pt x="5871591" y="946658"/>
                    <a:pt x="5759958" y="946658"/>
                  </a:cubicBezTo>
                  <a:lnTo>
                    <a:pt x="202184" y="946658"/>
                  </a:lnTo>
                  <a:cubicBezTo>
                    <a:pt x="90551" y="946785"/>
                    <a:pt x="0" y="856234"/>
                    <a:pt x="0" y="744601"/>
                  </a:cubicBezTo>
                  <a:lnTo>
                    <a:pt x="0" y="202184"/>
                  </a:lnTo>
                  <a:cubicBezTo>
                    <a:pt x="0" y="90551"/>
                    <a:pt x="90551" y="0"/>
                    <a:pt x="202184" y="0"/>
                  </a:cubicBezTo>
                  <a:close/>
                </a:path>
              </a:pathLst>
            </a:custGeom>
            <a:solidFill>
              <a:srgbClr val="8B3DFF">
                <a:alpha val="19608"/>
              </a:srgbClr>
            </a:solidFill>
          </p:spPr>
        </p:sp>
      </p:grpSp>
      <p:grpSp>
        <p:nvGrpSpPr>
          <p:cNvPr name="Group 36" id="36"/>
          <p:cNvGrpSpPr/>
          <p:nvPr/>
        </p:nvGrpSpPr>
        <p:grpSpPr>
          <a:xfrm rot="0">
            <a:off x="8813006" y="7989999"/>
            <a:ext cx="4471611" cy="697933"/>
            <a:chOff x="0" y="0"/>
            <a:chExt cx="5962148" cy="930577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5962148" cy="930577"/>
            </a:xfrm>
            <a:custGeom>
              <a:avLst/>
              <a:gdLst/>
              <a:ahLst/>
              <a:cxnLst/>
              <a:rect r="r" b="b" t="t" l="l"/>
              <a:pathLst>
                <a:path h="930577" w="5962148">
                  <a:moveTo>
                    <a:pt x="0" y="0"/>
                  </a:moveTo>
                  <a:lnTo>
                    <a:pt x="5962148" y="0"/>
                  </a:lnTo>
                  <a:lnTo>
                    <a:pt x="5962148" y="930577"/>
                  </a:lnTo>
                  <a:lnTo>
                    <a:pt x="0" y="930577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38" id="38"/>
            <p:cNvSpPr txBox="true"/>
            <p:nvPr/>
          </p:nvSpPr>
          <p:spPr>
            <a:xfrm>
              <a:off x="0" y="-57150"/>
              <a:ext cx="5962148" cy="98772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b="true" sz="1800" spc="52">
                  <a:solidFill>
                    <a:srgbClr val="000000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   Surbhi – Database administrator</a:t>
              </a:r>
            </a:p>
          </p:txBody>
        </p:sp>
      </p:grpSp>
      <p:grpSp>
        <p:nvGrpSpPr>
          <p:cNvPr name="Group 39" id="39"/>
          <p:cNvGrpSpPr/>
          <p:nvPr/>
        </p:nvGrpSpPr>
        <p:grpSpPr>
          <a:xfrm rot="0">
            <a:off x="8788003" y="8687931"/>
            <a:ext cx="7112984" cy="1053180"/>
            <a:chOff x="0" y="0"/>
            <a:chExt cx="9483979" cy="1404240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9483978" cy="1404240"/>
            </a:xfrm>
            <a:custGeom>
              <a:avLst/>
              <a:gdLst/>
              <a:ahLst/>
              <a:cxnLst/>
              <a:rect r="r" b="b" t="t" l="l"/>
              <a:pathLst>
                <a:path h="1404240" w="9483978">
                  <a:moveTo>
                    <a:pt x="127000" y="0"/>
                  </a:moveTo>
                  <a:lnTo>
                    <a:pt x="9356978" y="0"/>
                  </a:lnTo>
                  <a:cubicBezTo>
                    <a:pt x="9390661" y="0"/>
                    <a:pt x="9422964" y="13380"/>
                    <a:pt x="9446781" y="37197"/>
                  </a:cubicBezTo>
                  <a:cubicBezTo>
                    <a:pt x="9470598" y="61015"/>
                    <a:pt x="9483978" y="93318"/>
                    <a:pt x="9483978" y="127000"/>
                  </a:cubicBezTo>
                  <a:lnTo>
                    <a:pt x="9483978" y="1277240"/>
                  </a:lnTo>
                  <a:cubicBezTo>
                    <a:pt x="9483978" y="1347380"/>
                    <a:pt x="9427118" y="1404240"/>
                    <a:pt x="9356978" y="1404240"/>
                  </a:cubicBezTo>
                  <a:lnTo>
                    <a:pt x="127000" y="1404240"/>
                  </a:lnTo>
                  <a:cubicBezTo>
                    <a:pt x="56860" y="1404240"/>
                    <a:pt x="0" y="1347380"/>
                    <a:pt x="0" y="1277240"/>
                  </a:cubicBezTo>
                  <a:lnTo>
                    <a:pt x="0" y="127000"/>
                  </a:lnTo>
                  <a:cubicBezTo>
                    <a:pt x="0" y="56860"/>
                    <a:pt x="56860" y="0"/>
                    <a:pt x="1270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47625" cap="sq">
              <a:solidFill>
                <a:srgbClr val="10B981"/>
              </a:solidFill>
              <a:prstDash val="solid"/>
              <a:miter/>
            </a:ln>
          </p:spPr>
        </p:sp>
        <p:sp>
          <p:nvSpPr>
            <p:cNvPr name="TextBox 41" id="41"/>
            <p:cNvSpPr txBox="true"/>
            <p:nvPr/>
          </p:nvSpPr>
          <p:spPr>
            <a:xfrm>
              <a:off x="0" y="-57150"/>
              <a:ext cx="9483979" cy="14613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753"/>
                </a:lnSpc>
              </a:pPr>
              <a:r>
                <a:rPr lang="en-US" sz="1967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Role: Designs and manages the database schema, structure, and data flows of the application</a:t>
              </a:r>
            </a:p>
          </p:txBody>
        </p:sp>
      </p:grpSp>
      <p:sp>
        <p:nvSpPr>
          <p:cNvPr name="TextBox 42" id="42"/>
          <p:cNvSpPr txBox="true"/>
          <p:nvPr/>
        </p:nvSpPr>
        <p:spPr>
          <a:xfrm rot="0">
            <a:off x="8788003" y="1767344"/>
            <a:ext cx="5549061" cy="1076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022"/>
              </a:lnSpc>
            </a:pPr>
            <a:r>
              <a:rPr lang="en-US" sz="7497" b="true">
                <a:solidFill>
                  <a:srgbClr val="373737"/>
                </a:solidFill>
                <a:latin typeface="Poppins Bold"/>
                <a:ea typeface="Poppins Bold"/>
                <a:cs typeface="Poppins Bold"/>
                <a:sym typeface="Poppins Bold"/>
              </a:rPr>
              <a:t>ROLE &amp;</a:t>
            </a:r>
          </a:p>
        </p:txBody>
      </p:sp>
      <p:grpSp>
        <p:nvGrpSpPr>
          <p:cNvPr name="Group 43" id="43"/>
          <p:cNvGrpSpPr/>
          <p:nvPr/>
        </p:nvGrpSpPr>
        <p:grpSpPr>
          <a:xfrm rot="0">
            <a:off x="14522583" y="915012"/>
            <a:ext cx="3086275" cy="519017"/>
            <a:chOff x="0" y="0"/>
            <a:chExt cx="4115034" cy="692023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4115034" cy="692023"/>
            </a:xfrm>
            <a:custGeom>
              <a:avLst/>
              <a:gdLst/>
              <a:ahLst/>
              <a:cxnLst/>
              <a:rect r="r" b="b" t="t" l="l"/>
              <a:pathLst>
                <a:path h="692023" w="4115034">
                  <a:moveTo>
                    <a:pt x="386542" y="0"/>
                  </a:moveTo>
                  <a:lnTo>
                    <a:pt x="3728492" y="0"/>
                  </a:lnTo>
                  <a:cubicBezTo>
                    <a:pt x="3941975" y="0"/>
                    <a:pt x="4115034" y="86995"/>
                    <a:pt x="4115034" y="194310"/>
                  </a:cubicBezTo>
                  <a:lnTo>
                    <a:pt x="4115034" y="497713"/>
                  </a:lnTo>
                  <a:cubicBezTo>
                    <a:pt x="4115034" y="605028"/>
                    <a:pt x="3941975" y="692023"/>
                    <a:pt x="3728492" y="692023"/>
                  </a:cubicBezTo>
                  <a:lnTo>
                    <a:pt x="386542" y="692023"/>
                  </a:lnTo>
                  <a:cubicBezTo>
                    <a:pt x="173060" y="692023"/>
                    <a:pt x="0" y="605028"/>
                    <a:pt x="0" y="497713"/>
                  </a:cubicBezTo>
                  <a:lnTo>
                    <a:pt x="0" y="194310"/>
                  </a:lnTo>
                  <a:cubicBezTo>
                    <a:pt x="0" y="86995"/>
                    <a:pt x="173060" y="0"/>
                    <a:pt x="386542" y="0"/>
                  </a:cubicBezTo>
                  <a:close/>
                </a:path>
              </a:pathLst>
            </a:custGeom>
            <a:solidFill>
              <a:srgbClr val="8B3DFF">
                <a:alpha val="19608"/>
              </a:srgbClr>
            </a:solidFill>
          </p:spPr>
        </p:sp>
      </p:grpSp>
    </p:spTree>
  </p:cSld>
  <p:clrMapOvr>
    <a:masterClrMapping/>
  </p:clrMapOvr>
  <p:transition spd="fast">
    <p:fade/>
  </p:transition>
</p:sld>
</file>

<file path=ppt/slides/slide16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4168139" y="4499457"/>
            <a:ext cx="9951721" cy="1200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997"/>
              </a:lnSpc>
            </a:pPr>
            <a:r>
              <a:rPr lang="en-US" sz="7497" b="true">
                <a:solidFill>
                  <a:srgbClr val="016544"/>
                </a:solidFill>
                <a:latin typeface="Poppins Bold"/>
                <a:ea typeface="Poppins Bold"/>
                <a:cs typeface="Poppins Bold"/>
                <a:sym typeface="Poppins Bold"/>
              </a:rPr>
              <a:t>Database Definition</a:t>
            </a:r>
          </a:p>
        </p:txBody>
      </p:sp>
    </p:spTree>
  </p:cSld>
  <p:clrMapOvr>
    <a:masterClrMapping/>
  </p:clrMapOvr>
  <p:transition spd="fast">
    <p:fade/>
  </p:transition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>
            <a:grpSpLocks noChangeAspect="true"/>
          </p:cNvGrpSpPr>
          <p:nvPr/>
        </p:nvGrpSpPr>
        <p:grpSpPr>
          <a:xfrm rot="0">
            <a:off x="3728279" y="4324235"/>
            <a:ext cx="10831437" cy="1638529"/>
            <a:chOff x="0" y="0"/>
            <a:chExt cx="14441916" cy="218470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4441932" cy="2184654"/>
            </a:xfrm>
            <a:custGeom>
              <a:avLst/>
              <a:gdLst/>
              <a:ahLst/>
              <a:cxnLst/>
              <a:rect r="r" b="b" t="t" l="l"/>
              <a:pathLst>
                <a:path h="2184654" w="14441932">
                  <a:moveTo>
                    <a:pt x="0" y="0"/>
                  </a:moveTo>
                  <a:lnTo>
                    <a:pt x="14441932" y="0"/>
                  </a:lnTo>
                  <a:lnTo>
                    <a:pt x="14441932" y="2184654"/>
                  </a:lnTo>
                  <a:lnTo>
                    <a:pt x="0" y="218465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-2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5196838" y="2455545"/>
            <a:ext cx="7894321" cy="1200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997"/>
              </a:lnSpc>
            </a:pPr>
            <a:r>
              <a:rPr lang="en-US" sz="7497" b="true">
                <a:solidFill>
                  <a:srgbClr val="373737"/>
                </a:solidFill>
                <a:latin typeface="Poppins Bold"/>
                <a:ea typeface="Poppins Bold"/>
                <a:cs typeface="Poppins Bold"/>
                <a:sym typeface="Poppins Bold"/>
              </a:rPr>
              <a:t>Amenities table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5196835" y="10581970"/>
            <a:ext cx="7894321" cy="12214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997"/>
              </a:lnSpc>
            </a:pPr>
            <a:r>
              <a:rPr lang="en-US" sz="7497" b="true">
                <a:solidFill>
                  <a:srgbClr val="373737"/>
                </a:solidFill>
                <a:latin typeface="Poppins Bold"/>
                <a:ea typeface="Poppins Bold"/>
                <a:cs typeface="Poppins Bold"/>
                <a:sym typeface="Poppins Bold"/>
              </a:rPr>
              <a:t>Bookings table</a:t>
            </a:r>
          </a:p>
        </p:txBody>
      </p:sp>
      <p:grpSp>
        <p:nvGrpSpPr>
          <p:cNvPr name="Group 6" id="6"/>
          <p:cNvGrpSpPr>
            <a:grpSpLocks noChangeAspect="true"/>
          </p:cNvGrpSpPr>
          <p:nvPr/>
        </p:nvGrpSpPr>
        <p:grpSpPr>
          <a:xfrm rot="0">
            <a:off x="3132882" y="11849100"/>
            <a:ext cx="12022228" cy="7821116"/>
            <a:chOff x="0" y="0"/>
            <a:chExt cx="16029637" cy="10428155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6029687" cy="10428097"/>
            </a:xfrm>
            <a:custGeom>
              <a:avLst/>
              <a:gdLst/>
              <a:ahLst/>
              <a:cxnLst/>
              <a:rect r="r" b="b" t="t" l="l"/>
              <a:pathLst>
                <a:path h="10428097" w="16029687">
                  <a:moveTo>
                    <a:pt x="0" y="0"/>
                  </a:moveTo>
                  <a:lnTo>
                    <a:pt x="16029687" y="0"/>
                  </a:lnTo>
                  <a:lnTo>
                    <a:pt x="16029687" y="10428097"/>
                  </a:lnTo>
                  <a:lnTo>
                    <a:pt x="0" y="1042809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sp>
        <p:nvSpPr>
          <p:cNvPr name="TextBox 8" id="8"/>
          <p:cNvSpPr txBox="true"/>
          <p:nvPr/>
        </p:nvSpPr>
        <p:spPr>
          <a:xfrm rot="0">
            <a:off x="5188153" y="20144815"/>
            <a:ext cx="7894321" cy="12214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997"/>
              </a:lnSpc>
            </a:pPr>
            <a:r>
              <a:rPr lang="en-US" sz="7497" b="true">
                <a:solidFill>
                  <a:srgbClr val="373737"/>
                </a:solidFill>
                <a:latin typeface="Poppins Bold"/>
                <a:ea typeface="Poppins Bold"/>
                <a:cs typeface="Poppins Bold"/>
                <a:sym typeface="Poppins Bold"/>
              </a:rPr>
              <a:t>Facilities  table</a:t>
            </a:r>
          </a:p>
        </p:txBody>
      </p:sp>
      <p:grpSp>
        <p:nvGrpSpPr>
          <p:cNvPr name="Group 9" id="9"/>
          <p:cNvGrpSpPr>
            <a:grpSpLocks noChangeAspect="true"/>
          </p:cNvGrpSpPr>
          <p:nvPr/>
        </p:nvGrpSpPr>
        <p:grpSpPr>
          <a:xfrm rot="0">
            <a:off x="3124200" y="21907500"/>
            <a:ext cx="12022228" cy="5348508"/>
            <a:chOff x="0" y="0"/>
            <a:chExt cx="16029637" cy="7131344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6029687" cy="7131304"/>
            </a:xfrm>
            <a:custGeom>
              <a:avLst/>
              <a:gdLst/>
              <a:ahLst/>
              <a:cxnLst/>
              <a:rect r="r" b="b" t="t" l="l"/>
              <a:pathLst>
                <a:path h="7131304" w="16029687">
                  <a:moveTo>
                    <a:pt x="0" y="0"/>
                  </a:moveTo>
                  <a:lnTo>
                    <a:pt x="16029687" y="0"/>
                  </a:lnTo>
                  <a:lnTo>
                    <a:pt x="16029687" y="7131304"/>
                  </a:lnTo>
                  <a:lnTo>
                    <a:pt x="0" y="713130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sp>
        <p:nvSpPr>
          <p:cNvPr name="TextBox 11" id="11"/>
          <p:cNvSpPr txBox="true"/>
          <p:nvPr/>
        </p:nvSpPr>
        <p:spPr>
          <a:xfrm rot="0">
            <a:off x="2563590" y="27525345"/>
            <a:ext cx="13160807" cy="12214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997"/>
              </a:lnSpc>
            </a:pPr>
            <a:r>
              <a:rPr lang="en-US" sz="7497" b="true">
                <a:solidFill>
                  <a:srgbClr val="373737"/>
                </a:solidFill>
                <a:latin typeface="Poppins Bold"/>
                <a:ea typeface="Poppins Bold"/>
                <a:cs typeface="Poppins Bold"/>
                <a:sym typeface="Poppins Bold"/>
              </a:rPr>
              <a:t>Facilities_Amenities  table</a:t>
            </a:r>
          </a:p>
        </p:txBody>
      </p:sp>
      <p:grpSp>
        <p:nvGrpSpPr>
          <p:cNvPr name="Group 12" id="12"/>
          <p:cNvGrpSpPr>
            <a:grpSpLocks noChangeAspect="true"/>
          </p:cNvGrpSpPr>
          <p:nvPr/>
        </p:nvGrpSpPr>
        <p:grpSpPr>
          <a:xfrm rot="0">
            <a:off x="3124200" y="28792475"/>
            <a:ext cx="12022228" cy="5348508"/>
            <a:chOff x="0" y="0"/>
            <a:chExt cx="16029637" cy="7131344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6029687" cy="7131304"/>
            </a:xfrm>
            <a:custGeom>
              <a:avLst/>
              <a:gdLst/>
              <a:ahLst/>
              <a:cxnLst/>
              <a:rect r="r" b="b" t="t" l="l"/>
              <a:pathLst>
                <a:path h="7131304" w="16029687">
                  <a:moveTo>
                    <a:pt x="0" y="0"/>
                  </a:moveTo>
                  <a:lnTo>
                    <a:pt x="16029687" y="0"/>
                  </a:lnTo>
                  <a:lnTo>
                    <a:pt x="16029687" y="7131304"/>
                  </a:lnTo>
                  <a:lnTo>
                    <a:pt x="0" y="713130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sp>
        <p:nvSpPr>
          <p:cNvPr name="TextBox 14" id="14"/>
          <p:cNvSpPr txBox="true"/>
          <p:nvPr/>
        </p:nvSpPr>
        <p:spPr>
          <a:xfrm rot="0">
            <a:off x="5712873" y="34307145"/>
            <a:ext cx="6912407" cy="12214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997"/>
              </a:lnSpc>
            </a:pPr>
            <a:r>
              <a:rPr lang="en-US" sz="7497" b="true">
                <a:solidFill>
                  <a:srgbClr val="373737"/>
                </a:solidFill>
                <a:latin typeface="Poppins Bold"/>
                <a:ea typeface="Poppins Bold"/>
                <a:cs typeface="Poppins Bold"/>
                <a:sym typeface="Poppins Bold"/>
              </a:rPr>
              <a:t>Reviews table</a:t>
            </a:r>
          </a:p>
        </p:txBody>
      </p:sp>
      <p:grpSp>
        <p:nvGrpSpPr>
          <p:cNvPr name="Group 15" id="15"/>
          <p:cNvGrpSpPr>
            <a:grpSpLocks noChangeAspect="true"/>
          </p:cNvGrpSpPr>
          <p:nvPr/>
        </p:nvGrpSpPr>
        <p:grpSpPr>
          <a:xfrm rot="0">
            <a:off x="3157963" y="35837592"/>
            <a:ext cx="12022228" cy="5348508"/>
            <a:chOff x="0" y="0"/>
            <a:chExt cx="16029637" cy="7131344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6029687" cy="7131304"/>
            </a:xfrm>
            <a:custGeom>
              <a:avLst/>
              <a:gdLst/>
              <a:ahLst/>
              <a:cxnLst/>
              <a:rect r="r" b="b" t="t" l="l"/>
              <a:pathLst>
                <a:path h="7131304" w="16029687">
                  <a:moveTo>
                    <a:pt x="0" y="0"/>
                  </a:moveTo>
                  <a:lnTo>
                    <a:pt x="16029687" y="0"/>
                  </a:lnTo>
                  <a:lnTo>
                    <a:pt x="16029687" y="7131304"/>
                  </a:lnTo>
                  <a:lnTo>
                    <a:pt x="0" y="713130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sp>
        <p:nvSpPr>
          <p:cNvPr name="TextBox 17" id="17"/>
          <p:cNvSpPr txBox="true"/>
          <p:nvPr/>
        </p:nvSpPr>
        <p:spPr>
          <a:xfrm rot="0">
            <a:off x="6034551" y="41615579"/>
            <a:ext cx="6269050" cy="12214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997"/>
              </a:lnSpc>
            </a:pPr>
            <a:r>
              <a:rPr lang="en-US" sz="7497" b="true">
                <a:solidFill>
                  <a:srgbClr val="373737"/>
                </a:solidFill>
                <a:latin typeface="Poppins Bold"/>
                <a:ea typeface="Poppins Bold"/>
                <a:cs typeface="Poppins Bold"/>
                <a:sym typeface="Poppins Bold"/>
              </a:rPr>
              <a:t>Sports table</a:t>
            </a:r>
          </a:p>
        </p:txBody>
      </p:sp>
      <p:grpSp>
        <p:nvGrpSpPr>
          <p:cNvPr name="Group 18" id="18"/>
          <p:cNvGrpSpPr>
            <a:grpSpLocks noChangeAspect="true"/>
          </p:cNvGrpSpPr>
          <p:nvPr/>
        </p:nvGrpSpPr>
        <p:grpSpPr>
          <a:xfrm rot="0">
            <a:off x="3124200" y="43167300"/>
            <a:ext cx="12022228" cy="2289947"/>
            <a:chOff x="0" y="0"/>
            <a:chExt cx="16029637" cy="3053263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6029687" cy="3053207"/>
            </a:xfrm>
            <a:custGeom>
              <a:avLst/>
              <a:gdLst/>
              <a:ahLst/>
              <a:cxnLst/>
              <a:rect r="r" b="b" t="t" l="l"/>
              <a:pathLst>
                <a:path h="3053207" w="16029687">
                  <a:moveTo>
                    <a:pt x="0" y="0"/>
                  </a:moveTo>
                  <a:lnTo>
                    <a:pt x="16029687" y="0"/>
                  </a:lnTo>
                  <a:lnTo>
                    <a:pt x="16029687" y="3053207"/>
                  </a:lnTo>
                  <a:lnTo>
                    <a:pt x="0" y="305320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-1"/>
              </a:stretch>
            </a:blipFill>
          </p:spPr>
        </p:sp>
      </p:grpSp>
      <p:sp>
        <p:nvSpPr>
          <p:cNvPr name="TextBox 20" id="20"/>
          <p:cNvSpPr txBox="true"/>
          <p:nvPr/>
        </p:nvSpPr>
        <p:spPr>
          <a:xfrm rot="0">
            <a:off x="5008780" y="45881025"/>
            <a:ext cx="7971009" cy="12214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997"/>
              </a:lnSpc>
            </a:pPr>
            <a:r>
              <a:rPr lang="en-US" sz="7497" b="true">
                <a:solidFill>
                  <a:srgbClr val="373737"/>
                </a:solidFill>
                <a:latin typeface="Poppins Bold"/>
                <a:ea typeface="Poppins Bold"/>
                <a:cs typeface="Poppins Bold"/>
                <a:sym typeface="Poppins Bold"/>
              </a:rPr>
              <a:t>Time slots table</a:t>
            </a:r>
          </a:p>
        </p:txBody>
      </p:sp>
      <p:grpSp>
        <p:nvGrpSpPr>
          <p:cNvPr name="Group 21" id="21"/>
          <p:cNvGrpSpPr>
            <a:grpSpLocks noChangeAspect="true"/>
          </p:cNvGrpSpPr>
          <p:nvPr/>
        </p:nvGrpSpPr>
        <p:grpSpPr>
          <a:xfrm rot="0">
            <a:off x="2983172" y="47438447"/>
            <a:ext cx="12022227" cy="4178747"/>
            <a:chOff x="0" y="0"/>
            <a:chExt cx="16029636" cy="5571663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6029687" cy="5571617"/>
            </a:xfrm>
            <a:custGeom>
              <a:avLst/>
              <a:gdLst/>
              <a:ahLst/>
              <a:cxnLst/>
              <a:rect r="r" b="b" t="t" l="l"/>
              <a:pathLst>
                <a:path h="5571617" w="16029687">
                  <a:moveTo>
                    <a:pt x="0" y="0"/>
                  </a:moveTo>
                  <a:lnTo>
                    <a:pt x="16029687" y="0"/>
                  </a:lnTo>
                  <a:lnTo>
                    <a:pt x="16029687" y="5571617"/>
                  </a:lnTo>
                  <a:lnTo>
                    <a:pt x="0" y="557161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</p:spPr>
        </p:sp>
      </p:grpSp>
      <p:sp>
        <p:nvSpPr>
          <p:cNvPr name="TextBox 23" id="23"/>
          <p:cNvSpPr txBox="true"/>
          <p:nvPr/>
        </p:nvSpPr>
        <p:spPr>
          <a:xfrm rot="0">
            <a:off x="6204708" y="51963751"/>
            <a:ext cx="5579152" cy="12214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997"/>
              </a:lnSpc>
            </a:pPr>
            <a:r>
              <a:rPr lang="en-US" sz="7497" b="true">
                <a:solidFill>
                  <a:srgbClr val="373737"/>
                </a:solidFill>
                <a:latin typeface="Poppins Bold"/>
                <a:ea typeface="Poppins Bold"/>
                <a:cs typeface="Poppins Bold"/>
                <a:sym typeface="Poppins Bold"/>
              </a:rPr>
              <a:t>Users table</a:t>
            </a:r>
          </a:p>
        </p:txBody>
      </p:sp>
      <p:grpSp>
        <p:nvGrpSpPr>
          <p:cNvPr name="Group 24" id="24"/>
          <p:cNvGrpSpPr>
            <a:grpSpLocks noChangeAspect="true"/>
          </p:cNvGrpSpPr>
          <p:nvPr/>
        </p:nvGrpSpPr>
        <p:grpSpPr>
          <a:xfrm rot="0">
            <a:off x="2983172" y="53598394"/>
            <a:ext cx="12163256" cy="7915309"/>
            <a:chOff x="0" y="0"/>
            <a:chExt cx="16217675" cy="10553745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16217646" cy="10553700"/>
            </a:xfrm>
            <a:custGeom>
              <a:avLst/>
              <a:gdLst/>
              <a:ahLst/>
              <a:cxnLst/>
              <a:rect r="r" b="b" t="t" l="l"/>
              <a:pathLst>
                <a:path h="10553700" w="16217646">
                  <a:moveTo>
                    <a:pt x="0" y="0"/>
                  </a:moveTo>
                  <a:lnTo>
                    <a:pt x="16217646" y="0"/>
                  </a:lnTo>
                  <a:lnTo>
                    <a:pt x="16217646" y="10553700"/>
                  </a:lnTo>
                  <a:lnTo>
                    <a:pt x="0" y="105537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0" b="0"/>
              </a:stretch>
            </a:blipFill>
          </p:spPr>
        </p:sp>
      </p:grpSp>
      <p:sp>
        <p:nvSpPr>
          <p:cNvPr name="TextBox 26" id="26"/>
          <p:cNvSpPr txBox="true"/>
          <p:nvPr/>
        </p:nvSpPr>
        <p:spPr>
          <a:xfrm rot="0">
            <a:off x="5775849" y="62104503"/>
            <a:ext cx="6786453" cy="12214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997"/>
              </a:lnSpc>
            </a:pPr>
            <a:r>
              <a:rPr lang="en-US" sz="7497" b="true">
                <a:solidFill>
                  <a:srgbClr val="373737"/>
                </a:solidFill>
                <a:latin typeface="Poppins Bold"/>
                <a:ea typeface="Poppins Bold"/>
                <a:cs typeface="Poppins Bold"/>
                <a:sym typeface="Poppins Bold"/>
              </a:rPr>
              <a:t>Venues table</a:t>
            </a:r>
          </a:p>
        </p:txBody>
      </p:sp>
      <p:grpSp>
        <p:nvGrpSpPr>
          <p:cNvPr name="Group 27" id="27"/>
          <p:cNvGrpSpPr>
            <a:grpSpLocks noChangeAspect="true"/>
          </p:cNvGrpSpPr>
          <p:nvPr/>
        </p:nvGrpSpPr>
        <p:grpSpPr>
          <a:xfrm rot="0">
            <a:off x="3045490" y="63668216"/>
            <a:ext cx="12197019" cy="11973268"/>
            <a:chOff x="0" y="0"/>
            <a:chExt cx="16262692" cy="15964357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16262731" cy="15964408"/>
            </a:xfrm>
            <a:custGeom>
              <a:avLst/>
              <a:gdLst/>
              <a:ahLst/>
              <a:cxnLst/>
              <a:rect r="r" b="b" t="t" l="l"/>
              <a:pathLst>
                <a:path h="15964408" w="16262731">
                  <a:moveTo>
                    <a:pt x="0" y="0"/>
                  </a:moveTo>
                  <a:lnTo>
                    <a:pt x="16262731" y="0"/>
                  </a:lnTo>
                  <a:lnTo>
                    <a:pt x="16262731" y="15964408"/>
                  </a:lnTo>
                  <a:lnTo>
                    <a:pt x="0" y="1596440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0" t="0" r="-1173" b="0"/>
              </a:stretch>
            </a:blipFill>
          </p:spPr>
        </p:sp>
      </p:grpSp>
    </p:spTree>
  </p:cSld>
  <p:clrMapOvr>
    <a:masterClrMapping/>
  </p:clrMapOvr>
  <p:transition spd="fast">
    <p:fade/>
  </p:transition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5188153" y="20144815"/>
            <a:ext cx="7894321" cy="12214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997"/>
              </a:lnSpc>
            </a:pPr>
            <a:r>
              <a:rPr lang="en-US" sz="7497" b="true">
                <a:solidFill>
                  <a:srgbClr val="373737"/>
                </a:solidFill>
                <a:latin typeface="Poppins Bold"/>
                <a:ea typeface="Poppins Bold"/>
                <a:cs typeface="Poppins Bold"/>
                <a:sym typeface="Poppins Bold"/>
              </a:rPr>
              <a:t>Facilities  table</a:t>
            </a:r>
          </a:p>
        </p:txBody>
      </p:sp>
      <p:grpSp>
        <p:nvGrpSpPr>
          <p:cNvPr name="Group 3" id="3"/>
          <p:cNvGrpSpPr>
            <a:grpSpLocks noChangeAspect="true"/>
          </p:cNvGrpSpPr>
          <p:nvPr/>
        </p:nvGrpSpPr>
        <p:grpSpPr>
          <a:xfrm rot="0">
            <a:off x="3124200" y="21907500"/>
            <a:ext cx="12022228" cy="5348508"/>
            <a:chOff x="0" y="0"/>
            <a:chExt cx="16029637" cy="7131344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6029687" cy="7131304"/>
            </a:xfrm>
            <a:custGeom>
              <a:avLst/>
              <a:gdLst/>
              <a:ahLst/>
              <a:cxnLst/>
              <a:rect r="r" b="b" t="t" l="l"/>
              <a:pathLst>
                <a:path h="7131304" w="16029687">
                  <a:moveTo>
                    <a:pt x="0" y="0"/>
                  </a:moveTo>
                  <a:lnTo>
                    <a:pt x="16029687" y="0"/>
                  </a:lnTo>
                  <a:lnTo>
                    <a:pt x="16029687" y="7131304"/>
                  </a:lnTo>
                  <a:lnTo>
                    <a:pt x="0" y="713130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sp>
        <p:nvSpPr>
          <p:cNvPr name="TextBox 5" id="5"/>
          <p:cNvSpPr txBox="true"/>
          <p:nvPr/>
        </p:nvSpPr>
        <p:spPr>
          <a:xfrm rot="0">
            <a:off x="2563590" y="27525345"/>
            <a:ext cx="13160807" cy="12214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997"/>
              </a:lnSpc>
            </a:pPr>
            <a:r>
              <a:rPr lang="en-US" sz="7497" b="true">
                <a:solidFill>
                  <a:srgbClr val="373737"/>
                </a:solidFill>
                <a:latin typeface="Poppins Bold"/>
                <a:ea typeface="Poppins Bold"/>
                <a:cs typeface="Poppins Bold"/>
                <a:sym typeface="Poppins Bold"/>
              </a:rPr>
              <a:t>Facilities_Amenities  table</a:t>
            </a:r>
          </a:p>
        </p:txBody>
      </p:sp>
      <p:grpSp>
        <p:nvGrpSpPr>
          <p:cNvPr name="Group 6" id="6"/>
          <p:cNvGrpSpPr>
            <a:grpSpLocks noChangeAspect="true"/>
          </p:cNvGrpSpPr>
          <p:nvPr/>
        </p:nvGrpSpPr>
        <p:grpSpPr>
          <a:xfrm rot="0">
            <a:off x="3124200" y="28792475"/>
            <a:ext cx="12022228" cy="5348508"/>
            <a:chOff x="0" y="0"/>
            <a:chExt cx="16029637" cy="7131344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6029687" cy="7131304"/>
            </a:xfrm>
            <a:custGeom>
              <a:avLst/>
              <a:gdLst/>
              <a:ahLst/>
              <a:cxnLst/>
              <a:rect r="r" b="b" t="t" l="l"/>
              <a:pathLst>
                <a:path h="7131304" w="16029687">
                  <a:moveTo>
                    <a:pt x="0" y="0"/>
                  </a:moveTo>
                  <a:lnTo>
                    <a:pt x="16029687" y="0"/>
                  </a:lnTo>
                  <a:lnTo>
                    <a:pt x="16029687" y="7131304"/>
                  </a:lnTo>
                  <a:lnTo>
                    <a:pt x="0" y="713130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sp>
        <p:nvSpPr>
          <p:cNvPr name="TextBox 8" id="8"/>
          <p:cNvSpPr txBox="true"/>
          <p:nvPr/>
        </p:nvSpPr>
        <p:spPr>
          <a:xfrm rot="0">
            <a:off x="5712873" y="34307145"/>
            <a:ext cx="6912407" cy="12214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997"/>
              </a:lnSpc>
            </a:pPr>
            <a:r>
              <a:rPr lang="en-US" sz="7497" b="true">
                <a:solidFill>
                  <a:srgbClr val="373737"/>
                </a:solidFill>
                <a:latin typeface="Poppins Bold"/>
                <a:ea typeface="Poppins Bold"/>
                <a:cs typeface="Poppins Bold"/>
                <a:sym typeface="Poppins Bold"/>
              </a:rPr>
              <a:t>Reviews table</a:t>
            </a:r>
          </a:p>
        </p:txBody>
      </p:sp>
      <p:grpSp>
        <p:nvGrpSpPr>
          <p:cNvPr name="Group 9" id="9"/>
          <p:cNvGrpSpPr>
            <a:grpSpLocks noChangeAspect="true"/>
          </p:cNvGrpSpPr>
          <p:nvPr/>
        </p:nvGrpSpPr>
        <p:grpSpPr>
          <a:xfrm rot="0">
            <a:off x="3157963" y="35837592"/>
            <a:ext cx="12022228" cy="5348508"/>
            <a:chOff x="0" y="0"/>
            <a:chExt cx="16029637" cy="7131344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6029687" cy="7131304"/>
            </a:xfrm>
            <a:custGeom>
              <a:avLst/>
              <a:gdLst/>
              <a:ahLst/>
              <a:cxnLst/>
              <a:rect r="r" b="b" t="t" l="l"/>
              <a:pathLst>
                <a:path h="7131304" w="16029687">
                  <a:moveTo>
                    <a:pt x="0" y="0"/>
                  </a:moveTo>
                  <a:lnTo>
                    <a:pt x="16029687" y="0"/>
                  </a:lnTo>
                  <a:lnTo>
                    <a:pt x="16029687" y="7131304"/>
                  </a:lnTo>
                  <a:lnTo>
                    <a:pt x="0" y="713130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sp>
        <p:nvSpPr>
          <p:cNvPr name="TextBox 11" id="11"/>
          <p:cNvSpPr txBox="true"/>
          <p:nvPr/>
        </p:nvSpPr>
        <p:spPr>
          <a:xfrm rot="0">
            <a:off x="6034551" y="41615579"/>
            <a:ext cx="6269050" cy="12214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997"/>
              </a:lnSpc>
            </a:pPr>
            <a:r>
              <a:rPr lang="en-US" sz="7497" b="true">
                <a:solidFill>
                  <a:srgbClr val="373737"/>
                </a:solidFill>
                <a:latin typeface="Poppins Bold"/>
                <a:ea typeface="Poppins Bold"/>
                <a:cs typeface="Poppins Bold"/>
                <a:sym typeface="Poppins Bold"/>
              </a:rPr>
              <a:t>Sports table</a:t>
            </a:r>
          </a:p>
        </p:txBody>
      </p:sp>
      <p:grpSp>
        <p:nvGrpSpPr>
          <p:cNvPr name="Group 12" id="12"/>
          <p:cNvGrpSpPr>
            <a:grpSpLocks noChangeAspect="true"/>
          </p:cNvGrpSpPr>
          <p:nvPr/>
        </p:nvGrpSpPr>
        <p:grpSpPr>
          <a:xfrm rot="0">
            <a:off x="3124200" y="43167300"/>
            <a:ext cx="12022228" cy="2289947"/>
            <a:chOff x="0" y="0"/>
            <a:chExt cx="16029637" cy="3053263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6029687" cy="3053207"/>
            </a:xfrm>
            <a:custGeom>
              <a:avLst/>
              <a:gdLst/>
              <a:ahLst/>
              <a:cxnLst/>
              <a:rect r="r" b="b" t="t" l="l"/>
              <a:pathLst>
                <a:path h="3053207" w="16029687">
                  <a:moveTo>
                    <a:pt x="0" y="0"/>
                  </a:moveTo>
                  <a:lnTo>
                    <a:pt x="16029687" y="0"/>
                  </a:lnTo>
                  <a:lnTo>
                    <a:pt x="16029687" y="3053207"/>
                  </a:lnTo>
                  <a:lnTo>
                    <a:pt x="0" y="305320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-1"/>
              </a:stretch>
            </a:blipFill>
          </p:spPr>
        </p:sp>
      </p:grpSp>
      <p:sp>
        <p:nvSpPr>
          <p:cNvPr name="TextBox 14" id="14"/>
          <p:cNvSpPr txBox="true"/>
          <p:nvPr/>
        </p:nvSpPr>
        <p:spPr>
          <a:xfrm rot="0">
            <a:off x="5008780" y="45881025"/>
            <a:ext cx="7971009" cy="12214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997"/>
              </a:lnSpc>
            </a:pPr>
            <a:r>
              <a:rPr lang="en-US" sz="7497" b="true">
                <a:solidFill>
                  <a:srgbClr val="373737"/>
                </a:solidFill>
                <a:latin typeface="Poppins Bold"/>
                <a:ea typeface="Poppins Bold"/>
                <a:cs typeface="Poppins Bold"/>
                <a:sym typeface="Poppins Bold"/>
              </a:rPr>
              <a:t>Time slots table</a:t>
            </a:r>
          </a:p>
        </p:txBody>
      </p:sp>
      <p:grpSp>
        <p:nvGrpSpPr>
          <p:cNvPr name="Group 15" id="15"/>
          <p:cNvGrpSpPr>
            <a:grpSpLocks noChangeAspect="true"/>
          </p:cNvGrpSpPr>
          <p:nvPr/>
        </p:nvGrpSpPr>
        <p:grpSpPr>
          <a:xfrm rot="0">
            <a:off x="2983172" y="47438447"/>
            <a:ext cx="12022227" cy="4178747"/>
            <a:chOff x="0" y="0"/>
            <a:chExt cx="16029636" cy="5571663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6029687" cy="5571617"/>
            </a:xfrm>
            <a:custGeom>
              <a:avLst/>
              <a:gdLst/>
              <a:ahLst/>
              <a:cxnLst/>
              <a:rect r="r" b="b" t="t" l="l"/>
              <a:pathLst>
                <a:path h="5571617" w="16029687">
                  <a:moveTo>
                    <a:pt x="0" y="0"/>
                  </a:moveTo>
                  <a:lnTo>
                    <a:pt x="16029687" y="0"/>
                  </a:lnTo>
                  <a:lnTo>
                    <a:pt x="16029687" y="5571617"/>
                  </a:lnTo>
                  <a:lnTo>
                    <a:pt x="0" y="557161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sp>
        <p:nvSpPr>
          <p:cNvPr name="TextBox 17" id="17"/>
          <p:cNvSpPr txBox="true"/>
          <p:nvPr/>
        </p:nvSpPr>
        <p:spPr>
          <a:xfrm rot="0">
            <a:off x="6204708" y="51963751"/>
            <a:ext cx="5579152" cy="12214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997"/>
              </a:lnSpc>
            </a:pPr>
            <a:r>
              <a:rPr lang="en-US" sz="7497" b="true">
                <a:solidFill>
                  <a:srgbClr val="373737"/>
                </a:solidFill>
                <a:latin typeface="Poppins Bold"/>
                <a:ea typeface="Poppins Bold"/>
                <a:cs typeface="Poppins Bold"/>
                <a:sym typeface="Poppins Bold"/>
              </a:rPr>
              <a:t>Users table</a:t>
            </a:r>
          </a:p>
        </p:txBody>
      </p:sp>
      <p:grpSp>
        <p:nvGrpSpPr>
          <p:cNvPr name="Group 18" id="18"/>
          <p:cNvGrpSpPr>
            <a:grpSpLocks noChangeAspect="true"/>
          </p:cNvGrpSpPr>
          <p:nvPr/>
        </p:nvGrpSpPr>
        <p:grpSpPr>
          <a:xfrm rot="0">
            <a:off x="2983172" y="53598394"/>
            <a:ext cx="12163256" cy="7915309"/>
            <a:chOff x="0" y="0"/>
            <a:chExt cx="16217675" cy="10553745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6217646" cy="10553700"/>
            </a:xfrm>
            <a:custGeom>
              <a:avLst/>
              <a:gdLst/>
              <a:ahLst/>
              <a:cxnLst/>
              <a:rect r="r" b="b" t="t" l="l"/>
              <a:pathLst>
                <a:path h="10553700" w="16217646">
                  <a:moveTo>
                    <a:pt x="0" y="0"/>
                  </a:moveTo>
                  <a:lnTo>
                    <a:pt x="16217646" y="0"/>
                  </a:lnTo>
                  <a:lnTo>
                    <a:pt x="16217646" y="10553700"/>
                  </a:lnTo>
                  <a:lnTo>
                    <a:pt x="0" y="105537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  <p:sp>
        <p:nvSpPr>
          <p:cNvPr name="TextBox 20" id="20"/>
          <p:cNvSpPr txBox="true"/>
          <p:nvPr/>
        </p:nvSpPr>
        <p:spPr>
          <a:xfrm rot="0">
            <a:off x="5775849" y="62104503"/>
            <a:ext cx="6786453" cy="12214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997"/>
              </a:lnSpc>
            </a:pPr>
            <a:r>
              <a:rPr lang="en-US" sz="7497" b="true">
                <a:solidFill>
                  <a:srgbClr val="373737"/>
                </a:solidFill>
                <a:latin typeface="Poppins Bold"/>
                <a:ea typeface="Poppins Bold"/>
                <a:cs typeface="Poppins Bold"/>
                <a:sym typeface="Poppins Bold"/>
              </a:rPr>
              <a:t>Venues table</a:t>
            </a:r>
          </a:p>
        </p:txBody>
      </p:sp>
      <p:grpSp>
        <p:nvGrpSpPr>
          <p:cNvPr name="Group 21" id="21"/>
          <p:cNvGrpSpPr>
            <a:grpSpLocks noChangeAspect="true"/>
          </p:cNvGrpSpPr>
          <p:nvPr/>
        </p:nvGrpSpPr>
        <p:grpSpPr>
          <a:xfrm rot="0">
            <a:off x="3045490" y="63668216"/>
            <a:ext cx="12197019" cy="11973268"/>
            <a:chOff x="0" y="0"/>
            <a:chExt cx="16262692" cy="15964357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6262731" cy="15964408"/>
            </a:xfrm>
            <a:custGeom>
              <a:avLst/>
              <a:gdLst/>
              <a:ahLst/>
              <a:cxnLst/>
              <a:rect r="r" b="b" t="t" l="l"/>
              <a:pathLst>
                <a:path h="15964408" w="16262731">
                  <a:moveTo>
                    <a:pt x="0" y="0"/>
                  </a:moveTo>
                  <a:lnTo>
                    <a:pt x="16262731" y="0"/>
                  </a:lnTo>
                  <a:lnTo>
                    <a:pt x="16262731" y="15964408"/>
                  </a:lnTo>
                  <a:lnTo>
                    <a:pt x="0" y="1596440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-1173" b="0"/>
              </a:stretch>
            </a:blipFill>
          </p:spPr>
        </p:sp>
      </p:grpSp>
      <p:grpSp>
        <p:nvGrpSpPr>
          <p:cNvPr name="Group 23" id="23"/>
          <p:cNvGrpSpPr>
            <a:grpSpLocks noChangeAspect="true"/>
          </p:cNvGrpSpPr>
          <p:nvPr/>
        </p:nvGrpSpPr>
        <p:grpSpPr>
          <a:xfrm rot="0">
            <a:off x="3728281" y="-2914765"/>
            <a:ext cx="10831437" cy="1638529"/>
            <a:chOff x="0" y="0"/>
            <a:chExt cx="14441916" cy="2184705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4441932" cy="2184654"/>
            </a:xfrm>
            <a:custGeom>
              <a:avLst/>
              <a:gdLst/>
              <a:ahLst/>
              <a:cxnLst/>
              <a:rect r="r" b="b" t="t" l="l"/>
              <a:pathLst>
                <a:path h="2184654" w="14441932">
                  <a:moveTo>
                    <a:pt x="0" y="0"/>
                  </a:moveTo>
                  <a:lnTo>
                    <a:pt x="14441932" y="0"/>
                  </a:lnTo>
                  <a:lnTo>
                    <a:pt x="14441932" y="2184654"/>
                  </a:lnTo>
                  <a:lnTo>
                    <a:pt x="0" y="218465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0" b="-2"/>
              </a:stretch>
            </a:blipFill>
          </p:spPr>
        </p:sp>
      </p:grpSp>
      <p:sp>
        <p:nvSpPr>
          <p:cNvPr name="TextBox 25" id="25"/>
          <p:cNvSpPr txBox="true"/>
          <p:nvPr/>
        </p:nvSpPr>
        <p:spPr>
          <a:xfrm rot="0">
            <a:off x="5196840" y="-4783455"/>
            <a:ext cx="7894321" cy="12214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997"/>
              </a:lnSpc>
            </a:pPr>
            <a:r>
              <a:rPr lang="en-US" sz="7497" b="true">
                <a:solidFill>
                  <a:srgbClr val="373737"/>
                </a:solidFill>
                <a:latin typeface="Poppins Bold"/>
                <a:ea typeface="Poppins Bold"/>
                <a:cs typeface="Poppins Bold"/>
                <a:sym typeface="Poppins Bold"/>
              </a:rPr>
              <a:t>Amenities table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5196835" y="626745"/>
            <a:ext cx="7894321" cy="12214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997"/>
              </a:lnSpc>
            </a:pPr>
            <a:r>
              <a:rPr lang="en-US" sz="7497" b="true">
                <a:solidFill>
                  <a:srgbClr val="373737"/>
                </a:solidFill>
                <a:latin typeface="Poppins Bold"/>
                <a:ea typeface="Poppins Bold"/>
                <a:cs typeface="Poppins Bold"/>
                <a:sym typeface="Poppins Bold"/>
              </a:rPr>
              <a:t>Bookings table</a:t>
            </a:r>
          </a:p>
        </p:txBody>
      </p:sp>
      <p:grpSp>
        <p:nvGrpSpPr>
          <p:cNvPr name="Group 27" id="27"/>
          <p:cNvGrpSpPr>
            <a:grpSpLocks noChangeAspect="true"/>
          </p:cNvGrpSpPr>
          <p:nvPr/>
        </p:nvGrpSpPr>
        <p:grpSpPr>
          <a:xfrm rot="0">
            <a:off x="3132882" y="1893875"/>
            <a:ext cx="12022228" cy="7821116"/>
            <a:chOff x="0" y="0"/>
            <a:chExt cx="16029637" cy="10428155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16029687" cy="10428097"/>
            </a:xfrm>
            <a:custGeom>
              <a:avLst/>
              <a:gdLst/>
              <a:ahLst/>
              <a:cxnLst/>
              <a:rect r="r" b="b" t="t" l="l"/>
              <a:pathLst>
                <a:path h="10428097" w="16029687">
                  <a:moveTo>
                    <a:pt x="0" y="0"/>
                  </a:moveTo>
                  <a:lnTo>
                    <a:pt x="16029687" y="0"/>
                  </a:lnTo>
                  <a:lnTo>
                    <a:pt x="16029687" y="10428097"/>
                  </a:lnTo>
                  <a:lnTo>
                    <a:pt x="0" y="1042809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0" t="0" r="0" b="0"/>
              </a:stretch>
            </a:blipFill>
          </p:spPr>
        </p:sp>
      </p:grpSp>
    </p:spTree>
  </p:cSld>
  <p:clrMapOvr>
    <a:masterClrMapping/>
  </p:clrMapOvr>
  <p:transition spd="fast">
    <p:fade/>
  </p:transition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5188153" y="1766107"/>
            <a:ext cx="7894321" cy="12214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997"/>
              </a:lnSpc>
            </a:pPr>
            <a:r>
              <a:rPr lang="en-US" sz="7497" b="true">
                <a:solidFill>
                  <a:srgbClr val="373737"/>
                </a:solidFill>
                <a:latin typeface="Poppins Bold"/>
                <a:ea typeface="Poppins Bold"/>
                <a:cs typeface="Poppins Bold"/>
                <a:sym typeface="Poppins Bold"/>
              </a:rPr>
              <a:t>Facilities  table</a:t>
            </a:r>
          </a:p>
        </p:txBody>
      </p:sp>
      <p:grpSp>
        <p:nvGrpSpPr>
          <p:cNvPr name="Group 3" id="3"/>
          <p:cNvGrpSpPr>
            <a:grpSpLocks noChangeAspect="true"/>
          </p:cNvGrpSpPr>
          <p:nvPr/>
        </p:nvGrpSpPr>
        <p:grpSpPr>
          <a:xfrm rot="0">
            <a:off x="3124200" y="3528792"/>
            <a:ext cx="12022228" cy="5348508"/>
            <a:chOff x="0" y="0"/>
            <a:chExt cx="16029637" cy="7131344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6029687" cy="7131304"/>
            </a:xfrm>
            <a:custGeom>
              <a:avLst/>
              <a:gdLst/>
              <a:ahLst/>
              <a:cxnLst/>
              <a:rect r="r" b="b" t="t" l="l"/>
              <a:pathLst>
                <a:path h="7131304" w="16029687">
                  <a:moveTo>
                    <a:pt x="0" y="0"/>
                  </a:moveTo>
                  <a:lnTo>
                    <a:pt x="16029687" y="0"/>
                  </a:lnTo>
                  <a:lnTo>
                    <a:pt x="16029687" y="7131304"/>
                  </a:lnTo>
                  <a:lnTo>
                    <a:pt x="0" y="713130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sp>
        <p:nvSpPr>
          <p:cNvPr name="TextBox 5" id="5"/>
          <p:cNvSpPr txBox="true"/>
          <p:nvPr/>
        </p:nvSpPr>
        <p:spPr>
          <a:xfrm rot="0">
            <a:off x="2563590" y="27525345"/>
            <a:ext cx="13160807" cy="12214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997"/>
              </a:lnSpc>
            </a:pPr>
            <a:r>
              <a:rPr lang="en-US" sz="7497" b="true">
                <a:solidFill>
                  <a:srgbClr val="373737"/>
                </a:solidFill>
                <a:latin typeface="Poppins Bold"/>
                <a:ea typeface="Poppins Bold"/>
                <a:cs typeface="Poppins Bold"/>
                <a:sym typeface="Poppins Bold"/>
              </a:rPr>
              <a:t>Facilities_Amenities  table</a:t>
            </a:r>
          </a:p>
        </p:txBody>
      </p:sp>
      <p:grpSp>
        <p:nvGrpSpPr>
          <p:cNvPr name="Group 6" id="6"/>
          <p:cNvGrpSpPr>
            <a:grpSpLocks noChangeAspect="true"/>
          </p:cNvGrpSpPr>
          <p:nvPr/>
        </p:nvGrpSpPr>
        <p:grpSpPr>
          <a:xfrm rot="0">
            <a:off x="3124200" y="28792475"/>
            <a:ext cx="12022228" cy="5348508"/>
            <a:chOff x="0" y="0"/>
            <a:chExt cx="16029637" cy="7131344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6029687" cy="7131304"/>
            </a:xfrm>
            <a:custGeom>
              <a:avLst/>
              <a:gdLst/>
              <a:ahLst/>
              <a:cxnLst/>
              <a:rect r="r" b="b" t="t" l="l"/>
              <a:pathLst>
                <a:path h="7131304" w="16029687">
                  <a:moveTo>
                    <a:pt x="0" y="0"/>
                  </a:moveTo>
                  <a:lnTo>
                    <a:pt x="16029687" y="0"/>
                  </a:lnTo>
                  <a:lnTo>
                    <a:pt x="16029687" y="7131304"/>
                  </a:lnTo>
                  <a:lnTo>
                    <a:pt x="0" y="713130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sp>
        <p:nvSpPr>
          <p:cNvPr name="TextBox 8" id="8"/>
          <p:cNvSpPr txBox="true"/>
          <p:nvPr/>
        </p:nvSpPr>
        <p:spPr>
          <a:xfrm rot="0">
            <a:off x="5712873" y="34307145"/>
            <a:ext cx="6912407" cy="12214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997"/>
              </a:lnSpc>
            </a:pPr>
            <a:r>
              <a:rPr lang="en-US" sz="7497" b="true">
                <a:solidFill>
                  <a:srgbClr val="373737"/>
                </a:solidFill>
                <a:latin typeface="Poppins Bold"/>
                <a:ea typeface="Poppins Bold"/>
                <a:cs typeface="Poppins Bold"/>
                <a:sym typeface="Poppins Bold"/>
              </a:rPr>
              <a:t>Reviews table</a:t>
            </a:r>
          </a:p>
        </p:txBody>
      </p:sp>
      <p:grpSp>
        <p:nvGrpSpPr>
          <p:cNvPr name="Group 9" id="9"/>
          <p:cNvGrpSpPr>
            <a:grpSpLocks noChangeAspect="true"/>
          </p:cNvGrpSpPr>
          <p:nvPr/>
        </p:nvGrpSpPr>
        <p:grpSpPr>
          <a:xfrm rot="0">
            <a:off x="3157963" y="35837592"/>
            <a:ext cx="12022228" cy="5348508"/>
            <a:chOff x="0" y="0"/>
            <a:chExt cx="16029637" cy="7131344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6029687" cy="7131304"/>
            </a:xfrm>
            <a:custGeom>
              <a:avLst/>
              <a:gdLst/>
              <a:ahLst/>
              <a:cxnLst/>
              <a:rect r="r" b="b" t="t" l="l"/>
              <a:pathLst>
                <a:path h="7131304" w="16029687">
                  <a:moveTo>
                    <a:pt x="0" y="0"/>
                  </a:moveTo>
                  <a:lnTo>
                    <a:pt x="16029687" y="0"/>
                  </a:lnTo>
                  <a:lnTo>
                    <a:pt x="16029687" y="7131304"/>
                  </a:lnTo>
                  <a:lnTo>
                    <a:pt x="0" y="713130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sp>
        <p:nvSpPr>
          <p:cNvPr name="TextBox 11" id="11"/>
          <p:cNvSpPr txBox="true"/>
          <p:nvPr/>
        </p:nvSpPr>
        <p:spPr>
          <a:xfrm rot="0">
            <a:off x="6034551" y="41615579"/>
            <a:ext cx="6269050" cy="12214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997"/>
              </a:lnSpc>
            </a:pPr>
            <a:r>
              <a:rPr lang="en-US" sz="7497" b="true">
                <a:solidFill>
                  <a:srgbClr val="373737"/>
                </a:solidFill>
                <a:latin typeface="Poppins Bold"/>
                <a:ea typeface="Poppins Bold"/>
                <a:cs typeface="Poppins Bold"/>
                <a:sym typeface="Poppins Bold"/>
              </a:rPr>
              <a:t>Sports table</a:t>
            </a:r>
          </a:p>
        </p:txBody>
      </p:sp>
      <p:grpSp>
        <p:nvGrpSpPr>
          <p:cNvPr name="Group 12" id="12"/>
          <p:cNvGrpSpPr>
            <a:grpSpLocks noChangeAspect="true"/>
          </p:cNvGrpSpPr>
          <p:nvPr/>
        </p:nvGrpSpPr>
        <p:grpSpPr>
          <a:xfrm rot="0">
            <a:off x="3124200" y="43167300"/>
            <a:ext cx="12022228" cy="2289947"/>
            <a:chOff x="0" y="0"/>
            <a:chExt cx="16029637" cy="3053263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6029687" cy="3053207"/>
            </a:xfrm>
            <a:custGeom>
              <a:avLst/>
              <a:gdLst/>
              <a:ahLst/>
              <a:cxnLst/>
              <a:rect r="r" b="b" t="t" l="l"/>
              <a:pathLst>
                <a:path h="3053207" w="16029687">
                  <a:moveTo>
                    <a:pt x="0" y="0"/>
                  </a:moveTo>
                  <a:lnTo>
                    <a:pt x="16029687" y="0"/>
                  </a:lnTo>
                  <a:lnTo>
                    <a:pt x="16029687" y="3053207"/>
                  </a:lnTo>
                  <a:lnTo>
                    <a:pt x="0" y="305320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-1"/>
              </a:stretch>
            </a:blipFill>
          </p:spPr>
        </p:sp>
      </p:grpSp>
      <p:sp>
        <p:nvSpPr>
          <p:cNvPr name="TextBox 14" id="14"/>
          <p:cNvSpPr txBox="true"/>
          <p:nvPr/>
        </p:nvSpPr>
        <p:spPr>
          <a:xfrm rot="0">
            <a:off x="5008780" y="45881025"/>
            <a:ext cx="7971009" cy="12214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997"/>
              </a:lnSpc>
            </a:pPr>
            <a:r>
              <a:rPr lang="en-US" sz="7497" b="true">
                <a:solidFill>
                  <a:srgbClr val="373737"/>
                </a:solidFill>
                <a:latin typeface="Poppins Bold"/>
                <a:ea typeface="Poppins Bold"/>
                <a:cs typeface="Poppins Bold"/>
                <a:sym typeface="Poppins Bold"/>
              </a:rPr>
              <a:t>Time slots table</a:t>
            </a:r>
          </a:p>
        </p:txBody>
      </p:sp>
      <p:grpSp>
        <p:nvGrpSpPr>
          <p:cNvPr name="Group 15" id="15"/>
          <p:cNvGrpSpPr>
            <a:grpSpLocks noChangeAspect="true"/>
          </p:cNvGrpSpPr>
          <p:nvPr/>
        </p:nvGrpSpPr>
        <p:grpSpPr>
          <a:xfrm rot="0">
            <a:off x="2983172" y="47438447"/>
            <a:ext cx="12022227" cy="4178747"/>
            <a:chOff x="0" y="0"/>
            <a:chExt cx="16029636" cy="5571663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6029687" cy="5571617"/>
            </a:xfrm>
            <a:custGeom>
              <a:avLst/>
              <a:gdLst/>
              <a:ahLst/>
              <a:cxnLst/>
              <a:rect r="r" b="b" t="t" l="l"/>
              <a:pathLst>
                <a:path h="5571617" w="16029687">
                  <a:moveTo>
                    <a:pt x="0" y="0"/>
                  </a:moveTo>
                  <a:lnTo>
                    <a:pt x="16029687" y="0"/>
                  </a:lnTo>
                  <a:lnTo>
                    <a:pt x="16029687" y="5571617"/>
                  </a:lnTo>
                  <a:lnTo>
                    <a:pt x="0" y="557161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sp>
        <p:nvSpPr>
          <p:cNvPr name="TextBox 17" id="17"/>
          <p:cNvSpPr txBox="true"/>
          <p:nvPr/>
        </p:nvSpPr>
        <p:spPr>
          <a:xfrm rot="0">
            <a:off x="6204708" y="51963751"/>
            <a:ext cx="5579152" cy="12214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997"/>
              </a:lnSpc>
            </a:pPr>
            <a:r>
              <a:rPr lang="en-US" sz="7497" b="true">
                <a:solidFill>
                  <a:srgbClr val="373737"/>
                </a:solidFill>
                <a:latin typeface="Poppins Bold"/>
                <a:ea typeface="Poppins Bold"/>
                <a:cs typeface="Poppins Bold"/>
                <a:sym typeface="Poppins Bold"/>
              </a:rPr>
              <a:t>Users table</a:t>
            </a:r>
          </a:p>
        </p:txBody>
      </p:sp>
      <p:grpSp>
        <p:nvGrpSpPr>
          <p:cNvPr name="Group 18" id="18"/>
          <p:cNvGrpSpPr>
            <a:grpSpLocks noChangeAspect="true"/>
          </p:cNvGrpSpPr>
          <p:nvPr/>
        </p:nvGrpSpPr>
        <p:grpSpPr>
          <a:xfrm rot="0">
            <a:off x="2983172" y="53598394"/>
            <a:ext cx="12163256" cy="7915309"/>
            <a:chOff x="0" y="0"/>
            <a:chExt cx="16217675" cy="10553745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6217646" cy="10553700"/>
            </a:xfrm>
            <a:custGeom>
              <a:avLst/>
              <a:gdLst/>
              <a:ahLst/>
              <a:cxnLst/>
              <a:rect r="r" b="b" t="t" l="l"/>
              <a:pathLst>
                <a:path h="10553700" w="16217646">
                  <a:moveTo>
                    <a:pt x="0" y="0"/>
                  </a:moveTo>
                  <a:lnTo>
                    <a:pt x="16217646" y="0"/>
                  </a:lnTo>
                  <a:lnTo>
                    <a:pt x="16217646" y="10553700"/>
                  </a:lnTo>
                  <a:lnTo>
                    <a:pt x="0" y="105537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  <p:sp>
        <p:nvSpPr>
          <p:cNvPr name="TextBox 20" id="20"/>
          <p:cNvSpPr txBox="true"/>
          <p:nvPr/>
        </p:nvSpPr>
        <p:spPr>
          <a:xfrm rot="0">
            <a:off x="5775849" y="62104503"/>
            <a:ext cx="6786453" cy="12214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997"/>
              </a:lnSpc>
            </a:pPr>
            <a:r>
              <a:rPr lang="en-US" sz="7497" b="true">
                <a:solidFill>
                  <a:srgbClr val="373737"/>
                </a:solidFill>
                <a:latin typeface="Poppins Bold"/>
                <a:ea typeface="Poppins Bold"/>
                <a:cs typeface="Poppins Bold"/>
                <a:sym typeface="Poppins Bold"/>
              </a:rPr>
              <a:t>Venues table</a:t>
            </a:r>
          </a:p>
        </p:txBody>
      </p:sp>
      <p:grpSp>
        <p:nvGrpSpPr>
          <p:cNvPr name="Group 21" id="21"/>
          <p:cNvGrpSpPr>
            <a:grpSpLocks noChangeAspect="true"/>
          </p:cNvGrpSpPr>
          <p:nvPr/>
        </p:nvGrpSpPr>
        <p:grpSpPr>
          <a:xfrm rot="0">
            <a:off x="3045490" y="63668216"/>
            <a:ext cx="12197019" cy="11973268"/>
            <a:chOff x="0" y="0"/>
            <a:chExt cx="16262692" cy="15964357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6262731" cy="15964408"/>
            </a:xfrm>
            <a:custGeom>
              <a:avLst/>
              <a:gdLst/>
              <a:ahLst/>
              <a:cxnLst/>
              <a:rect r="r" b="b" t="t" l="l"/>
              <a:pathLst>
                <a:path h="15964408" w="16262731">
                  <a:moveTo>
                    <a:pt x="0" y="0"/>
                  </a:moveTo>
                  <a:lnTo>
                    <a:pt x="16262731" y="0"/>
                  </a:lnTo>
                  <a:lnTo>
                    <a:pt x="16262731" y="15964408"/>
                  </a:lnTo>
                  <a:lnTo>
                    <a:pt x="0" y="1596440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-1173" b="0"/>
              </a:stretch>
            </a:blipFill>
          </p:spPr>
        </p:sp>
      </p:grpSp>
      <p:grpSp>
        <p:nvGrpSpPr>
          <p:cNvPr name="Group 23" id="23"/>
          <p:cNvGrpSpPr>
            <a:grpSpLocks noChangeAspect="true"/>
          </p:cNvGrpSpPr>
          <p:nvPr/>
        </p:nvGrpSpPr>
        <p:grpSpPr>
          <a:xfrm rot="0">
            <a:off x="3728281" y="-2914765"/>
            <a:ext cx="10831437" cy="1638529"/>
            <a:chOff x="0" y="0"/>
            <a:chExt cx="14441916" cy="2184705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4441932" cy="2184654"/>
            </a:xfrm>
            <a:custGeom>
              <a:avLst/>
              <a:gdLst/>
              <a:ahLst/>
              <a:cxnLst/>
              <a:rect r="r" b="b" t="t" l="l"/>
              <a:pathLst>
                <a:path h="2184654" w="14441932">
                  <a:moveTo>
                    <a:pt x="0" y="0"/>
                  </a:moveTo>
                  <a:lnTo>
                    <a:pt x="14441932" y="0"/>
                  </a:lnTo>
                  <a:lnTo>
                    <a:pt x="14441932" y="2184654"/>
                  </a:lnTo>
                  <a:lnTo>
                    <a:pt x="0" y="218465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0" b="-2"/>
              </a:stretch>
            </a:blipFill>
          </p:spPr>
        </p:sp>
      </p:grpSp>
      <p:sp>
        <p:nvSpPr>
          <p:cNvPr name="TextBox 25" id="25"/>
          <p:cNvSpPr txBox="true"/>
          <p:nvPr/>
        </p:nvSpPr>
        <p:spPr>
          <a:xfrm rot="0">
            <a:off x="5196840" y="-4783455"/>
            <a:ext cx="7894321" cy="12214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997"/>
              </a:lnSpc>
            </a:pPr>
            <a:r>
              <a:rPr lang="en-US" sz="7497" b="true">
                <a:solidFill>
                  <a:srgbClr val="373737"/>
                </a:solidFill>
                <a:latin typeface="Poppins Bold"/>
                <a:ea typeface="Poppins Bold"/>
                <a:cs typeface="Poppins Bold"/>
                <a:sym typeface="Poppins Bold"/>
              </a:rPr>
              <a:t>Amenities table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5196835" y="-10269855"/>
            <a:ext cx="7894321" cy="12214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997"/>
              </a:lnSpc>
            </a:pPr>
            <a:r>
              <a:rPr lang="en-US" sz="7497" b="true">
                <a:solidFill>
                  <a:srgbClr val="373737"/>
                </a:solidFill>
                <a:latin typeface="Poppins Bold"/>
                <a:ea typeface="Poppins Bold"/>
                <a:cs typeface="Poppins Bold"/>
                <a:sym typeface="Poppins Bold"/>
              </a:rPr>
              <a:t>Bookings table</a:t>
            </a:r>
          </a:p>
        </p:txBody>
      </p:sp>
      <p:grpSp>
        <p:nvGrpSpPr>
          <p:cNvPr name="Group 27" id="27"/>
          <p:cNvGrpSpPr>
            <a:grpSpLocks noChangeAspect="true"/>
          </p:cNvGrpSpPr>
          <p:nvPr/>
        </p:nvGrpSpPr>
        <p:grpSpPr>
          <a:xfrm rot="0">
            <a:off x="3132882" y="-9002725"/>
            <a:ext cx="12022228" cy="7821116"/>
            <a:chOff x="0" y="0"/>
            <a:chExt cx="16029637" cy="10428155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16029687" cy="10428097"/>
            </a:xfrm>
            <a:custGeom>
              <a:avLst/>
              <a:gdLst/>
              <a:ahLst/>
              <a:cxnLst/>
              <a:rect r="r" b="b" t="t" l="l"/>
              <a:pathLst>
                <a:path h="10428097" w="16029687">
                  <a:moveTo>
                    <a:pt x="0" y="0"/>
                  </a:moveTo>
                  <a:lnTo>
                    <a:pt x="16029687" y="0"/>
                  </a:lnTo>
                  <a:lnTo>
                    <a:pt x="16029687" y="10428097"/>
                  </a:lnTo>
                  <a:lnTo>
                    <a:pt x="0" y="1042809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0" t="0" r="0" b="0"/>
              </a:stretch>
            </a:blipFill>
          </p:spPr>
        </p:sp>
      </p:grpSp>
    </p:spTree>
  </p:cSld>
  <p:clrMapOvr>
    <a:masterClrMapping/>
  </p:clrMapOvr>
  <p:transition spd="fast">
    <p:fade/>
  </p:transition>
</p:sld>
</file>

<file path=ppt/slides/slide2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5188153" y="-8593455"/>
            <a:ext cx="7894321" cy="12214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997"/>
              </a:lnSpc>
            </a:pPr>
            <a:r>
              <a:rPr lang="en-US" sz="7497" b="true">
                <a:solidFill>
                  <a:srgbClr val="373737"/>
                </a:solidFill>
                <a:latin typeface="Poppins Bold"/>
                <a:ea typeface="Poppins Bold"/>
                <a:cs typeface="Poppins Bold"/>
                <a:sym typeface="Poppins Bold"/>
              </a:rPr>
              <a:t>Facilities  table</a:t>
            </a:r>
          </a:p>
        </p:txBody>
      </p:sp>
      <p:grpSp>
        <p:nvGrpSpPr>
          <p:cNvPr name="Group 3" id="3"/>
          <p:cNvGrpSpPr>
            <a:grpSpLocks noChangeAspect="true"/>
          </p:cNvGrpSpPr>
          <p:nvPr/>
        </p:nvGrpSpPr>
        <p:grpSpPr>
          <a:xfrm rot="0">
            <a:off x="3124200" y="-6830770"/>
            <a:ext cx="12022228" cy="5348508"/>
            <a:chOff x="0" y="0"/>
            <a:chExt cx="16029637" cy="7131344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6029687" cy="7131304"/>
            </a:xfrm>
            <a:custGeom>
              <a:avLst/>
              <a:gdLst/>
              <a:ahLst/>
              <a:cxnLst/>
              <a:rect r="r" b="b" t="t" l="l"/>
              <a:pathLst>
                <a:path h="7131304" w="16029687">
                  <a:moveTo>
                    <a:pt x="0" y="0"/>
                  </a:moveTo>
                  <a:lnTo>
                    <a:pt x="16029687" y="0"/>
                  </a:lnTo>
                  <a:lnTo>
                    <a:pt x="16029687" y="7131304"/>
                  </a:lnTo>
                  <a:lnTo>
                    <a:pt x="0" y="713130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sp>
        <p:nvSpPr>
          <p:cNvPr name="TextBox 5" id="5"/>
          <p:cNvSpPr txBox="true"/>
          <p:nvPr/>
        </p:nvSpPr>
        <p:spPr>
          <a:xfrm rot="0">
            <a:off x="2563591" y="1845945"/>
            <a:ext cx="13160807" cy="12214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997"/>
              </a:lnSpc>
            </a:pPr>
            <a:r>
              <a:rPr lang="en-US" sz="7497" b="true">
                <a:solidFill>
                  <a:srgbClr val="373737"/>
                </a:solidFill>
                <a:latin typeface="Poppins Bold"/>
                <a:ea typeface="Poppins Bold"/>
                <a:cs typeface="Poppins Bold"/>
                <a:sym typeface="Poppins Bold"/>
              </a:rPr>
              <a:t>Facilities_Amenities  table</a:t>
            </a:r>
          </a:p>
        </p:txBody>
      </p:sp>
      <p:grpSp>
        <p:nvGrpSpPr>
          <p:cNvPr name="Group 6" id="6"/>
          <p:cNvGrpSpPr>
            <a:grpSpLocks noChangeAspect="true"/>
          </p:cNvGrpSpPr>
          <p:nvPr/>
        </p:nvGrpSpPr>
        <p:grpSpPr>
          <a:xfrm rot="0">
            <a:off x="3124200" y="3300192"/>
            <a:ext cx="12022228" cy="5348508"/>
            <a:chOff x="0" y="0"/>
            <a:chExt cx="16029637" cy="7131344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6029687" cy="7131304"/>
            </a:xfrm>
            <a:custGeom>
              <a:avLst/>
              <a:gdLst/>
              <a:ahLst/>
              <a:cxnLst/>
              <a:rect r="r" b="b" t="t" l="l"/>
              <a:pathLst>
                <a:path h="7131304" w="16029687">
                  <a:moveTo>
                    <a:pt x="0" y="0"/>
                  </a:moveTo>
                  <a:lnTo>
                    <a:pt x="16029687" y="0"/>
                  </a:lnTo>
                  <a:lnTo>
                    <a:pt x="16029687" y="7131304"/>
                  </a:lnTo>
                  <a:lnTo>
                    <a:pt x="0" y="713130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sp>
        <p:nvSpPr>
          <p:cNvPr name="TextBox 8" id="8"/>
          <p:cNvSpPr txBox="true"/>
          <p:nvPr/>
        </p:nvSpPr>
        <p:spPr>
          <a:xfrm rot="0">
            <a:off x="5712873" y="34307145"/>
            <a:ext cx="6912407" cy="12214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997"/>
              </a:lnSpc>
            </a:pPr>
            <a:r>
              <a:rPr lang="en-US" sz="7497" b="true">
                <a:solidFill>
                  <a:srgbClr val="373737"/>
                </a:solidFill>
                <a:latin typeface="Poppins Bold"/>
                <a:ea typeface="Poppins Bold"/>
                <a:cs typeface="Poppins Bold"/>
                <a:sym typeface="Poppins Bold"/>
              </a:rPr>
              <a:t>Reviews table</a:t>
            </a:r>
          </a:p>
        </p:txBody>
      </p:sp>
      <p:grpSp>
        <p:nvGrpSpPr>
          <p:cNvPr name="Group 9" id="9"/>
          <p:cNvGrpSpPr>
            <a:grpSpLocks noChangeAspect="true"/>
          </p:cNvGrpSpPr>
          <p:nvPr/>
        </p:nvGrpSpPr>
        <p:grpSpPr>
          <a:xfrm rot="0">
            <a:off x="3157963" y="35837592"/>
            <a:ext cx="12022228" cy="5348508"/>
            <a:chOff x="0" y="0"/>
            <a:chExt cx="16029637" cy="7131344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6029687" cy="7131304"/>
            </a:xfrm>
            <a:custGeom>
              <a:avLst/>
              <a:gdLst/>
              <a:ahLst/>
              <a:cxnLst/>
              <a:rect r="r" b="b" t="t" l="l"/>
              <a:pathLst>
                <a:path h="7131304" w="16029687">
                  <a:moveTo>
                    <a:pt x="0" y="0"/>
                  </a:moveTo>
                  <a:lnTo>
                    <a:pt x="16029687" y="0"/>
                  </a:lnTo>
                  <a:lnTo>
                    <a:pt x="16029687" y="7131304"/>
                  </a:lnTo>
                  <a:lnTo>
                    <a:pt x="0" y="713130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sp>
        <p:nvSpPr>
          <p:cNvPr name="TextBox 11" id="11"/>
          <p:cNvSpPr txBox="true"/>
          <p:nvPr/>
        </p:nvSpPr>
        <p:spPr>
          <a:xfrm rot="0">
            <a:off x="6034551" y="41615579"/>
            <a:ext cx="6269050" cy="12214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997"/>
              </a:lnSpc>
            </a:pPr>
            <a:r>
              <a:rPr lang="en-US" sz="7497" b="true">
                <a:solidFill>
                  <a:srgbClr val="373737"/>
                </a:solidFill>
                <a:latin typeface="Poppins Bold"/>
                <a:ea typeface="Poppins Bold"/>
                <a:cs typeface="Poppins Bold"/>
                <a:sym typeface="Poppins Bold"/>
              </a:rPr>
              <a:t>Sports table</a:t>
            </a:r>
          </a:p>
        </p:txBody>
      </p:sp>
      <p:grpSp>
        <p:nvGrpSpPr>
          <p:cNvPr name="Group 12" id="12"/>
          <p:cNvGrpSpPr>
            <a:grpSpLocks noChangeAspect="true"/>
          </p:cNvGrpSpPr>
          <p:nvPr/>
        </p:nvGrpSpPr>
        <p:grpSpPr>
          <a:xfrm rot="0">
            <a:off x="3124200" y="43167300"/>
            <a:ext cx="12022228" cy="2289947"/>
            <a:chOff x="0" y="0"/>
            <a:chExt cx="16029637" cy="3053263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6029687" cy="3053207"/>
            </a:xfrm>
            <a:custGeom>
              <a:avLst/>
              <a:gdLst/>
              <a:ahLst/>
              <a:cxnLst/>
              <a:rect r="r" b="b" t="t" l="l"/>
              <a:pathLst>
                <a:path h="3053207" w="16029687">
                  <a:moveTo>
                    <a:pt x="0" y="0"/>
                  </a:moveTo>
                  <a:lnTo>
                    <a:pt x="16029687" y="0"/>
                  </a:lnTo>
                  <a:lnTo>
                    <a:pt x="16029687" y="3053207"/>
                  </a:lnTo>
                  <a:lnTo>
                    <a:pt x="0" y="305320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-1"/>
              </a:stretch>
            </a:blipFill>
          </p:spPr>
        </p:sp>
      </p:grpSp>
      <p:sp>
        <p:nvSpPr>
          <p:cNvPr name="TextBox 14" id="14"/>
          <p:cNvSpPr txBox="true"/>
          <p:nvPr/>
        </p:nvSpPr>
        <p:spPr>
          <a:xfrm rot="0">
            <a:off x="5008780" y="45881025"/>
            <a:ext cx="7971009" cy="12214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997"/>
              </a:lnSpc>
            </a:pPr>
            <a:r>
              <a:rPr lang="en-US" sz="7497" b="true">
                <a:solidFill>
                  <a:srgbClr val="373737"/>
                </a:solidFill>
                <a:latin typeface="Poppins Bold"/>
                <a:ea typeface="Poppins Bold"/>
                <a:cs typeface="Poppins Bold"/>
                <a:sym typeface="Poppins Bold"/>
              </a:rPr>
              <a:t>Time slots table</a:t>
            </a:r>
          </a:p>
        </p:txBody>
      </p:sp>
      <p:grpSp>
        <p:nvGrpSpPr>
          <p:cNvPr name="Group 15" id="15"/>
          <p:cNvGrpSpPr>
            <a:grpSpLocks noChangeAspect="true"/>
          </p:cNvGrpSpPr>
          <p:nvPr/>
        </p:nvGrpSpPr>
        <p:grpSpPr>
          <a:xfrm rot="0">
            <a:off x="2983172" y="47438447"/>
            <a:ext cx="12022227" cy="4178747"/>
            <a:chOff x="0" y="0"/>
            <a:chExt cx="16029636" cy="5571663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6029687" cy="5571617"/>
            </a:xfrm>
            <a:custGeom>
              <a:avLst/>
              <a:gdLst/>
              <a:ahLst/>
              <a:cxnLst/>
              <a:rect r="r" b="b" t="t" l="l"/>
              <a:pathLst>
                <a:path h="5571617" w="16029687">
                  <a:moveTo>
                    <a:pt x="0" y="0"/>
                  </a:moveTo>
                  <a:lnTo>
                    <a:pt x="16029687" y="0"/>
                  </a:lnTo>
                  <a:lnTo>
                    <a:pt x="16029687" y="5571617"/>
                  </a:lnTo>
                  <a:lnTo>
                    <a:pt x="0" y="557161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sp>
        <p:nvSpPr>
          <p:cNvPr name="TextBox 17" id="17"/>
          <p:cNvSpPr txBox="true"/>
          <p:nvPr/>
        </p:nvSpPr>
        <p:spPr>
          <a:xfrm rot="0">
            <a:off x="6204708" y="51963751"/>
            <a:ext cx="5579152" cy="12214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997"/>
              </a:lnSpc>
            </a:pPr>
            <a:r>
              <a:rPr lang="en-US" sz="7497" b="true">
                <a:solidFill>
                  <a:srgbClr val="373737"/>
                </a:solidFill>
                <a:latin typeface="Poppins Bold"/>
                <a:ea typeface="Poppins Bold"/>
                <a:cs typeface="Poppins Bold"/>
                <a:sym typeface="Poppins Bold"/>
              </a:rPr>
              <a:t>Users table</a:t>
            </a:r>
          </a:p>
        </p:txBody>
      </p:sp>
      <p:grpSp>
        <p:nvGrpSpPr>
          <p:cNvPr name="Group 18" id="18"/>
          <p:cNvGrpSpPr>
            <a:grpSpLocks noChangeAspect="true"/>
          </p:cNvGrpSpPr>
          <p:nvPr/>
        </p:nvGrpSpPr>
        <p:grpSpPr>
          <a:xfrm rot="0">
            <a:off x="2983172" y="53598394"/>
            <a:ext cx="12163256" cy="7915309"/>
            <a:chOff x="0" y="0"/>
            <a:chExt cx="16217675" cy="10553745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6217646" cy="10553700"/>
            </a:xfrm>
            <a:custGeom>
              <a:avLst/>
              <a:gdLst/>
              <a:ahLst/>
              <a:cxnLst/>
              <a:rect r="r" b="b" t="t" l="l"/>
              <a:pathLst>
                <a:path h="10553700" w="16217646">
                  <a:moveTo>
                    <a:pt x="0" y="0"/>
                  </a:moveTo>
                  <a:lnTo>
                    <a:pt x="16217646" y="0"/>
                  </a:lnTo>
                  <a:lnTo>
                    <a:pt x="16217646" y="10553700"/>
                  </a:lnTo>
                  <a:lnTo>
                    <a:pt x="0" y="105537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  <p:sp>
        <p:nvSpPr>
          <p:cNvPr name="TextBox 20" id="20"/>
          <p:cNvSpPr txBox="true"/>
          <p:nvPr/>
        </p:nvSpPr>
        <p:spPr>
          <a:xfrm rot="0">
            <a:off x="5775849" y="62104503"/>
            <a:ext cx="6786453" cy="12214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997"/>
              </a:lnSpc>
            </a:pPr>
            <a:r>
              <a:rPr lang="en-US" sz="7497" b="true">
                <a:solidFill>
                  <a:srgbClr val="373737"/>
                </a:solidFill>
                <a:latin typeface="Poppins Bold"/>
                <a:ea typeface="Poppins Bold"/>
                <a:cs typeface="Poppins Bold"/>
                <a:sym typeface="Poppins Bold"/>
              </a:rPr>
              <a:t>Venues table</a:t>
            </a:r>
          </a:p>
        </p:txBody>
      </p:sp>
      <p:grpSp>
        <p:nvGrpSpPr>
          <p:cNvPr name="Group 21" id="21"/>
          <p:cNvGrpSpPr>
            <a:grpSpLocks noChangeAspect="true"/>
          </p:cNvGrpSpPr>
          <p:nvPr/>
        </p:nvGrpSpPr>
        <p:grpSpPr>
          <a:xfrm rot="0">
            <a:off x="3045490" y="63668216"/>
            <a:ext cx="12197019" cy="11973268"/>
            <a:chOff x="0" y="0"/>
            <a:chExt cx="16262692" cy="15964357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6262731" cy="15964408"/>
            </a:xfrm>
            <a:custGeom>
              <a:avLst/>
              <a:gdLst/>
              <a:ahLst/>
              <a:cxnLst/>
              <a:rect r="r" b="b" t="t" l="l"/>
              <a:pathLst>
                <a:path h="15964408" w="16262731">
                  <a:moveTo>
                    <a:pt x="0" y="0"/>
                  </a:moveTo>
                  <a:lnTo>
                    <a:pt x="16262731" y="0"/>
                  </a:lnTo>
                  <a:lnTo>
                    <a:pt x="16262731" y="15964408"/>
                  </a:lnTo>
                  <a:lnTo>
                    <a:pt x="0" y="1596440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-1173" b="0"/>
              </a:stretch>
            </a:blipFill>
          </p:spPr>
        </p:sp>
      </p:grpSp>
      <p:grpSp>
        <p:nvGrpSpPr>
          <p:cNvPr name="Group 23" id="23"/>
          <p:cNvGrpSpPr>
            <a:grpSpLocks noChangeAspect="true"/>
          </p:cNvGrpSpPr>
          <p:nvPr/>
        </p:nvGrpSpPr>
        <p:grpSpPr>
          <a:xfrm rot="0">
            <a:off x="3728281" y="-2914765"/>
            <a:ext cx="10831437" cy="1638529"/>
            <a:chOff x="0" y="0"/>
            <a:chExt cx="14441916" cy="2184705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4441932" cy="2184654"/>
            </a:xfrm>
            <a:custGeom>
              <a:avLst/>
              <a:gdLst/>
              <a:ahLst/>
              <a:cxnLst/>
              <a:rect r="r" b="b" t="t" l="l"/>
              <a:pathLst>
                <a:path h="2184654" w="14441932">
                  <a:moveTo>
                    <a:pt x="0" y="0"/>
                  </a:moveTo>
                  <a:lnTo>
                    <a:pt x="14441932" y="0"/>
                  </a:lnTo>
                  <a:lnTo>
                    <a:pt x="14441932" y="2184654"/>
                  </a:lnTo>
                  <a:lnTo>
                    <a:pt x="0" y="218465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0" b="-2"/>
              </a:stretch>
            </a:blipFill>
          </p:spPr>
        </p:sp>
      </p:grpSp>
      <p:sp>
        <p:nvSpPr>
          <p:cNvPr name="TextBox 25" id="25"/>
          <p:cNvSpPr txBox="true"/>
          <p:nvPr/>
        </p:nvSpPr>
        <p:spPr>
          <a:xfrm rot="0">
            <a:off x="5196840" y="-4783455"/>
            <a:ext cx="7894321" cy="12214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997"/>
              </a:lnSpc>
            </a:pPr>
            <a:r>
              <a:rPr lang="en-US" sz="7497" b="true">
                <a:solidFill>
                  <a:srgbClr val="373737"/>
                </a:solidFill>
                <a:latin typeface="Poppins Bold"/>
                <a:ea typeface="Poppins Bold"/>
                <a:cs typeface="Poppins Bold"/>
                <a:sym typeface="Poppins Bold"/>
              </a:rPr>
              <a:t>Amenities table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5196835" y="-10269855"/>
            <a:ext cx="7894321" cy="12214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997"/>
              </a:lnSpc>
            </a:pPr>
            <a:r>
              <a:rPr lang="en-US" sz="7497" b="true">
                <a:solidFill>
                  <a:srgbClr val="373737"/>
                </a:solidFill>
                <a:latin typeface="Poppins Bold"/>
                <a:ea typeface="Poppins Bold"/>
                <a:cs typeface="Poppins Bold"/>
                <a:sym typeface="Poppins Bold"/>
              </a:rPr>
              <a:t>Bookings table</a:t>
            </a:r>
          </a:p>
        </p:txBody>
      </p:sp>
      <p:grpSp>
        <p:nvGrpSpPr>
          <p:cNvPr name="Group 27" id="27"/>
          <p:cNvGrpSpPr>
            <a:grpSpLocks noChangeAspect="true"/>
          </p:cNvGrpSpPr>
          <p:nvPr/>
        </p:nvGrpSpPr>
        <p:grpSpPr>
          <a:xfrm rot="0">
            <a:off x="3132882" y="-9002725"/>
            <a:ext cx="12022228" cy="7821116"/>
            <a:chOff x="0" y="0"/>
            <a:chExt cx="16029637" cy="10428155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16029687" cy="10428097"/>
            </a:xfrm>
            <a:custGeom>
              <a:avLst/>
              <a:gdLst/>
              <a:ahLst/>
              <a:cxnLst/>
              <a:rect r="r" b="b" t="t" l="l"/>
              <a:pathLst>
                <a:path h="10428097" w="16029687">
                  <a:moveTo>
                    <a:pt x="0" y="0"/>
                  </a:moveTo>
                  <a:lnTo>
                    <a:pt x="16029687" y="0"/>
                  </a:lnTo>
                  <a:lnTo>
                    <a:pt x="16029687" y="10428097"/>
                  </a:lnTo>
                  <a:lnTo>
                    <a:pt x="0" y="1042809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0" t="0" r="0" b="0"/>
              </a:stretch>
            </a:blipFill>
          </p:spPr>
        </p:sp>
      </p:grpSp>
      <p:sp>
        <p:nvSpPr>
          <p:cNvPr name="TextBox 29" id="29"/>
          <p:cNvSpPr txBox="true"/>
          <p:nvPr/>
        </p:nvSpPr>
        <p:spPr>
          <a:xfrm rot="0">
            <a:off x="5188153" y="-9203055"/>
            <a:ext cx="7894321" cy="12214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997"/>
              </a:lnSpc>
            </a:pPr>
            <a:r>
              <a:rPr lang="en-US" sz="7497" b="true">
                <a:solidFill>
                  <a:srgbClr val="373737"/>
                </a:solidFill>
                <a:latin typeface="Poppins Bold"/>
                <a:ea typeface="Poppins Bold"/>
                <a:cs typeface="Poppins Bold"/>
                <a:sym typeface="Poppins Bold"/>
              </a:rPr>
              <a:t>Facilities  table</a:t>
            </a:r>
          </a:p>
        </p:txBody>
      </p:sp>
      <p:grpSp>
        <p:nvGrpSpPr>
          <p:cNvPr name="Group 30" id="30"/>
          <p:cNvGrpSpPr>
            <a:grpSpLocks noChangeAspect="true"/>
          </p:cNvGrpSpPr>
          <p:nvPr/>
        </p:nvGrpSpPr>
        <p:grpSpPr>
          <a:xfrm rot="0">
            <a:off x="3124200" y="-7440370"/>
            <a:ext cx="12022228" cy="5348508"/>
            <a:chOff x="0" y="0"/>
            <a:chExt cx="16029637" cy="7131344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16029687" cy="7131304"/>
            </a:xfrm>
            <a:custGeom>
              <a:avLst/>
              <a:gdLst/>
              <a:ahLst/>
              <a:cxnLst/>
              <a:rect r="r" b="b" t="t" l="l"/>
              <a:pathLst>
                <a:path h="7131304" w="16029687">
                  <a:moveTo>
                    <a:pt x="0" y="0"/>
                  </a:moveTo>
                  <a:lnTo>
                    <a:pt x="16029687" y="0"/>
                  </a:lnTo>
                  <a:lnTo>
                    <a:pt x="16029687" y="7131304"/>
                  </a:lnTo>
                  <a:lnTo>
                    <a:pt x="0" y="713130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</p:spTree>
  </p:cSld>
  <p:clrMapOvr>
    <a:masterClrMapping/>
  </p:clrMapOvr>
  <p:transition spd="fast">
    <p:fade/>
  </p:transition>
</p:sld>
</file>

<file path=ppt/slides/slide2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5188153" y="-8593455"/>
            <a:ext cx="7894321" cy="12214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997"/>
              </a:lnSpc>
            </a:pPr>
            <a:r>
              <a:rPr lang="en-US" sz="7497" b="true">
                <a:solidFill>
                  <a:srgbClr val="373737"/>
                </a:solidFill>
                <a:latin typeface="Poppins Bold"/>
                <a:ea typeface="Poppins Bold"/>
                <a:cs typeface="Poppins Bold"/>
                <a:sym typeface="Poppins Bold"/>
              </a:rPr>
              <a:t>Facilities  table</a:t>
            </a:r>
          </a:p>
        </p:txBody>
      </p:sp>
      <p:grpSp>
        <p:nvGrpSpPr>
          <p:cNvPr name="Group 3" id="3"/>
          <p:cNvGrpSpPr>
            <a:grpSpLocks noChangeAspect="true"/>
          </p:cNvGrpSpPr>
          <p:nvPr/>
        </p:nvGrpSpPr>
        <p:grpSpPr>
          <a:xfrm rot="0">
            <a:off x="3124200" y="-6830770"/>
            <a:ext cx="12022228" cy="5348508"/>
            <a:chOff x="0" y="0"/>
            <a:chExt cx="16029637" cy="7131344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6029687" cy="7131304"/>
            </a:xfrm>
            <a:custGeom>
              <a:avLst/>
              <a:gdLst/>
              <a:ahLst/>
              <a:cxnLst/>
              <a:rect r="r" b="b" t="t" l="l"/>
              <a:pathLst>
                <a:path h="7131304" w="16029687">
                  <a:moveTo>
                    <a:pt x="0" y="0"/>
                  </a:moveTo>
                  <a:lnTo>
                    <a:pt x="16029687" y="0"/>
                  </a:lnTo>
                  <a:lnTo>
                    <a:pt x="16029687" y="7131304"/>
                  </a:lnTo>
                  <a:lnTo>
                    <a:pt x="0" y="713130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sp>
        <p:nvSpPr>
          <p:cNvPr name="TextBox 5" id="5"/>
          <p:cNvSpPr txBox="true"/>
          <p:nvPr/>
        </p:nvSpPr>
        <p:spPr>
          <a:xfrm rot="0">
            <a:off x="2563591" y="-8060055"/>
            <a:ext cx="13160807" cy="12214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997"/>
              </a:lnSpc>
            </a:pPr>
            <a:r>
              <a:rPr lang="en-US" sz="7497" b="true">
                <a:solidFill>
                  <a:srgbClr val="373737"/>
                </a:solidFill>
                <a:latin typeface="Poppins Bold"/>
                <a:ea typeface="Poppins Bold"/>
                <a:cs typeface="Poppins Bold"/>
                <a:sym typeface="Poppins Bold"/>
              </a:rPr>
              <a:t>Facilities_Amenities  table</a:t>
            </a:r>
          </a:p>
        </p:txBody>
      </p:sp>
      <p:grpSp>
        <p:nvGrpSpPr>
          <p:cNvPr name="Group 6" id="6"/>
          <p:cNvGrpSpPr>
            <a:grpSpLocks noChangeAspect="true"/>
          </p:cNvGrpSpPr>
          <p:nvPr/>
        </p:nvGrpSpPr>
        <p:grpSpPr>
          <a:xfrm rot="0">
            <a:off x="3124200" y="-6605808"/>
            <a:ext cx="12022228" cy="5348508"/>
            <a:chOff x="0" y="0"/>
            <a:chExt cx="16029637" cy="7131344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6029687" cy="7131304"/>
            </a:xfrm>
            <a:custGeom>
              <a:avLst/>
              <a:gdLst/>
              <a:ahLst/>
              <a:cxnLst/>
              <a:rect r="r" b="b" t="t" l="l"/>
              <a:pathLst>
                <a:path h="7131304" w="16029687">
                  <a:moveTo>
                    <a:pt x="0" y="0"/>
                  </a:moveTo>
                  <a:lnTo>
                    <a:pt x="16029687" y="0"/>
                  </a:lnTo>
                  <a:lnTo>
                    <a:pt x="16029687" y="7131304"/>
                  </a:lnTo>
                  <a:lnTo>
                    <a:pt x="0" y="713130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sp>
        <p:nvSpPr>
          <p:cNvPr name="TextBox 8" id="8"/>
          <p:cNvSpPr txBox="true"/>
          <p:nvPr/>
        </p:nvSpPr>
        <p:spPr>
          <a:xfrm rot="0">
            <a:off x="5712873" y="1541145"/>
            <a:ext cx="6912407" cy="12214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997"/>
              </a:lnSpc>
            </a:pPr>
            <a:r>
              <a:rPr lang="en-US" sz="7497" b="true">
                <a:solidFill>
                  <a:srgbClr val="373737"/>
                </a:solidFill>
                <a:latin typeface="Poppins Bold"/>
                <a:ea typeface="Poppins Bold"/>
                <a:cs typeface="Poppins Bold"/>
                <a:sym typeface="Poppins Bold"/>
              </a:rPr>
              <a:t>Reviews table</a:t>
            </a:r>
          </a:p>
        </p:txBody>
      </p:sp>
      <p:grpSp>
        <p:nvGrpSpPr>
          <p:cNvPr name="Group 9" id="9"/>
          <p:cNvGrpSpPr>
            <a:grpSpLocks noChangeAspect="true"/>
          </p:cNvGrpSpPr>
          <p:nvPr/>
        </p:nvGrpSpPr>
        <p:grpSpPr>
          <a:xfrm rot="0">
            <a:off x="3157963" y="3071592"/>
            <a:ext cx="12022228" cy="5348508"/>
            <a:chOff x="0" y="0"/>
            <a:chExt cx="16029637" cy="7131344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6029687" cy="7131304"/>
            </a:xfrm>
            <a:custGeom>
              <a:avLst/>
              <a:gdLst/>
              <a:ahLst/>
              <a:cxnLst/>
              <a:rect r="r" b="b" t="t" l="l"/>
              <a:pathLst>
                <a:path h="7131304" w="16029687">
                  <a:moveTo>
                    <a:pt x="0" y="0"/>
                  </a:moveTo>
                  <a:lnTo>
                    <a:pt x="16029687" y="0"/>
                  </a:lnTo>
                  <a:lnTo>
                    <a:pt x="16029687" y="7131304"/>
                  </a:lnTo>
                  <a:lnTo>
                    <a:pt x="0" y="713130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sp>
        <p:nvSpPr>
          <p:cNvPr name="TextBox 11" id="11"/>
          <p:cNvSpPr txBox="true"/>
          <p:nvPr/>
        </p:nvSpPr>
        <p:spPr>
          <a:xfrm rot="0">
            <a:off x="6034551" y="41615579"/>
            <a:ext cx="6269050" cy="12214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997"/>
              </a:lnSpc>
            </a:pPr>
            <a:r>
              <a:rPr lang="en-US" sz="7497" b="true">
                <a:solidFill>
                  <a:srgbClr val="373737"/>
                </a:solidFill>
                <a:latin typeface="Poppins Bold"/>
                <a:ea typeface="Poppins Bold"/>
                <a:cs typeface="Poppins Bold"/>
                <a:sym typeface="Poppins Bold"/>
              </a:rPr>
              <a:t>Sports table</a:t>
            </a:r>
          </a:p>
        </p:txBody>
      </p:sp>
      <p:grpSp>
        <p:nvGrpSpPr>
          <p:cNvPr name="Group 12" id="12"/>
          <p:cNvGrpSpPr>
            <a:grpSpLocks noChangeAspect="true"/>
          </p:cNvGrpSpPr>
          <p:nvPr/>
        </p:nvGrpSpPr>
        <p:grpSpPr>
          <a:xfrm rot="0">
            <a:off x="3124200" y="43167300"/>
            <a:ext cx="12022228" cy="2289947"/>
            <a:chOff x="0" y="0"/>
            <a:chExt cx="16029637" cy="3053263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6029687" cy="3053207"/>
            </a:xfrm>
            <a:custGeom>
              <a:avLst/>
              <a:gdLst/>
              <a:ahLst/>
              <a:cxnLst/>
              <a:rect r="r" b="b" t="t" l="l"/>
              <a:pathLst>
                <a:path h="3053207" w="16029687">
                  <a:moveTo>
                    <a:pt x="0" y="0"/>
                  </a:moveTo>
                  <a:lnTo>
                    <a:pt x="16029687" y="0"/>
                  </a:lnTo>
                  <a:lnTo>
                    <a:pt x="16029687" y="3053207"/>
                  </a:lnTo>
                  <a:lnTo>
                    <a:pt x="0" y="305320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-1"/>
              </a:stretch>
            </a:blipFill>
          </p:spPr>
        </p:sp>
      </p:grpSp>
      <p:sp>
        <p:nvSpPr>
          <p:cNvPr name="TextBox 14" id="14"/>
          <p:cNvSpPr txBox="true"/>
          <p:nvPr/>
        </p:nvSpPr>
        <p:spPr>
          <a:xfrm rot="0">
            <a:off x="5008780" y="45881025"/>
            <a:ext cx="7971009" cy="12214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997"/>
              </a:lnSpc>
            </a:pPr>
            <a:r>
              <a:rPr lang="en-US" sz="7497" b="true">
                <a:solidFill>
                  <a:srgbClr val="373737"/>
                </a:solidFill>
                <a:latin typeface="Poppins Bold"/>
                <a:ea typeface="Poppins Bold"/>
                <a:cs typeface="Poppins Bold"/>
                <a:sym typeface="Poppins Bold"/>
              </a:rPr>
              <a:t>Time slots table</a:t>
            </a:r>
          </a:p>
        </p:txBody>
      </p:sp>
      <p:grpSp>
        <p:nvGrpSpPr>
          <p:cNvPr name="Group 15" id="15"/>
          <p:cNvGrpSpPr>
            <a:grpSpLocks noChangeAspect="true"/>
          </p:cNvGrpSpPr>
          <p:nvPr/>
        </p:nvGrpSpPr>
        <p:grpSpPr>
          <a:xfrm rot="0">
            <a:off x="2983172" y="47438447"/>
            <a:ext cx="12022227" cy="4178747"/>
            <a:chOff x="0" y="0"/>
            <a:chExt cx="16029636" cy="5571663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6029687" cy="5571617"/>
            </a:xfrm>
            <a:custGeom>
              <a:avLst/>
              <a:gdLst/>
              <a:ahLst/>
              <a:cxnLst/>
              <a:rect r="r" b="b" t="t" l="l"/>
              <a:pathLst>
                <a:path h="5571617" w="16029687">
                  <a:moveTo>
                    <a:pt x="0" y="0"/>
                  </a:moveTo>
                  <a:lnTo>
                    <a:pt x="16029687" y="0"/>
                  </a:lnTo>
                  <a:lnTo>
                    <a:pt x="16029687" y="5571617"/>
                  </a:lnTo>
                  <a:lnTo>
                    <a:pt x="0" y="557161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sp>
        <p:nvSpPr>
          <p:cNvPr name="TextBox 17" id="17"/>
          <p:cNvSpPr txBox="true"/>
          <p:nvPr/>
        </p:nvSpPr>
        <p:spPr>
          <a:xfrm rot="0">
            <a:off x="6204708" y="51963751"/>
            <a:ext cx="5579152" cy="12214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997"/>
              </a:lnSpc>
            </a:pPr>
            <a:r>
              <a:rPr lang="en-US" sz="7497" b="true">
                <a:solidFill>
                  <a:srgbClr val="373737"/>
                </a:solidFill>
                <a:latin typeface="Poppins Bold"/>
                <a:ea typeface="Poppins Bold"/>
                <a:cs typeface="Poppins Bold"/>
                <a:sym typeface="Poppins Bold"/>
              </a:rPr>
              <a:t>Users table</a:t>
            </a:r>
          </a:p>
        </p:txBody>
      </p:sp>
      <p:grpSp>
        <p:nvGrpSpPr>
          <p:cNvPr name="Group 18" id="18"/>
          <p:cNvGrpSpPr>
            <a:grpSpLocks noChangeAspect="true"/>
          </p:cNvGrpSpPr>
          <p:nvPr/>
        </p:nvGrpSpPr>
        <p:grpSpPr>
          <a:xfrm rot="0">
            <a:off x="2983172" y="53598394"/>
            <a:ext cx="12163256" cy="7915309"/>
            <a:chOff x="0" y="0"/>
            <a:chExt cx="16217675" cy="10553745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6217646" cy="10553700"/>
            </a:xfrm>
            <a:custGeom>
              <a:avLst/>
              <a:gdLst/>
              <a:ahLst/>
              <a:cxnLst/>
              <a:rect r="r" b="b" t="t" l="l"/>
              <a:pathLst>
                <a:path h="10553700" w="16217646">
                  <a:moveTo>
                    <a:pt x="0" y="0"/>
                  </a:moveTo>
                  <a:lnTo>
                    <a:pt x="16217646" y="0"/>
                  </a:lnTo>
                  <a:lnTo>
                    <a:pt x="16217646" y="10553700"/>
                  </a:lnTo>
                  <a:lnTo>
                    <a:pt x="0" y="105537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  <p:sp>
        <p:nvSpPr>
          <p:cNvPr name="TextBox 20" id="20"/>
          <p:cNvSpPr txBox="true"/>
          <p:nvPr/>
        </p:nvSpPr>
        <p:spPr>
          <a:xfrm rot="0">
            <a:off x="5775849" y="62104503"/>
            <a:ext cx="6786453" cy="12214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997"/>
              </a:lnSpc>
            </a:pPr>
            <a:r>
              <a:rPr lang="en-US" sz="7497" b="true">
                <a:solidFill>
                  <a:srgbClr val="373737"/>
                </a:solidFill>
                <a:latin typeface="Poppins Bold"/>
                <a:ea typeface="Poppins Bold"/>
                <a:cs typeface="Poppins Bold"/>
                <a:sym typeface="Poppins Bold"/>
              </a:rPr>
              <a:t>Venues table</a:t>
            </a:r>
          </a:p>
        </p:txBody>
      </p:sp>
      <p:grpSp>
        <p:nvGrpSpPr>
          <p:cNvPr name="Group 21" id="21"/>
          <p:cNvGrpSpPr>
            <a:grpSpLocks noChangeAspect="true"/>
          </p:cNvGrpSpPr>
          <p:nvPr/>
        </p:nvGrpSpPr>
        <p:grpSpPr>
          <a:xfrm rot="0">
            <a:off x="3045490" y="63668216"/>
            <a:ext cx="12197019" cy="11973268"/>
            <a:chOff x="0" y="0"/>
            <a:chExt cx="16262692" cy="15964357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6262731" cy="15964408"/>
            </a:xfrm>
            <a:custGeom>
              <a:avLst/>
              <a:gdLst/>
              <a:ahLst/>
              <a:cxnLst/>
              <a:rect r="r" b="b" t="t" l="l"/>
              <a:pathLst>
                <a:path h="15964408" w="16262731">
                  <a:moveTo>
                    <a:pt x="0" y="0"/>
                  </a:moveTo>
                  <a:lnTo>
                    <a:pt x="16262731" y="0"/>
                  </a:lnTo>
                  <a:lnTo>
                    <a:pt x="16262731" y="15964408"/>
                  </a:lnTo>
                  <a:lnTo>
                    <a:pt x="0" y="1596440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-1173" b="0"/>
              </a:stretch>
            </a:blipFill>
          </p:spPr>
        </p:sp>
      </p:grpSp>
      <p:grpSp>
        <p:nvGrpSpPr>
          <p:cNvPr name="Group 23" id="23"/>
          <p:cNvGrpSpPr>
            <a:grpSpLocks noChangeAspect="true"/>
          </p:cNvGrpSpPr>
          <p:nvPr/>
        </p:nvGrpSpPr>
        <p:grpSpPr>
          <a:xfrm rot="0">
            <a:off x="3728281" y="-2914765"/>
            <a:ext cx="10831437" cy="1638529"/>
            <a:chOff x="0" y="0"/>
            <a:chExt cx="14441916" cy="2184705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4441932" cy="2184654"/>
            </a:xfrm>
            <a:custGeom>
              <a:avLst/>
              <a:gdLst/>
              <a:ahLst/>
              <a:cxnLst/>
              <a:rect r="r" b="b" t="t" l="l"/>
              <a:pathLst>
                <a:path h="2184654" w="14441932">
                  <a:moveTo>
                    <a:pt x="0" y="0"/>
                  </a:moveTo>
                  <a:lnTo>
                    <a:pt x="14441932" y="0"/>
                  </a:lnTo>
                  <a:lnTo>
                    <a:pt x="14441932" y="2184654"/>
                  </a:lnTo>
                  <a:lnTo>
                    <a:pt x="0" y="218465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0" b="-2"/>
              </a:stretch>
            </a:blipFill>
          </p:spPr>
        </p:sp>
      </p:grpSp>
      <p:sp>
        <p:nvSpPr>
          <p:cNvPr name="TextBox 25" id="25"/>
          <p:cNvSpPr txBox="true"/>
          <p:nvPr/>
        </p:nvSpPr>
        <p:spPr>
          <a:xfrm rot="0">
            <a:off x="5196840" y="-4783455"/>
            <a:ext cx="7894321" cy="12214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997"/>
              </a:lnSpc>
            </a:pPr>
            <a:r>
              <a:rPr lang="en-US" sz="7497" b="true">
                <a:solidFill>
                  <a:srgbClr val="373737"/>
                </a:solidFill>
                <a:latin typeface="Poppins Bold"/>
                <a:ea typeface="Poppins Bold"/>
                <a:cs typeface="Poppins Bold"/>
                <a:sym typeface="Poppins Bold"/>
              </a:rPr>
              <a:t>Amenities table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5196835" y="-10269855"/>
            <a:ext cx="7894321" cy="12214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997"/>
              </a:lnSpc>
            </a:pPr>
            <a:r>
              <a:rPr lang="en-US" sz="7497" b="true">
                <a:solidFill>
                  <a:srgbClr val="373737"/>
                </a:solidFill>
                <a:latin typeface="Poppins Bold"/>
                <a:ea typeface="Poppins Bold"/>
                <a:cs typeface="Poppins Bold"/>
                <a:sym typeface="Poppins Bold"/>
              </a:rPr>
              <a:t>Bookings table</a:t>
            </a:r>
          </a:p>
        </p:txBody>
      </p:sp>
      <p:grpSp>
        <p:nvGrpSpPr>
          <p:cNvPr name="Group 27" id="27"/>
          <p:cNvGrpSpPr>
            <a:grpSpLocks noChangeAspect="true"/>
          </p:cNvGrpSpPr>
          <p:nvPr/>
        </p:nvGrpSpPr>
        <p:grpSpPr>
          <a:xfrm rot="0">
            <a:off x="3132882" y="-9002725"/>
            <a:ext cx="12022228" cy="7821116"/>
            <a:chOff x="0" y="0"/>
            <a:chExt cx="16029637" cy="10428155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16029687" cy="10428097"/>
            </a:xfrm>
            <a:custGeom>
              <a:avLst/>
              <a:gdLst/>
              <a:ahLst/>
              <a:cxnLst/>
              <a:rect r="r" b="b" t="t" l="l"/>
              <a:pathLst>
                <a:path h="10428097" w="16029687">
                  <a:moveTo>
                    <a:pt x="0" y="0"/>
                  </a:moveTo>
                  <a:lnTo>
                    <a:pt x="16029687" y="0"/>
                  </a:lnTo>
                  <a:lnTo>
                    <a:pt x="16029687" y="10428097"/>
                  </a:lnTo>
                  <a:lnTo>
                    <a:pt x="0" y="1042809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0" t="0" r="0" b="0"/>
              </a:stretch>
            </a:blipFill>
          </p:spPr>
        </p:sp>
      </p:grpSp>
      <p:sp>
        <p:nvSpPr>
          <p:cNvPr name="TextBox 29" id="29"/>
          <p:cNvSpPr txBox="true"/>
          <p:nvPr/>
        </p:nvSpPr>
        <p:spPr>
          <a:xfrm rot="0">
            <a:off x="5188153" y="-9203055"/>
            <a:ext cx="7894321" cy="12214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997"/>
              </a:lnSpc>
            </a:pPr>
            <a:r>
              <a:rPr lang="en-US" sz="7497" b="true">
                <a:solidFill>
                  <a:srgbClr val="373737"/>
                </a:solidFill>
                <a:latin typeface="Poppins Bold"/>
                <a:ea typeface="Poppins Bold"/>
                <a:cs typeface="Poppins Bold"/>
                <a:sym typeface="Poppins Bold"/>
              </a:rPr>
              <a:t>Facilities  table</a:t>
            </a:r>
          </a:p>
        </p:txBody>
      </p:sp>
      <p:grpSp>
        <p:nvGrpSpPr>
          <p:cNvPr name="Group 30" id="30"/>
          <p:cNvGrpSpPr>
            <a:grpSpLocks noChangeAspect="true"/>
          </p:cNvGrpSpPr>
          <p:nvPr/>
        </p:nvGrpSpPr>
        <p:grpSpPr>
          <a:xfrm rot="0">
            <a:off x="3124200" y="-7440370"/>
            <a:ext cx="12022228" cy="5348508"/>
            <a:chOff x="0" y="0"/>
            <a:chExt cx="16029637" cy="7131344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16029687" cy="7131304"/>
            </a:xfrm>
            <a:custGeom>
              <a:avLst/>
              <a:gdLst/>
              <a:ahLst/>
              <a:cxnLst/>
              <a:rect r="r" b="b" t="t" l="l"/>
              <a:pathLst>
                <a:path h="7131304" w="16029687">
                  <a:moveTo>
                    <a:pt x="0" y="0"/>
                  </a:moveTo>
                  <a:lnTo>
                    <a:pt x="16029687" y="0"/>
                  </a:lnTo>
                  <a:lnTo>
                    <a:pt x="16029687" y="7131304"/>
                  </a:lnTo>
                  <a:lnTo>
                    <a:pt x="0" y="713130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</p:spTree>
  </p:cSld>
  <p:clrMapOvr>
    <a:masterClrMapping/>
  </p:clrMapOvr>
  <p:transition spd="fast">
    <p:fade/>
  </p:transition>
</p:sld>
</file>

<file path=ppt/slides/slide2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5188153" y="-8593455"/>
            <a:ext cx="7894321" cy="12214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997"/>
              </a:lnSpc>
            </a:pPr>
            <a:r>
              <a:rPr lang="en-US" sz="7497" b="true">
                <a:solidFill>
                  <a:srgbClr val="373737"/>
                </a:solidFill>
                <a:latin typeface="Poppins Bold"/>
                <a:ea typeface="Poppins Bold"/>
                <a:cs typeface="Poppins Bold"/>
                <a:sym typeface="Poppins Bold"/>
              </a:rPr>
              <a:t>Facilities  table</a:t>
            </a:r>
          </a:p>
        </p:txBody>
      </p:sp>
      <p:grpSp>
        <p:nvGrpSpPr>
          <p:cNvPr name="Group 3" id="3"/>
          <p:cNvGrpSpPr>
            <a:grpSpLocks noChangeAspect="true"/>
          </p:cNvGrpSpPr>
          <p:nvPr/>
        </p:nvGrpSpPr>
        <p:grpSpPr>
          <a:xfrm rot="0">
            <a:off x="3124200" y="-6830770"/>
            <a:ext cx="12022228" cy="5348508"/>
            <a:chOff x="0" y="0"/>
            <a:chExt cx="16029637" cy="7131344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6029687" cy="7131304"/>
            </a:xfrm>
            <a:custGeom>
              <a:avLst/>
              <a:gdLst/>
              <a:ahLst/>
              <a:cxnLst/>
              <a:rect r="r" b="b" t="t" l="l"/>
              <a:pathLst>
                <a:path h="7131304" w="16029687">
                  <a:moveTo>
                    <a:pt x="0" y="0"/>
                  </a:moveTo>
                  <a:lnTo>
                    <a:pt x="16029687" y="0"/>
                  </a:lnTo>
                  <a:lnTo>
                    <a:pt x="16029687" y="7131304"/>
                  </a:lnTo>
                  <a:lnTo>
                    <a:pt x="0" y="713130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sp>
        <p:nvSpPr>
          <p:cNvPr name="TextBox 5" id="5"/>
          <p:cNvSpPr txBox="true"/>
          <p:nvPr/>
        </p:nvSpPr>
        <p:spPr>
          <a:xfrm rot="0">
            <a:off x="2563591" y="-8060055"/>
            <a:ext cx="13160807" cy="12214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997"/>
              </a:lnSpc>
            </a:pPr>
            <a:r>
              <a:rPr lang="en-US" sz="7497" b="true">
                <a:solidFill>
                  <a:srgbClr val="373737"/>
                </a:solidFill>
                <a:latin typeface="Poppins Bold"/>
                <a:ea typeface="Poppins Bold"/>
                <a:cs typeface="Poppins Bold"/>
                <a:sym typeface="Poppins Bold"/>
              </a:rPr>
              <a:t>Facilities_Amenities  table</a:t>
            </a:r>
          </a:p>
        </p:txBody>
      </p:sp>
      <p:grpSp>
        <p:nvGrpSpPr>
          <p:cNvPr name="Group 6" id="6"/>
          <p:cNvGrpSpPr>
            <a:grpSpLocks noChangeAspect="true"/>
          </p:cNvGrpSpPr>
          <p:nvPr/>
        </p:nvGrpSpPr>
        <p:grpSpPr>
          <a:xfrm rot="0">
            <a:off x="3124200" y="-6605808"/>
            <a:ext cx="12022228" cy="5348508"/>
            <a:chOff x="0" y="0"/>
            <a:chExt cx="16029637" cy="7131344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6029687" cy="7131304"/>
            </a:xfrm>
            <a:custGeom>
              <a:avLst/>
              <a:gdLst/>
              <a:ahLst/>
              <a:cxnLst/>
              <a:rect r="r" b="b" t="t" l="l"/>
              <a:pathLst>
                <a:path h="7131304" w="16029687">
                  <a:moveTo>
                    <a:pt x="0" y="0"/>
                  </a:moveTo>
                  <a:lnTo>
                    <a:pt x="16029687" y="0"/>
                  </a:lnTo>
                  <a:lnTo>
                    <a:pt x="16029687" y="7131304"/>
                  </a:lnTo>
                  <a:lnTo>
                    <a:pt x="0" y="713130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sp>
        <p:nvSpPr>
          <p:cNvPr name="TextBox 8" id="8"/>
          <p:cNvSpPr txBox="true"/>
          <p:nvPr/>
        </p:nvSpPr>
        <p:spPr>
          <a:xfrm rot="0">
            <a:off x="5712873" y="-8136255"/>
            <a:ext cx="6912407" cy="12214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997"/>
              </a:lnSpc>
            </a:pPr>
            <a:r>
              <a:rPr lang="en-US" sz="7497" b="true">
                <a:solidFill>
                  <a:srgbClr val="373737"/>
                </a:solidFill>
                <a:latin typeface="Poppins Bold"/>
                <a:ea typeface="Poppins Bold"/>
                <a:cs typeface="Poppins Bold"/>
                <a:sym typeface="Poppins Bold"/>
              </a:rPr>
              <a:t>Reviews table</a:t>
            </a:r>
          </a:p>
        </p:txBody>
      </p:sp>
      <p:grpSp>
        <p:nvGrpSpPr>
          <p:cNvPr name="Group 9" id="9"/>
          <p:cNvGrpSpPr>
            <a:grpSpLocks noChangeAspect="true"/>
          </p:cNvGrpSpPr>
          <p:nvPr/>
        </p:nvGrpSpPr>
        <p:grpSpPr>
          <a:xfrm rot="0">
            <a:off x="3157963" y="-6605808"/>
            <a:ext cx="12022228" cy="5348508"/>
            <a:chOff x="0" y="0"/>
            <a:chExt cx="16029637" cy="7131344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6029687" cy="7131304"/>
            </a:xfrm>
            <a:custGeom>
              <a:avLst/>
              <a:gdLst/>
              <a:ahLst/>
              <a:cxnLst/>
              <a:rect r="r" b="b" t="t" l="l"/>
              <a:pathLst>
                <a:path h="7131304" w="16029687">
                  <a:moveTo>
                    <a:pt x="0" y="0"/>
                  </a:moveTo>
                  <a:lnTo>
                    <a:pt x="16029687" y="0"/>
                  </a:lnTo>
                  <a:lnTo>
                    <a:pt x="16029687" y="7131304"/>
                  </a:lnTo>
                  <a:lnTo>
                    <a:pt x="0" y="713130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sp>
        <p:nvSpPr>
          <p:cNvPr name="TextBox 11" id="11"/>
          <p:cNvSpPr txBox="true"/>
          <p:nvPr/>
        </p:nvSpPr>
        <p:spPr>
          <a:xfrm rot="0">
            <a:off x="6034551" y="2978232"/>
            <a:ext cx="6269050" cy="12214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997"/>
              </a:lnSpc>
            </a:pPr>
            <a:r>
              <a:rPr lang="en-US" sz="7497" b="true">
                <a:solidFill>
                  <a:srgbClr val="373737"/>
                </a:solidFill>
                <a:latin typeface="Poppins Bold"/>
                <a:ea typeface="Poppins Bold"/>
                <a:cs typeface="Poppins Bold"/>
                <a:sym typeface="Poppins Bold"/>
              </a:rPr>
              <a:t>Sports table</a:t>
            </a:r>
          </a:p>
        </p:txBody>
      </p:sp>
      <p:grpSp>
        <p:nvGrpSpPr>
          <p:cNvPr name="Group 12" id="12"/>
          <p:cNvGrpSpPr>
            <a:grpSpLocks noChangeAspect="true"/>
          </p:cNvGrpSpPr>
          <p:nvPr/>
        </p:nvGrpSpPr>
        <p:grpSpPr>
          <a:xfrm rot="0">
            <a:off x="3124200" y="4529953"/>
            <a:ext cx="12022228" cy="2289947"/>
            <a:chOff x="0" y="0"/>
            <a:chExt cx="16029637" cy="3053263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6029687" cy="3053207"/>
            </a:xfrm>
            <a:custGeom>
              <a:avLst/>
              <a:gdLst/>
              <a:ahLst/>
              <a:cxnLst/>
              <a:rect r="r" b="b" t="t" l="l"/>
              <a:pathLst>
                <a:path h="3053207" w="16029687">
                  <a:moveTo>
                    <a:pt x="0" y="0"/>
                  </a:moveTo>
                  <a:lnTo>
                    <a:pt x="16029687" y="0"/>
                  </a:lnTo>
                  <a:lnTo>
                    <a:pt x="16029687" y="3053207"/>
                  </a:lnTo>
                  <a:lnTo>
                    <a:pt x="0" y="305320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-1"/>
              </a:stretch>
            </a:blipFill>
          </p:spPr>
        </p:sp>
      </p:grpSp>
      <p:sp>
        <p:nvSpPr>
          <p:cNvPr name="TextBox 14" id="14"/>
          <p:cNvSpPr txBox="true"/>
          <p:nvPr/>
        </p:nvSpPr>
        <p:spPr>
          <a:xfrm rot="0">
            <a:off x="5008780" y="45881025"/>
            <a:ext cx="7971009" cy="12214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997"/>
              </a:lnSpc>
            </a:pPr>
            <a:r>
              <a:rPr lang="en-US" sz="7497" b="true">
                <a:solidFill>
                  <a:srgbClr val="373737"/>
                </a:solidFill>
                <a:latin typeface="Poppins Bold"/>
                <a:ea typeface="Poppins Bold"/>
                <a:cs typeface="Poppins Bold"/>
                <a:sym typeface="Poppins Bold"/>
              </a:rPr>
              <a:t>Time slots table</a:t>
            </a:r>
          </a:p>
        </p:txBody>
      </p:sp>
      <p:grpSp>
        <p:nvGrpSpPr>
          <p:cNvPr name="Group 15" id="15"/>
          <p:cNvGrpSpPr>
            <a:grpSpLocks noChangeAspect="true"/>
          </p:cNvGrpSpPr>
          <p:nvPr/>
        </p:nvGrpSpPr>
        <p:grpSpPr>
          <a:xfrm rot="0">
            <a:off x="2983172" y="47438447"/>
            <a:ext cx="12022227" cy="4178747"/>
            <a:chOff x="0" y="0"/>
            <a:chExt cx="16029636" cy="5571663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6029687" cy="5571617"/>
            </a:xfrm>
            <a:custGeom>
              <a:avLst/>
              <a:gdLst/>
              <a:ahLst/>
              <a:cxnLst/>
              <a:rect r="r" b="b" t="t" l="l"/>
              <a:pathLst>
                <a:path h="5571617" w="16029687">
                  <a:moveTo>
                    <a:pt x="0" y="0"/>
                  </a:moveTo>
                  <a:lnTo>
                    <a:pt x="16029687" y="0"/>
                  </a:lnTo>
                  <a:lnTo>
                    <a:pt x="16029687" y="5571617"/>
                  </a:lnTo>
                  <a:lnTo>
                    <a:pt x="0" y="557161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sp>
        <p:nvSpPr>
          <p:cNvPr name="TextBox 17" id="17"/>
          <p:cNvSpPr txBox="true"/>
          <p:nvPr/>
        </p:nvSpPr>
        <p:spPr>
          <a:xfrm rot="0">
            <a:off x="6204708" y="51963751"/>
            <a:ext cx="5579152" cy="12214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997"/>
              </a:lnSpc>
            </a:pPr>
            <a:r>
              <a:rPr lang="en-US" sz="7497" b="true">
                <a:solidFill>
                  <a:srgbClr val="373737"/>
                </a:solidFill>
                <a:latin typeface="Poppins Bold"/>
                <a:ea typeface="Poppins Bold"/>
                <a:cs typeface="Poppins Bold"/>
                <a:sym typeface="Poppins Bold"/>
              </a:rPr>
              <a:t>Users table</a:t>
            </a:r>
          </a:p>
        </p:txBody>
      </p:sp>
      <p:grpSp>
        <p:nvGrpSpPr>
          <p:cNvPr name="Group 18" id="18"/>
          <p:cNvGrpSpPr>
            <a:grpSpLocks noChangeAspect="true"/>
          </p:cNvGrpSpPr>
          <p:nvPr/>
        </p:nvGrpSpPr>
        <p:grpSpPr>
          <a:xfrm rot="0">
            <a:off x="2983172" y="53598394"/>
            <a:ext cx="12163256" cy="7915309"/>
            <a:chOff x="0" y="0"/>
            <a:chExt cx="16217675" cy="10553745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6217646" cy="10553700"/>
            </a:xfrm>
            <a:custGeom>
              <a:avLst/>
              <a:gdLst/>
              <a:ahLst/>
              <a:cxnLst/>
              <a:rect r="r" b="b" t="t" l="l"/>
              <a:pathLst>
                <a:path h="10553700" w="16217646">
                  <a:moveTo>
                    <a:pt x="0" y="0"/>
                  </a:moveTo>
                  <a:lnTo>
                    <a:pt x="16217646" y="0"/>
                  </a:lnTo>
                  <a:lnTo>
                    <a:pt x="16217646" y="10553700"/>
                  </a:lnTo>
                  <a:lnTo>
                    <a:pt x="0" y="105537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  <p:sp>
        <p:nvSpPr>
          <p:cNvPr name="TextBox 20" id="20"/>
          <p:cNvSpPr txBox="true"/>
          <p:nvPr/>
        </p:nvSpPr>
        <p:spPr>
          <a:xfrm rot="0">
            <a:off x="5775849" y="62104503"/>
            <a:ext cx="6786453" cy="12214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997"/>
              </a:lnSpc>
            </a:pPr>
            <a:r>
              <a:rPr lang="en-US" sz="7497" b="true">
                <a:solidFill>
                  <a:srgbClr val="373737"/>
                </a:solidFill>
                <a:latin typeface="Poppins Bold"/>
                <a:ea typeface="Poppins Bold"/>
                <a:cs typeface="Poppins Bold"/>
                <a:sym typeface="Poppins Bold"/>
              </a:rPr>
              <a:t>Venues table</a:t>
            </a:r>
          </a:p>
        </p:txBody>
      </p:sp>
      <p:grpSp>
        <p:nvGrpSpPr>
          <p:cNvPr name="Group 21" id="21"/>
          <p:cNvGrpSpPr>
            <a:grpSpLocks noChangeAspect="true"/>
          </p:cNvGrpSpPr>
          <p:nvPr/>
        </p:nvGrpSpPr>
        <p:grpSpPr>
          <a:xfrm rot="0">
            <a:off x="3045490" y="63668216"/>
            <a:ext cx="12197019" cy="11973268"/>
            <a:chOff x="0" y="0"/>
            <a:chExt cx="16262692" cy="15964357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6262731" cy="15964408"/>
            </a:xfrm>
            <a:custGeom>
              <a:avLst/>
              <a:gdLst/>
              <a:ahLst/>
              <a:cxnLst/>
              <a:rect r="r" b="b" t="t" l="l"/>
              <a:pathLst>
                <a:path h="15964408" w="16262731">
                  <a:moveTo>
                    <a:pt x="0" y="0"/>
                  </a:moveTo>
                  <a:lnTo>
                    <a:pt x="16262731" y="0"/>
                  </a:lnTo>
                  <a:lnTo>
                    <a:pt x="16262731" y="15964408"/>
                  </a:lnTo>
                  <a:lnTo>
                    <a:pt x="0" y="1596440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-1173" b="0"/>
              </a:stretch>
            </a:blipFill>
          </p:spPr>
        </p:sp>
      </p:grpSp>
      <p:grpSp>
        <p:nvGrpSpPr>
          <p:cNvPr name="Group 23" id="23"/>
          <p:cNvGrpSpPr>
            <a:grpSpLocks noChangeAspect="true"/>
          </p:cNvGrpSpPr>
          <p:nvPr/>
        </p:nvGrpSpPr>
        <p:grpSpPr>
          <a:xfrm rot="0">
            <a:off x="3728281" y="-2914765"/>
            <a:ext cx="10831437" cy="1638529"/>
            <a:chOff x="0" y="0"/>
            <a:chExt cx="14441916" cy="2184705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4441932" cy="2184654"/>
            </a:xfrm>
            <a:custGeom>
              <a:avLst/>
              <a:gdLst/>
              <a:ahLst/>
              <a:cxnLst/>
              <a:rect r="r" b="b" t="t" l="l"/>
              <a:pathLst>
                <a:path h="2184654" w="14441932">
                  <a:moveTo>
                    <a:pt x="0" y="0"/>
                  </a:moveTo>
                  <a:lnTo>
                    <a:pt x="14441932" y="0"/>
                  </a:lnTo>
                  <a:lnTo>
                    <a:pt x="14441932" y="2184654"/>
                  </a:lnTo>
                  <a:lnTo>
                    <a:pt x="0" y="218465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0" b="-2"/>
              </a:stretch>
            </a:blipFill>
          </p:spPr>
        </p:sp>
      </p:grpSp>
      <p:sp>
        <p:nvSpPr>
          <p:cNvPr name="TextBox 25" id="25"/>
          <p:cNvSpPr txBox="true"/>
          <p:nvPr/>
        </p:nvSpPr>
        <p:spPr>
          <a:xfrm rot="0">
            <a:off x="5196840" y="-4783455"/>
            <a:ext cx="7894321" cy="12214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997"/>
              </a:lnSpc>
            </a:pPr>
            <a:r>
              <a:rPr lang="en-US" sz="7497" b="true">
                <a:solidFill>
                  <a:srgbClr val="373737"/>
                </a:solidFill>
                <a:latin typeface="Poppins Bold"/>
                <a:ea typeface="Poppins Bold"/>
                <a:cs typeface="Poppins Bold"/>
                <a:sym typeface="Poppins Bold"/>
              </a:rPr>
              <a:t>Amenities table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5196835" y="-10269855"/>
            <a:ext cx="7894321" cy="12214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997"/>
              </a:lnSpc>
            </a:pPr>
            <a:r>
              <a:rPr lang="en-US" sz="7497" b="true">
                <a:solidFill>
                  <a:srgbClr val="373737"/>
                </a:solidFill>
                <a:latin typeface="Poppins Bold"/>
                <a:ea typeface="Poppins Bold"/>
                <a:cs typeface="Poppins Bold"/>
                <a:sym typeface="Poppins Bold"/>
              </a:rPr>
              <a:t>Bookings table</a:t>
            </a:r>
          </a:p>
        </p:txBody>
      </p:sp>
      <p:grpSp>
        <p:nvGrpSpPr>
          <p:cNvPr name="Group 27" id="27"/>
          <p:cNvGrpSpPr>
            <a:grpSpLocks noChangeAspect="true"/>
          </p:cNvGrpSpPr>
          <p:nvPr/>
        </p:nvGrpSpPr>
        <p:grpSpPr>
          <a:xfrm rot="0">
            <a:off x="3132882" y="-9002725"/>
            <a:ext cx="12022228" cy="7821116"/>
            <a:chOff x="0" y="0"/>
            <a:chExt cx="16029637" cy="10428155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16029687" cy="10428097"/>
            </a:xfrm>
            <a:custGeom>
              <a:avLst/>
              <a:gdLst/>
              <a:ahLst/>
              <a:cxnLst/>
              <a:rect r="r" b="b" t="t" l="l"/>
              <a:pathLst>
                <a:path h="10428097" w="16029687">
                  <a:moveTo>
                    <a:pt x="0" y="0"/>
                  </a:moveTo>
                  <a:lnTo>
                    <a:pt x="16029687" y="0"/>
                  </a:lnTo>
                  <a:lnTo>
                    <a:pt x="16029687" y="10428097"/>
                  </a:lnTo>
                  <a:lnTo>
                    <a:pt x="0" y="1042809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0" t="0" r="0" b="0"/>
              </a:stretch>
            </a:blipFill>
          </p:spPr>
        </p:sp>
      </p:grpSp>
      <p:sp>
        <p:nvSpPr>
          <p:cNvPr name="TextBox 29" id="29"/>
          <p:cNvSpPr txBox="true"/>
          <p:nvPr/>
        </p:nvSpPr>
        <p:spPr>
          <a:xfrm rot="0">
            <a:off x="5188153" y="-9203055"/>
            <a:ext cx="7894321" cy="12214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997"/>
              </a:lnSpc>
            </a:pPr>
            <a:r>
              <a:rPr lang="en-US" sz="7497" b="true">
                <a:solidFill>
                  <a:srgbClr val="373737"/>
                </a:solidFill>
                <a:latin typeface="Poppins Bold"/>
                <a:ea typeface="Poppins Bold"/>
                <a:cs typeface="Poppins Bold"/>
                <a:sym typeface="Poppins Bold"/>
              </a:rPr>
              <a:t>Facilities  table</a:t>
            </a:r>
          </a:p>
        </p:txBody>
      </p:sp>
      <p:grpSp>
        <p:nvGrpSpPr>
          <p:cNvPr name="Group 30" id="30"/>
          <p:cNvGrpSpPr>
            <a:grpSpLocks noChangeAspect="true"/>
          </p:cNvGrpSpPr>
          <p:nvPr/>
        </p:nvGrpSpPr>
        <p:grpSpPr>
          <a:xfrm rot="0">
            <a:off x="3124200" y="-7440370"/>
            <a:ext cx="12022228" cy="5348508"/>
            <a:chOff x="0" y="0"/>
            <a:chExt cx="16029637" cy="7131344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16029687" cy="7131304"/>
            </a:xfrm>
            <a:custGeom>
              <a:avLst/>
              <a:gdLst/>
              <a:ahLst/>
              <a:cxnLst/>
              <a:rect r="r" b="b" t="t" l="l"/>
              <a:pathLst>
                <a:path h="7131304" w="16029687">
                  <a:moveTo>
                    <a:pt x="0" y="0"/>
                  </a:moveTo>
                  <a:lnTo>
                    <a:pt x="16029687" y="0"/>
                  </a:lnTo>
                  <a:lnTo>
                    <a:pt x="16029687" y="7131304"/>
                  </a:lnTo>
                  <a:lnTo>
                    <a:pt x="0" y="713130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</p:spTree>
  </p:cSld>
  <p:clrMapOvr>
    <a:masterClrMapping/>
  </p:clrMapOvr>
  <p:transition spd="fast">
    <p:fade/>
  </p:transition>
</p:sld>
</file>

<file path=ppt/slides/slide2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5188153" y="-8593455"/>
            <a:ext cx="7894321" cy="12214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997"/>
              </a:lnSpc>
            </a:pPr>
            <a:r>
              <a:rPr lang="en-US" sz="7497" b="true">
                <a:solidFill>
                  <a:srgbClr val="373737"/>
                </a:solidFill>
                <a:latin typeface="Poppins Bold"/>
                <a:ea typeface="Poppins Bold"/>
                <a:cs typeface="Poppins Bold"/>
                <a:sym typeface="Poppins Bold"/>
              </a:rPr>
              <a:t>Facilities  table</a:t>
            </a:r>
          </a:p>
        </p:txBody>
      </p:sp>
      <p:grpSp>
        <p:nvGrpSpPr>
          <p:cNvPr name="Group 3" id="3"/>
          <p:cNvGrpSpPr>
            <a:grpSpLocks noChangeAspect="true"/>
          </p:cNvGrpSpPr>
          <p:nvPr/>
        </p:nvGrpSpPr>
        <p:grpSpPr>
          <a:xfrm rot="0">
            <a:off x="3124200" y="-6830770"/>
            <a:ext cx="12022228" cy="5348508"/>
            <a:chOff x="0" y="0"/>
            <a:chExt cx="16029637" cy="7131344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6029687" cy="7131304"/>
            </a:xfrm>
            <a:custGeom>
              <a:avLst/>
              <a:gdLst/>
              <a:ahLst/>
              <a:cxnLst/>
              <a:rect r="r" b="b" t="t" l="l"/>
              <a:pathLst>
                <a:path h="7131304" w="16029687">
                  <a:moveTo>
                    <a:pt x="0" y="0"/>
                  </a:moveTo>
                  <a:lnTo>
                    <a:pt x="16029687" y="0"/>
                  </a:lnTo>
                  <a:lnTo>
                    <a:pt x="16029687" y="7131304"/>
                  </a:lnTo>
                  <a:lnTo>
                    <a:pt x="0" y="713130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sp>
        <p:nvSpPr>
          <p:cNvPr name="TextBox 5" id="5"/>
          <p:cNvSpPr txBox="true"/>
          <p:nvPr/>
        </p:nvSpPr>
        <p:spPr>
          <a:xfrm rot="0">
            <a:off x="2563591" y="-8060055"/>
            <a:ext cx="13160807" cy="12214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997"/>
              </a:lnSpc>
            </a:pPr>
            <a:r>
              <a:rPr lang="en-US" sz="7497" b="true">
                <a:solidFill>
                  <a:srgbClr val="373737"/>
                </a:solidFill>
                <a:latin typeface="Poppins Bold"/>
                <a:ea typeface="Poppins Bold"/>
                <a:cs typeface="Poppins Bold"/>
                <a:sym typeface="Poppins Bold"/>
              </a:rPr>
              <a:t>Facilities_Amenities  table</a:t>
            </a:r>
          </a:p>
        </p:txBody>
      </p:sp>
      <p:grpSp>
        <p:nvGrpSpPr>
          <p:cNvPr name="Group 6" id="6"/>
          <p:cNvGrpSpPr>
            <a:grpSpLocks noChangeAspect="true"/>
          </p:cNvGrpSpPr>
          <p:nvPr/>
        </p:nvGrpSpPr>
        <p:grpSpPr>
          <a:xfrm rot="0">
            <a:off x="3124200" y="-6605808"/>
            <a:ext cx="12022228" cy="5348508"/>
            <a:chOff x="0" y="0"/>
            <a:chExt cx="16029637" cy="7131344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6029687" cy="7131304"/>
            </a:xfrm>
            <a:custGeom>
              <a:avLst/>
              <a:gdLst/>
              <a:ahLst/>
              <a:cxnLst/>
              <a:rect r="r" b="b" t="t" l="l"/>
              <a:pathLst>
                <a:path h="7131304" w="16029687">
                  <a:moveTo>
                    <a:pt x="0" y="0"/>
                  </a:moveTo>
                  <a:lnTo>
                    <a:pt x="16029687" y="0"/>
                  </a:lnTo>
                  <a:lnTo>
                    <a:pt x="16029687" y="7131304"/>
                  </a:lnTo>
                  <a:lnTo>
                    <a:pt x="0" y="713130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sp>
        <p:nvSpPr>
          <p:cNvPr name="TextBox 8" id="8"/>
          <p:cNvSpPr txBox="true"/>
          <p:nvPr/>
        </p:nvSpPr>
        <p:spPr>
          <a:xfrm rot="0">
            <a:off x="5712873" y="-8136255"/>
            <a:ext cx="6912407" cy="12214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997"/>
              </a:lnSpc>
            </a:pPr>
            <a:r>
              <a:rPr lang="en-US" sz="7497" b="true">
                <a:solidFill>
                  <a:srgbClr val="373737"/>
                </a:solidFill>
                <a:latin typeface="Poppins Bold"/>
                <a:ea typeface="Poppins Bold"/>
                <a:cs typeface="Poppins Bold"/>
                <a:sym typeface="Poppins Bold"/>
              </a:rPr>
              <a:t>Reviews table</a:t>
            </a:r>
          </a:p>
        </p:txBody>
      </p:sp>
      <p:grpSp>
        <p:nvGrpSpPr>
          <p:cNvPr name="Group 9" id="9"/>
          <p:cNvGrpSpPr>
            <a:grpSpLocks noChangeAspect="true"/>
          </p:cNvGrpSpPr>
          <p:nvPr/>
        </p:nvGrpSpPr>
        <p:grpSpPr>
          <a:xfrm rot="0">
            <a:off x="3157963" y="-6605808"/>
            <a:ext cx="12022228" cy="5348508"/>
            <a:chOff x="0" y="0"/>
            <a:chExt cx="16029637" cy="7131344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6029687" cy="7131304"/>
            </a:xfrm>
            <a:custGeom>
              <a:avLst/>
              <a:gdLst/>
              <a:ahLst/>
              <a:cxnLst/>
              <a:rect r="r" b="b" t="t" l="l"/>
              <a:pathLst>
                <a:path h="7131304" w="16029687">
                  <a:moveTo>
                    <a:pt x="0" y="0"/>
                  </a:moveTo>
                  <a:lnTo>
                    <a:pt x="16029687" y="0"/>
                  </a:lnTo>
                  <a:lnTo>
                    <a:pt x="16029687" y="7131304"/>
                  </a:lnTo>
                  <a:lnTo>
                    <a:pt x="0" y="713130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sp>
        <p:nvSpPr>
          <p:cNvPr name="TextBox 11" id="11"/>
          <p:cNvSpPr txBox="true"/>
          <p:nvPr/>
        </p:nvSpPr>
        <p:spPr>
          <a:xfrm rot="0">
            <a:off x="6034551" y="-5556168"/>
            <a:ext cx="6269050" cy="12214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997"/>
              </a:lnSpc>
            </a:pPr>
            <a:r>
              <a:rPr lang="en-US" sz="7497" b="true">
                <a:solidFill>
                  <a:srgbClr val="373737"/>
                </a:solidFill>
                <a:latin typeface="Poppins Bold"/>
                <a:ea typeface="Poppins Bold"/>
                <a:cs typeface="Poppins Bold"/>
                <a:sym typeface="Poppins Bold"/>
              </a:rPr>
              <a:t>Sports table</a:t>
            </a:r>
          </a:p>
        </p:txBody>
      </p:sp>
      <p:grpSp>
        <p:nvGrpSpPr>
          <p:cNvPr name="Group 12" id="12"/>
          <p:cNvGrpSpPr>
            <a:grpSpLocks noChangeAspect="true"/>
          </p:cNvGrpSpPr>
          <p:nvPr/>
        </p:nvGrpSpPr>
        <p:grpSpPr>
          <a:xfrm rot="0">
            <a:off x="3124200" y="-4004447"/>
            <a:ext cx="12022228" cy="2289947"/>
            <a:chOff x="0" y="0"/>
            <a:chExt cx="16029637" cy="3053263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6029687" cy="3053207"/>
            </a:xfrm>
            <a:custGeom>
              <a:avLst/>
              <a:gdLst/>
              <a:ahLst/>
              <a:cxnLst/>
              <a:rect r="r" b="b" t="t" l="l"/>
              <a:pathLst>
                <a:path h="3053207" w="16029687">
                  <a:moveTo>
                    <a:pt x="0" y="0"/>
                  </a:moveTo>
                  <a:lnTo>
                    <a:pt x="16029687" y="0"/>
                  </a:lnTo>
                  <a:lnTo>
                    <a:pt x="16029687" y="3053207"/>
                  </a:lnTo>
                  <a:lnTo>
                    <a:pt x="0" y="305320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-1"/>
              </a:stretch>
            </a:blipFill>
          </p:spPr>
        </p:sp>
      </p:grpSp>
      <p:sp>
        <p:nvSpPr>
          <p:cNvPr name="TextBox 14" id="14"/>
          <p:cNvSpPr txBox="true"/>
          <p:nvPr/>
        </p:nvSpPr>
        <p:spPr>
          <a:xfrm rot="0">
            <a:off x="5008780" y="2303145"/>
            <a:ext cx="7971009" cy="12214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997"/>
              </a:lnSpc>
            </a:pPr>
            <a:r>
              <a:rPr lang="en-US" sz="7497" b="true">
                <a:solidFill>
                  <a:srgbClr val="373737"/>
                </a:solidFill>
                <a:latin typeface="Poppins Bold"/>
                <a:ea typeface="Poppins Bold"/>
                <a:cs typeface="Poppins Bold"/>
                <a:sym typeface="Poppins Bold"/>
              </a:rPr>
              <a:t>Time slots table</a:t>
            </a:r>
          </a:p>
        </p:txBody>
      </p:sp>
      <p:grpSp>
        <p:nvGrpSpPr>
          <p:cNvPr name="Group 15" id="15"/>
          <p:cNvGrpSpPr>
            <a:grpSpLocks noChangeAspect="true"/>
          </p:cNvGrpSpPr>
          <p:nvPr/>
        </p:nvGrpSpPr>
        <p:grpSpPr>
          <a:xfrm rot="0">
            <a:off x="2983172" y="3860567"/>
            <a:ext cx="12022227" cy="4178747"/>
            <a:chOff x="0" y="0"/>
            <a:chExt cx="16029636" cy="5571663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6029687" cy="5571617"/>
            </a:xfrm>
            <a:custGeom>
              <a:avLst/>
              <a:gdLst/>
              <a:ahLst/>
              <a:cxnLst/>
              <a:rect r="r" b="b" t="t" l="l"/>
              <a:pathLst>
                <a:path h="5571617" w="16029687">
                  <a:moveTo>
                    <a:pt x="0" y="0"/>
                  </a:moveTo>
                  <a:lnTo>
                    <a:pt x="16029687" y="0"/>
                  </a:lnTo>
                  <a:lnTo>
                    <a:pt x="16029687" y="5571617"/>
                  </a:lnTo>
                  <a:lnTo>
                    <a:pt x="0" y="557161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sp>
        <p:nvSpPr>
          <p:cNvPr name="TextBox 17" id="17"/>
          <p:cNvSpPr txBox="true"/>
          <p:nvPr/>
        </p:nvSpPr>
        <p:spPr>
          <a:xfrm rot="0">
            <a:off x="6354418" y="12589124"/>
            <a:ext cx="5579152" cy="12214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997"/>
              </a:lnSpc>
            </a:pPr>
            <a:r>
              <a:rPr lang="en-US" sz="7497" b="true">
                <a:solidFill>
                  <a:srgbClr val="373737"/>
                </a:solidFill>
                <a:latin typeface="Poppins Bold"/>
                <a:ea typeface="Poppins Bold"/>
                <a:cs typeface="Poppins Bold"/>
                <a:sym typeface="Poppins Bold"/>
              </a:rPr>
              <a:t>Users table</a:t>
            </a:r>
          </a:p>
        </p:txBody>
      </p:sp>
      <p:grpSp>
        <p:nvGrpSpPr>
          <p:cNvPr name="Group 18" id="18"/>
          <p:cNvGrpSpPr>
            <a:grpSpLocks noChangeAspect="true"/>
          </p:cNvGrpSpPr>
          <p:nvPr/>
        </p:nvGrpSpPr>
        <p:grpSpPr>
          <a:xfrm rot="0">
            <a:off x="3132882" y="14223767"/>
            <a:ext cx="12163256" cy="7915309"/>
            <a:chOff x="0" y="0"/>
            <a:chExt cx="16217675" cy="10553745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6217646" cy="10553700"/>
            </a:xfrm>
            <a:custGeom>
              <a:avLst/>
              <a:gdLst/>
              <a:ahLst/>
              <a:cxnLst/>
              <a:rect r="r" b="b" t="t" l="l"/>
              <a:pathLst>
                <a:path h="10553700" w="16217646">
                  <a:moveTo>
                    <a:pt x="0" y="0"/>
                  </a:moveTo>
                  <a:lnTo>
                    <a:pt x="16217646" y="0"/>
                  </a:lnTo>
                  <a:lnTo>
                    <a:pt x="16217646" y="10553700"/>
                  </a:lnTo>
                  <a:lnTo>
                    <a:pt x="0" y="105537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  <p:sp>
        <p:nvSpPr>
          <p:cNvPr name="TextBox 20" id="20"/>
          <p:cNvSpPr txBox="true"/>
          <p:nvPr/>
        </p:nvSpPr>
        <p:spPr>
          <a:xfrm rot="0">
            <a:off x="5854559" y="20773182"/>
            <a:ext cx="6786453" cy="12214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997"/>
              </a:lnSpc>
            </a:pPr>
            <a:r>
              <a:rPr lang="en-US" sz="7497" b="true">
                <a:solidFill>
                  <a:srgbClr val="373737"/>
                </a:solidFill>
                <a:latin typeface="Poppins Bold"/>
                <a:ea typeface="Poppins Bold"/>
                <a:cs typeface="Poppins Bold"/>
                <a:sym typeface="Poppins Bold"/>
              </a:rPr>
              <a:t>Venues table</a:t>
            </a:r>
          </a:p>
        </p:txBody>
      </p:sp>
      <p:grpSp>
        <p:nvGrpSpPr>
          <p:cNvPr name="Group 21" id="21"/>
          <p:cNvGrpSpPr>
            <a:grpSpLocks noChangeAspect="true"/>
          </p:cNvGrpSpPr>
          <p:nvPr/>
        </p:nvGrpSpPr>
        <p:grpSpPr>
          <a:xfrm rot="0">
            <a:off x="3124200" y="22336895"/>
            <a:ext cx="12197019" cy="11973268"/>
            <a:chOff x="0" y="0"/>
            <a:chExt cx="16262692" cy="15964357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6262731" cy="15964408"/>
            </a:xfrm>
            <a:custGeom>
              <a:avLst/>
              <a:gdLst/>
              <a:ahLst/>
              <a:cxnLst/>
              <a:rect r="r" b="b" t="t" l="l"/>
              <a:pathLst>
                <a:path h="15964408" w="16262731">
                  <a:moveTo>
                    <a:pt x="0" y="0"/>
                  </a:moveTo>
                  <a:lnTo>
                    <a:pt x="16262731" y="0"/>
                  </a:lnTo>
                  <a:lnTo>
                    <a:pt x="16262731" y="15964408"/>
                  </a:lnTo>
                  <a:lnTo>
                    <a:pt x="0" y="1596440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-1173" b="0"/>
              </a:stretch>
            </a:blipFill>
          </p:spPr>
        </p:sp>
      </p:grpSp>
      <p:grpSp>
        <p:nvGrpSpPr>
          <p:cNvPr name="Group 23" id="23"/>
          <p:cNvGrpSpPr>
            <a:grpSpLocks noChangeAspect="true"/>
          </p:cNvGrpSpPr>
          <p:nvPr/>
        </p:nvGrpSpPr>
        <p:grpSpPr>
          <a:xfrm rot="0">
            <a:off x="3728281" y="-2914765"/>
            <a:ext cx="10831437" cy="1638529"/>
            <a:chOff x="0" y="0"/>
            <a:chExt cx="14441916" cy="2184705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4441932" cy="2184654"/>
            </a:xfrm>
            <a:custGeom>
              <a:avLst/>
              <a:gdLst/>
              <a:ahLst/>
              <a:cxnLst/>
              <a:rect r="r" b="b" t="t" l="l"/>
              <a:pathLst>
                <a:path h="2184654" w="14441932">
                  <a:moveTo>
                    <a:pt x="0" y="0"/>
                  </a:moveTo>
                  <a:lnTo>
                    <a:pt x="14441932" y="0"/>
                  </a:lnTo>
                  <a:lnTo>
                    <a:pt x="14441932" y="2184654"/>
                  </a:lnTo>
                  <a:lnTo>
                    <a:pt x="0" y="218465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0" b="-2"/>
              </a:stretch>
            </a:blipFill>
          </p:spPr>
        </p:sp>
      </p:grpSp>
      <p:sp>
        <p:nvSpPr>
          <p:cNvPr name="TextBox 25" id="25"/>
          <p:cNvSpPr txBox="true"/>
          <p:nvPr/>
        </p:nvSpPr>
        <p:spPr>
          <a:xfrm rot="0">
            <a:off x="5196840" y="-4783455"/>
            <a:ext cx="7894321" cy="12214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997"/>
              </a:lnSpc>
            </a:pPr>
            <a:r>
              <a:rPr lang="en-US" sz="7497" b="true">
                <a:solidFill>
                  <a:srgbClr val="373737"/>
                </a:solidFill>
                <a:latin typeface="Poppins Bold"/>
                <a:ea typeface="Poppins Bold"/>
                <a:cs typeface="Poppins Bold"/>
                <a:sym typeface="Poppins Bold"/>
              </a:rPr>
              <a:t>Amenities table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5196835" y="-10269855"/>
            <a:ext cx="7894321" cy="12214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997"/>
              </a:lnSpc>
            </a:pPr>
            <a:r>
              <a:rPr lang="en-US" sz="7497" b="true">
                <a:solidFill>
                  <a:srgbClr val="373737"/>
                </a:solidFill>
                <a:latin typeface="Poppins Bold"/>
                <a:ea typeface="Poppins Bold"/>
                <a:cs typeface="Poppins Bold"/>
                <a:sym typeface="Poppins Bold"/>
              </a:rPr>
              <a:t>Bookings table</a:t>
            </a:r>
          </a:p>
        </p:txBody>
      </p:sp>
      <p:grpSp>
        <p:nvGrpSpPr>
          <p:cNvPr name="Group 27" id="27"/>
          <p:cNvGrpSpPr>
            <a:grpSpLocks noChangeAspect="true"/>
          </p:cNvGrpSpPr>
          <p:nvPr/>
        </p:nvGrpSpPr>
        <p:grpSpPr>
          <a:xfrm rot="0">
            <a:off x="3132882" y="-9002725"/>
            <a:ext cx="12022228" cy="7821116"/>
            <a:chOff x="0" y="0"/>
            <a:chExt cx="16029637" cy="10428155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16029687" cy="10428097"/>
            </a:xfrm>
            <a:custGeom>
              <a:avLst/>
              <a:gdLst/>
              <a:ahLst/>
              <a:cxnLst/>
              <a:rect r="r" b="b" t="t" l="l"/>
              <a:pathLst>
                <a:path h="10428097" w="16029687">
                  <a:moveTo>
                    <a:pt x="0" y="0"/>
                  </a:moveTo>
                  <a:lnTo>
                    <a:pt x="16029687" y="0"/>
                  </a:lnTo>
                  <a:lnTo>
                    <a:pt x="16029687" y="10428097"/>
                  </a:lnTo>
                  <a:lnTo>
                    <a:pt x="0" y="1042809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0" t="0" r="0" b="0"/>
              </a:stretch>
            </a:blipFill>
          </p:spPr>
        </p:sp>
      </p:grpSp>
      <p:sp>
        <p:nvSpPr>
          <p:cNvPr name="TextBox 29" id="29"/>
          <p:cNvSpPr txBox="true"/>
          <p:nvPr/>
        </p:nvSpPr>
        <p:spPr>
          <a:xfrm rot="0">
            <a:off x="5188153" y="-9203055"/>
            <a:ext cx="7894321" cy="12214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997"/>
              </a:lnSpc>
            </a:pPr>
            <a:r>
              <a:rPr lang="en-US" sz="7497" b="true">
                <a:solidFill>
                  <a:srgbClr val="373737"/>
                </a:solidFill>
                <a:latin typeface="Poppins Bold"/>
                <a:ea typeface="Poppins Bold"/>
                <a:cs typeface="Poppins Bold"/>
                <a:sym typeface="Poppins Bold"/>
              </a:rPr>
              <a:t>Facilities  table</a:t>
            </a:r>
          </a:p>
        </p:txBody>
      </p:sp>
      <p:grpSp>
        <p:nvGrpSpPr>
          <p:cNvPr name="Group 30" id="30"/>
          <p:cNvGrpSpPr>
            <a:grpSpLocks noChangeAspect="true"/>
          </p:cNvGrpSpPr>
          <p:nvPr/>
        </p:nvGrpSpPr>
        <p:grpSpPr>
          <a:xfrm rot="0">
            <a:off x="3124200" y="-7440370"/>
            <a:ext cx="12022228" cy="5348508"/>
            <a:chOff x="0" y="0"/>
            <a:chExt cx="16029637" cy="7131344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16029687" cy="7131304"/>
            </a:xfrm>
            <a:custGeom>
              <a:avLst/>
              <a:gdLst/>
              <a:ahLst/>
              <a:cxnLst/>
              <a:rect r="r" b="b" t="t" l="l"/>
              <a:pathLst>
                <a:path h="7131304" w="16029687">
                  <a:moveTo>
                    <a:pt x="0" y="0"/>
                  </a:moveTo>
                  <a:lnTo>
                    <a:pt x="16029687" y="0"/>
                  </a:lnTo>
                  <a:lnTo>
                    <a:pt x="16029687" y="7131304"/>
                  </a:lnTo>
                  <a:lnTo>
                    <a:pt x="0" y="713130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</p:spTree>
  </p:cSld>
  <p:clrMapOvr>
    <a:masterClrMapping/>
  </p:clrMapOvr>
  <p:transition spd="fast">
    <p:fade/>
  </p:transition>
</p:sld>
</file>

<file path=ppt/slides/slide2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5188153" y="-8593455"/>
            <a:ext cx="7894321" cy="12214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997"/>
              </a:lnSpc>
            </a:pPr>
            <a:r>
              <a:rPr lang="en-US" sz="7497" b="true">
                <a:solidFill>
                  <a:srgbClr val="373737"/>
                </a:solidFill>
                <a:latin typeface="Poppins Bold"/>
                <a:ea typeface="Poppins Bold"/>
                <a:cs typeface="Poppins Bold"/>
                <a:sym typeface="Poppins Bold"/>
              </a:rPr>
              <a:t>Facilities  table</a:t>
            </a:r>
          </a:p>
        </p:txBody>
      </p:sp>
      <p:grpSp>
        <p:nvGrpSpPr>
          <p:cNvPr name="Group 3" id="3"/>
          <p:cNvGrpSpPr>
            <a:grpSpLocks noChangeAspect="true"/>
          </p:cNvGrpSpPr>
          <p:nvPr/>
        </p:nvGrpSpPr>
        <p:grpSpPr>
          <a:xfrm rot="0">
            <a:off x="3124200" y="-6830770"/>
            <a:ext cx="12022228" cy="5348508"/>
            <a:chOff x="0" y="0"/>
            <a:chExt cx="16029637" cy="7131344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6029687" cy="7131304"/>
            </a:xfrm>
            <a:custGeom>
              <a:avLst/>
              <a:gdLst/>
              <a:ahLst/>
              <a:cxnLst/>
              <a:rect r="r" b="b" t="t" l="l"/>
              <a:pathLst>
                <a:path h="7131304" w="16029687">
                  <a:moveTo>
                    <a:pt x="0" y="0"/>
                  </a:moveTo>
                  <a:lnTo>
                    <a:pt x="16029687" y="0"/>
                  </a:lnTo>
                  <a:lnTo>
                    <a:pt x="16029687" y="7131304"/>
                  </a:lnTo>
                  <a:lnTo>
                    <a:pt x="0" y="713130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sp>
        <p:nvSpPr>
          <p:cNvPr name="TextBox 5" id="5"/>
          <p:cNvSpPr txBox="true"/>
          <p:nvPr/>
        </p:nvSpPr>
        <p:spPr>
          <a:xfrm rot="0">
            <a:off x="2563591" y="-8060055"/>
            <a:ext cx="13160807" cy="12214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997"/>
              </a:lnSpc>
            </a:pPr>
            <a:r>
              <a:rPr lang="en-US" sz="7497" b="true">
                <a:solidFill>
                  <a:srgbClr val="373737"/>
                </a:solidFill>
                <a:latin typeface="Poppins Bold"/>
                <a:ea typeface="Poppins Bold"/>
                <a:cs typeface="Poppins Bold"/>
                <a:sym typeface="Poppins Bold"/>
              </a:rPr>
              <a:t>Facilities_Amenities  table</a:t>
            </a:r>
          </a:p>
        </p:txBody>
      </p:sp>
      <p:grpSp>
        <p:nvGrpSpPr>
          <p:cNvPr name="Group 6" id="6"/>
          <p:cNvGrpSpPr>
            <a:grpSpLocks noChangeAspect="true"/>
          </p:cNvGrpSpPr>
          <p:nvPr/>
        </p:nvGrpSpPr>
        <p:grpSpPr>
          <a:xfrm rot="0">
            <a:off x="3124200" y="-6605808"/>
            <a:ext cx="12022228" cy="5348508"/>
            <a:chOff x="0" y="0"/>
            <a:chExt cx="16029637" cy="7131344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6029687" cy="7131304"/>
            </a:xfrm>
            <a:custGeom>
              <a:avLst/>
              <a:gdLst/>
              <a:ahLst/>
              <a:cxnLst/>
              <a:rect r="r" b="b" t="t" l="l"/>
              <a:pathLst>
                <a:path h="7131304" w="16029687">
                  <a:moveTo>
                    <a:pt x="0" y="0"/>
                  </a:moveTo>
                  <a:lnTo>
                    <a:pt x="16029687" y="0"/>
                  </a:lnTo>
                  <a:lnTo>
                    <a:pt x="16029687" y="7131304"/>
                  </a:lnTo>
                  <a:lnTo>
                    <a:pt x="0" y="713130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sp>
        <p:nvSpPr>
          <p:cNvPr name="TextBox 8" id="8"/>
          <p:cNvSpPr txBox="true"/>
          <p:nvPr/>
        </p:nvSpPr>
        <p:spPr>
          <a:xfrm rot="0">
            <a:off x="5712873" y="-8136255"/>
            <a:ext cx="6912407" cy="12214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997"/>
              </a:lnSpc>
            </a:pPr>
            <a:r>
              <a:rPr lang="en-US" sz="7497" b="true">
                <a:solidFill>
                  <a:srgbClr val="373737"/>
                </a:solidFill>
                <a:latin typeface="Poppins Bold"/>
                <a:ea typeface="Poppins Bold"/>
                <a:cs typeface="Poppins Bold"/>
                <a:sym typeface="Poppins Bold"/>
              </a:rPr>
              <a:t>Reviews table</a:t>
            </a:r>
          </a:p>
        </p:txBody>
      </p:sp>
      <p:grpSp>
        <p:nvGrpSpPr>
          <p:cNvPr name="Group 9" id="9"/>
          <p:cNvGrpSpPr>
            <a:grpSpLocks noChangeAspect="true"/>
          </p:cNvGrpSpPr>
          <p:nvPr/>
        </p:nvGrpSpPr>
        <p:grpSpPr>
          <a:xfrm rot="0">
            <a:off x="3157963" y="-6605808"/>
            <a:ext cx="12022228" cy="5348508"/>
            <a:chOff x="0" y="0"/>
            <a:chExt cx="16029637" cy="7131344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6029687" cy="7131304"/>
            </a:xfrm>
            <a:custGeom>
              <a:avLst/>
              <a:gdLst/>
              <a:ahLst/>
              <a:cxnLst/>
              <a:rect r="r" b="b" t="t" l="l"/>
              <a:pathLst>
                <a:path h="7131304" w="16029687">
                  <a:moveTo>
                    <a:pt x="0" y="0"/>
                  </a:moveTo>
                  <a:lnTo>
                    <a:pt x="16029687" y="0"/>
                  </a:lnTo>
                  <a:lnTo>
                    <a:pt x="16029687" y="7131304"/>
                  </a:lnTo>
                  <a:lnTo>
                    <a:pt x="0" y="713130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sp>
        <p:nvSpPr>
          <p:cNvPr name="TextBox 11" id="11"/>
          <p:cNvSpPr txBox="true"/>
          <p:nvPr/>
        </p:nvSpPr>
        <p:spPr>
          <a:xfrm rot="0">
            <a:off x="6034551" y="-5556168"/>
            <a:ext cx="6269050" cy="12214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997"/>
              </a:lnSpc>
            </a:pPr>
            <a:r>
              <a:rPr lang="en-US" sz="7497" b="true">
                <a:solidFill>
                  <a:srgbClr val="373737"/>
                </a:solidFill>
                <a:latin typeface="Poppins Bold"/>
                <a:ea typeface="Poppins Bold"/>
                <a:cs typeface="Poppins Bold"/>
                <a:sym typeface="Poppins Bold"/>
              </a:rPr>
              <a:t>Sports table</a:t>
            </a:r>
          </a:p>
        </p:txBody>
      </p:sp>
      <p:grpSp>
        <p:nvGrpSpPr>
          <p:cNvPr name="Group 12" id="12"/>
          <p:cNvGrpSpPr>
            <a:grpSpLocks noChangeAspect="true"/>
          </p:cNvGrpSpPr>
          <p:nvPr/>
        </p:nvGrpSpPr>
        <p:grpSpPr>
          <a:xfrm rot="0">
            <a:off x="3124200" y="-4004447"/>
            <a:ext cx="12022228" cy="2289947"/>
            <a:chOff x="0" y="0"/>
            <a:chExt cx="16029637" cy="3053263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6029687" cy="3053207"/>
            </a:xfrm>
            <a:custGeom>
              <a:avLst/>
              <a:gdLst/>
              <a:ahLst/>
              <a:cxnLst/>
              <a:rect r="r" b="b" t="t" l="l"/>
              <a:pathLst>
                <a:path h="3053207" w="16029687">
                  <a:moveTo>
                    <a:pt x="0" y="0"/>
                  </a:moveTo>
                  <a:lnTo>
                    <a:pt x="16029687" y="0"/>
                  </a:lnTo>
                  <a:lnTo>
                    <a:pt x="16029687" y="3053207"/>
                  </a:lnTo>
                  <a:lnTo>
                    <a:pt x="0" y="305320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-1"/>
              </a:stretch>
            </a:blipFill>
          </p:spPr>
        </p:sp>
      </p:grpSp>
      <p:sp>
        <p:nvSpPr>
          <p:cNvPr name="TextBox 14" id="14"/>
          <p:cNvSpPr txBox="true"/>
          <p:nvPr/>
        </p:nvSpPr>
        <p:spPr>
          <a:xfrm rot="0">
            <a:off x="5008780" y="-7298055"/>
            <a:ext cx="7971009" cy="12214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997"/>
              </a:lnSpc>
            </a:pPr>
            <a:r>
              <a:rPr lang="en-US" sz="7497" b="true">
                <a:solidFill>
                  <a:srgbClr val="373737"/>
                </a:solidFill>
                <a:latin typeface="Poppins Bold"/>
                <a:ea typeface="Poppins Bold"/>
                <a:cs typeface="Poppins Bold"/>
                <a:sym typeface="Poppins Bold"/>
              </a:rPr>
              <a:t>Time slots table</a:t>
            </a:r>
          </a:p>
        </p:txBody>
      </p:sp>
      <p:grpSp>
        <p:nvGrpSpPr>
          <p:cNvPr name="Group 15" id="15"/>
          <p:cNvGrpSpPr>
            <a:grpSpLocks noChangeAspect="true"/>
          </p:cNvGrpSpPr>
          <p:nvPr/>
        </p:nvGrpSpPr>
        <p:grpSpPr>
          <a:xfrm rot="0">
            <a:off x="2983172" y="-5740633"/>
            <a:ext cx="12022227" cy="4178747"/>
            <a:chOff x="0" y="0"/>
            <a:chExt cx="16029636" cy="5571663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6029687" cy="5571617"/>
            </a:xfrm>
            <a:custGeom>
              <a:avLst/>
              <a:gdLst/>
              <a:ahLst/>
              <a:cxnLst/>
              <a:rect r="r" b="b" t="t" l="l"/>
              <a:pathLst>
                <a:path h="5571617" w="16029687">
                  <a:moveTo>
                    <a:pt x="0" y="0"/>
                  </a:moveTo>
                  <a:lnTo>
                    <a:pt x="16029687" y="0"/>
                  </a:lnTo>
                  <a:lnTo>
                    <a:pt x="16029687" y="5571617"/>
                  </a:lnTo>
                  <a:lnTo>
                    <a:pt x="0" y="557161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sp>
        <p:nvSpPr>
          <p:cNvPr name="TextBox 17" id="17"/>
          <p:cNvSpPr txBox="true"/>
          <p:nvPr/>
        </p:nvSpPr>
        <p:spPr>
          <a:xfrm rot="0">
            <a:off x="6204708" y="183001"/>
            <a:ext cx="5579152" cy="12214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997"/>
              </a:lnSpc>
            </a:pPr>
            <a:r>
              <a:rPr lang="en-US" sz="7497" b="true">
                <a:solidFill>
                  <a:srgbClr val="373737"/>
                </a:solidFill>
                <a:latin typeface="Poppins Bold"/>
                <a:ea typeface="Poppins Bold"/>
                <a:cs typeface="Poppins Bold"/>
                <a:sym typeface="Poppins Bold"/>
              </a:rPr>
              <a:t>Users table</a:t>
            </a:r>
          </a:p>
        </p:txBody>
      </p:sp>
      <p:grpSp>
        <p:nvGrpSpPr>
          <p:cNvPr name="Group 18" id="18"/>
          <p:cNvGrpSpPr>
            <a:grpSpLocks noChangeAspect="true"/>
          </p:cNvGrpSpPr>
          <p:nvPr/>
        </p:nvGrpSpPr>
        <p:grpSpPr>
          <a:xfrm rot="0">
            <a:off x="2983172" y="1817644"/>
            <a:ext cx="12163256" cy="7915309"/>
            <a:chOff x="0" y="0"/>
            <a:chExt cx="16217675" cy="10553745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6217646" cy="10553700"/>
            </a:xfrm>
            <a:custGeom>
              <a:avLst/>
              <a:gdLst/>
              <a:ahLst/>
              <a:cxnLst/>
              <a:rect r="r" b="b" t="t" l="l"/>
              <a:pathLst>
                <a:path h="10553700" w="16217646">
                  <a:moveTo>
                    <a:pt x="0" y="0"/>
                  </a:moveTo>
                  <a:lnTo>
                    <a:pt x="16217646" y="0"/>
                  </a:lnTo>
                  <a:lnTo>
                    <a:pt x="16217646" y="10553700"/>
                  </a:lnTo>
                  <a:lnTo>
                    <a:pt x="0" y="105537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  <p:sp>
        <p:nvSpPr>
          <p:cNvPr name="TextBox 20" id="20"/>
          <p:cNvSpPr txBox="true"/>
          <p:nvPr/>
        </p:nvSpPr>
        <p:spPr>
          <a:xfrm rot="0">
            <a:off x="5888322" y="11244184"/>
            <a:ext cx="6786453" cy="12214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997"/>
              </a:lnSpc>
            </a:pPr>
            <a:r>
              <a:rPr lang="en-US" sz="7497" b="true">
                <a:solidFill>
                  <a:srgbClr val="373737"/>
                </a:solidFill>
                <a:latin typeface="Poppins Bold"/>
                <a:ea typeface="Poppins Bold"/>
                <a:cs typeface="Poppins Bold"/>
                <a:sym typeface="Poppins Bold"/>
              </a:rPr>
              <a:t>Venues table</a:t>
            </a:r>
          </a:p>
        </p:txBody>
      </p:sp>
      <p:grpSp>
        <p:nvGrpSpPr>
          <p:cNvPr name="Group 21" id="21"/>
          <p:cNvGrpSpPr>
            <a:grpSpLocks noChangeAspect="true"/>
          </p:cNvGrpSpPr>
          <p:nvPr/>
        </p:nvGrpSpPr>
        <p:grpSpPr>
          <a:xfrm rot="0">
            <a:off x="5066445" y="12694106"/>
            <a:ext cx="8205262" cy="8054738"/>
            <a:chOff x="0" y="0"/>
            <a:chExt cx="10940349" cy="10739651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0940288" cy="10739628"/>
            </a:xfrm>
            <a:custGeom>
              <a:avLst/>
              <a:gdLst/>
              <a:ahLst/>
              <a:cxnLst/>
              <a:rect r="r" b="b" t="t" l="l"/>
              <a:pathLst>
                <a:path h="10739628" w="10940288">
                  <a:moveTo>
                    <a:pt x="0" y="0"/>
                  </a:moveTo>
                  <a:lnTo>
                    <a:pt x="10940288" y="0"/>
                  </a:lnTo>
                  <a:lnTo>
                    <a:pt x="10940288" y="10739628"/>
                  </a:lnTo>
                  <a:lnTo>
                    <a:pt x="0" y="107396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-1174" b="0"/>
              </a:stretch>
            </a:blipFill>
          </p:spPr>
        </p:sp>
      </p:grpSp>
      <p:grpSp>
        <p:nvGrpSpPr>
          <p:cNvPr name="Group 23" id="23"/>
          <p:cNvGrpSpPr>
            <a:grpSpLocks noChangeAspect="true"/>
          </p:cNvGrpSpPr>
          <p:nvPr/>
        </p:nvGrpSpPr>
        <p:grpSpPr>
          <a:xfrm rot="0">
            <a:off x="3728281" y="-2914765"/>
            <a:ext cx="10831437" cy="1638529"/>
            <a:chOff x="0" y="0"/>
            <a:chExt cx="14441916" cy="2184705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4441932" cy="2184654"/>
            </a:xfrm>
            <a:custGeom>
              <a:avLst/>
              <a:gdLst/>
              <a:ahLst/>
              <a:cxnLst/>
              <a:rect r="r" b="b" t="t" l="l"/>
              <a:pathLst>
                <a:path h="2184654" w="14441932">
                  <a:moveTo>
                    <a:pt x="0" y="0"/>
                  </a:moveTo>
                  <a:lnTo>
                    <a:pt x="14441932" y="0"/>
                  </a:lnTo>
                  <a:lnTo>
                    <a:pt x="14441932" y="2184654"/>
                  </a:lnTo>
                  <a:lnTo>
                    <a:pt x="0" y="218465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0" b="-2"/>
              </a:stretch>
            </a:blipFill>
          </p:spPr>
        </p:sp>
      </p:grpSp>
      <p:sp>
        <p:nvSpPr>
          <p:cNvPr name="TextBox 25" id="25"/>
          <p:cNvSpPr txBox="true"/>
          <p:nvPr/>
        </p:nvSpPr>
        <p:spPr>
          <a:xfrm rot="0">
            <a:off x="5196840" y="-4783455"/>
            <a:ext cx="7894321" cy="12214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997"/>
              </a:lnSpc>
            </a:pPr>
            <a:r>
              <a:rPr lang="en-US" sz="7497" b="true">
                <a:solidFill>
                  <a:srgbClr val="373737"/>
                </a:solidFill>
                <a:latin typeface="Poppins Bold"/>
                <a:ea typeface="Poppins Bold"/>
                <a:cs typeface="Poppins Bold"/>
                <a:sym typeface="Poppins Bold"/>
              </a:rPr>
              <a:t>Amenities table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5196835" y="-10269855"/>
            <a:ext cx="7894321" cy="12214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997"/>
              </a:lnSpc>
            </a:pPr>
            <a:r>
              <a:rPr lang="en-US" sz="7497" b="true">
                <a:solidFill>
                  <a:srgbClr val="373737"/>
                </a:solidFill>
                <a:latin typeface="Poppins Bold"/>
                <a:ea typeface="Poppins Bold"/>
                <a:cs typeface="Poppins Bold"/>
                <a:sym typeface="Poppins Bold"/>
              </a:rPr>
              <a:t>Bookings table</a:t>
            </a:r>
          </a:p>
        </p:txBody>
      </p:sp>
      <p:grpSp>
        <p:nvGrpSpPr>
          <p:cNvPr name="Group 27" id="27"/>
          <p:cNvGrpSpPr>
            <a:grpSpLocks noChangeAspect="true"/>
          </p:cNvGrpSpPr>
          <p:nvPr/>
        </p:nvGrpSpPr>
        <p:grpSpPr>
          <a:xfrm rot="0">
            <a:off x="3132882" y="-9002725"/>
            <a:ext cx="12022228" cy="7821116"/>
            <a:chOff x="0" y="0"/>
            <a:chExt cx="16029637" cy="10428155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16029687" cy="10428097"/>
            </a:xfrm>
            <a:custGeom>
              <a:avLst/>
              <a:gdLst/>
              <a:ahLst/>
              <a:cxnLst/>
              <a:rect r="r" b="b" t="t" l="l"/>
              <a:pathLst>
                <a:path h="10428097" w="16029687">
                  <a:moveTo>
                    <a:pt x="0" y="0"/>
                  </a:moveTo>
                  <a:lnTo>
                    <a:pt x="16029687" y="0"/>
                  </a:lnTo>
                  <a:lnTo>
                    <a:pt x="16029687" y="10428097"/>
                  </a:lnTo>
                  <a:lnTo>
                    <a:pt x="0" y="1042809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0" t="0" r="0" b="0"/>
              </a:stretch>
            </a:blipFill>
          </p:spPr>
        </p:sp>
      </p:grpSp>
      <p:sp>
        <p:nvSpPr>
          <p:cNvPr name="TextBox 29" id="29"/>
          <p:cNvSpPr txBox="true"/>
          <p:nvPr/>
        </p:nvSpPr>
        <p:spPr>
          <a:xfrm rot="0">
            <a:off x="5188153" y="-9203055"/>
            <a:ext cx="7894321" cy="12214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997"/>
              </a:lnSpc>
            </a:pPr>
            <a:r>
              <a:rPr lang="en-US" sz="7497" b="true">
                <a:solidFill>
                  <a:srgbClr val="373737"/>
                </a:solidFill>
                <a:latin typeface="Poppins Bold"/>
                <a:ea typeface="Poppins Bold"/>
                <a:cs typeface="Poppins Bold"/>
                <a:sym typeface="Poppins Bold"/>
              </a:rPr>
              <a:t>Facilities  table</a:t>
            </a:r>
          </a:p>
        </p:txBody>
      </p:sp>
      <p:grpSp>
        <p:nvGrpSpPr>
          <p:cNvPr name="Group 30" id="30"/>
          <p:cNvGrpSpPr>
            <a:grpSpLocks noChangeAspect="true"/>
          </p:cNvGrpSpPr>
          <p:nvPr/>
        </p:nvGrpSpPr>
        <p:grpSpPr>
          <a:xfrm rot="0">
            <a:off x="3124200" y="-7440370"/>
            <a:ext cx="12022228" cy="5348508"/>
            <a:chOff x="0" y="0"/>
            <a:chExt cx="16029637" cy="7131344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16029687" cy="7131304"/>
            </a:xfrm>
            <a:custGeom>
              <a:avLst/>
              <a:gdLst/>
              <a:ahLst/>
              <a:cxnLst/>
              <a:rect r="r" b="b" t="t" l="l"/>
              <a:pathLst>
                <a:path h="7131304" w="16029687">
                  <a:moveTo>
                    <a:pt x="0" y="0"/>
                  </a:moveTo>
                  <a:lnTo>
                    <a:pt x="16029687" y="0"/>
                  </a:lnTo>
                  <a:lnTo>
                    <a:pt x="16029687" y="7131304"/>
                  </a:lnTo>
                  <a:lnTo>
                    <a:pt x="0" y="713130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</p:spTree>
  </p:cSld>
  <p:clrMapOvr>
    <a:masterClrMapping/>
  </p:clrMapOvr>
  <p:transition spd="fast">
    <p:fade/>
  </p:transition>
</p:sld>
</file>

<file path=ppt/slides/slide2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5188153" y="-8593455"/>
            <a:ext cx="7894321" cy="12214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997"/>
              </a:lnSpc>
            </a:pPr>
            <a:r>
              <a:rPr lang="en-US" sz="7497" b="true">
                <a:solidFill>
                  <a:srgbClr val="373737"/>
                </a:solidFill>
                <a:latin typeface="Poppins Bold"/>
                <a:ea typeface="Poppins Bold"/>
                <a:cs typeface="Poppins Bold"/>
                <a:sym typeface="Poppins Bold"/>
              </a:rPr>
              <a:t>Facilities  table</a:t>
            </a:r>
          </a:p>
        </p:txBody>
      </p:sp>
      <p:grpSp>
        <p:nvGrpSpPr>
          <p:cNvPr name="Group 3" id="3"/>
          <p:cNvGrpSpPr>
            <a:grpSpLocks noChangeAspect="true"/>
          </p:cNvGrpSpPr>
          <p:nvPr/>
        </p:nvGrpSpPr>
        <p:grpSpPr>
          <a:xfrm rot="0">
            <a:off x="3124200" y="-6830770"/>
            <a:ext cx="12022228" cy="5348508"/>
            <a:chOff x="0" y="0"/>
            <a:chExt cx="16029637" cy="7131344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6029687" cy="7131304"/>
            </a:xfrm>
            <a:custGeom>
              <a:avLst/>
              <a:gdLst/>
              <a:ahLst/>
              <a:cxnLst/>
              <a:rect r="r" b="b" t="t" l="l"/>
              <a:pathLst>
                <a:path h="7131304" w="16029687">
                  <a:moveTo>
                    <a:pt x="0" y="0"/>
                  </a:moveTo>
                  <a:lnTo>
                    <a:pt x="16029687" y="0"/>
                  </a:lnTo>
                  <a:lnTo>
                    <a:pt x="16029687" y="7131304"/>
                  </a:lnTo>
                  <a:lnTo>
                    <a:pt x="0" y="713130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sp>
        <p:nvSpPr>
          <p:cNvPr name="TextBox 5" id="5"/>
          <p:cNvSpPr txBox="true"/>
          <p:nvPr/>
        </p:nvSpPr>
        <p:spPr>
          <a:xfrm rot="0">
            <a:off x="2563591" y="-8060055"/>
            <a:ext cx="13160807" cy="12214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997"/>
              </a:lnSpc>
            </a:pPr>
            <a:r>
              <a:rPr lang="en-US" sz="7497" b="true">
                <a:solidFill>
                  <a:srgbClr val="373737"/>
                </a:solidFill>
                <a:latin typeface="Poppins Bold"/>
                <a:ea typeface="Poppins Bold"/>
                <a:cs typeface="Poppins Bold"/>
                <a:sym typeface="Poppins Bold"/>
              </a:rPr>
              <a:t>Facilities_Amenities  table</a:t>
            </a:r>
          </a:p>
        </p:txBody>
      </p:sp>
      <p:grpSp>
        <p:nvGrpSpPr>
          <p:cNvPr name="Group 6" id="6"/>
          <p:cNvGrpSpPr>
            <a:grpSpLocks noChangeAspect="true"/>
          </p:cNvGrpSpPr>
          <p:nvPr/>
        </p:nvGrpSpPr>
        <p:grpSpPr>
          <a:xfrm rot="0">
            <a:off x="3124200" y="-6605808"/>
            <a:ext cx="12022228" cy="5348508"/>
            <a:chOff x="0" y="0"/>
            <a:chExt cx="16029637" cy="7131344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6029687" cy="7131304"/>
            </a:xfrm>
            <a:custGeom>
              <a:avLst/>
              <a:gdLst/>
              <a:ahLst/>
              <a:cxnLst/>
              <a:rect r="r" b="b" t="t" l="l"/>
              <a:pathLst>
                <a:path h="7131304" w="16029687">
                  <a:moveTo>
                    <a:pt x="0" y="0"/>
                  </a:moveTo>
                  <a:lnTo>
                    <a:pt x="16029687" y="0"/>
                  </a:lnTo>
                  <a:lnTo>
                    <a:pt x="16029687" y="7131304"/>
                  </a:lnTo>
                  <a:lnTo>
                    <a:pt x="0" y="713130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sp>
        <p:nvSpPr>
          <p:cNvPr name="TextBox 8" id="8"/>
          <p:cNvSpPr txBox="true"/>
          <p:nvPr/>
        </p:nvSpPr>
        <p:spPr>
          <a:xfrm rot="0">
            <a:off x="5712873" y="-8136255"/>
            <a:ext cx="6912407" cy="12214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997"/>
              </a:lnSpc>
            </a:pPr>
            <a:r>
              <a:rPr lang="en-US" sz="7497" b="true">
                <a:solidFill>
                  <a:srgbClr val="373737"/>
                </a:solidFill>
                <a:latin typeface="Poppins Bold"/>
                <a:ea typeface="Poppins Bold"/>
                <a:cs typeface="Poppins Bold"/>
                <a:sym typeface="Poppins Bold"/>
              </a:rPr>
              <a:t>Reviews table</a:t>
            </a:r>
          </a:p>
        </p:txBody>
      </p:sp>
      <p:grpSp>
        <p:nvGrpSpPr>
          <p:cNvPr name="Group 9" id="9"/>
          <p:cNvGrpSpPr>
            <a:grpSpLocks noChangeAspect="true"/>
          </p:cNvGrpSpPr>
          <p:nvPr/>
        </p:nvGrpSpPr>
        <p:grpSpPr>
          <a:xfrm rot="0">
            <a:off x="3157963" y="-6605808"/>
            <a:ext cx="12022228" cy="5348508"/>
            <a:chOff x="0" y="0"/>
            <a:chExt cx="16029637" cy="7131344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6029687" cy="7131304"/>
            </a:xfrm>
            <a:custGeom>
              <a:avLst/>
              <a:gdLst/>
              <a:ahLst/>
              <a:cxnLst/>
              <a:rect r="r" b="b" t="t" l="l"/>
              <a:pathLst>
                <a:path h="7131304" w="16029687">
                  <a:moveTo>
                    <a:pt x="0" y="0"/>
                  </a:moveTo>
                  <a:lnTo>
                    <a:pt x="16029687" y="0"/>
                  </a:lnTo>
                  <a:lnTo>
                    <a:pt x="16029687" y="7131304"/>
                  </a:lnTo>
                  <a:lnTo>
                    <a:pt x="0" y="713130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sp>
        <p:nvSpPr>
          <p:cNvPr name="TextBox 11" id="11"/>
          <p:cNvSpPr txBox="true"/>
          <p:nvPr/>
        </p:nvSpPr>
        <p:spPr>
          <a:xfrm rot="0">
            <a:off x="6034551" y="-5556168"/>
            <a:ext cx="6269050" cy="12214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997"/>
              </a:lnSpc>
            </a:pPr>
            <a:r>
              <a:rPr lang="en-US" sz="7497" b="true">
                <a:solidFill>
                  <a:srgbClr val="373737"/>
                </a:solidFill>
                <a:latin typeface="Poppins Bold"/>
                <a:ea typeface="Poppins Bold"/>
                <a:cs typeface="Poppins Bold"/>
                <a:sym typeface="Poppins Bold"/>
              </a:rPr>
              <a:t>Sports table</a:t>
            </a:r>
          </a:p>
        </p:txBody>
      </p:sp>
      <p:grpSp>
        <p:nvGrpSpPr>
          <p:cNvPr name="Group 12" id="12"/>
          <p:cNvGrpSpPr>
            <a:grpSpLocks noChangeAspect="true"/>
          </p:cNvGrpSpPr>
          <p:nvPr/>
        </p:nvGrpSpPr>
        <p:grpSpPr>
          <a:xfrm rot="0">
            <a:off x="3124200" y="-4004447"/>
            <a:ext cx="12022228" cy="2289947"/>
            <a:chOff x="0" y="0"/>
            <a:chExt cx="16029637" cy="3053263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6029687" cy="3053207"/>
            </a:xfrm>
            <a:custGeom>
              <a:avLst/>
              <a:gdLst/>
              <a:ahLst/>
              <a:cxnLst/>
              <a:rect r="r" b="b" t="t" l="l"/>
              <a:pathLst>
                <a:path h="3053207" w="16029687">
                  <a:moveTo>
                    <a:pt x="0" y="0"/>
                  </a:moveTo>
                  <a:lnTo>
                    <a:pt x="16029687" y="0"/>
                  </a:lnTo>
                  <a:lnTo>
                    <a:pt x="16029687" y="3053207"/>
                  </a:lnTo>
                  <a:lnTo>
                    <a:pt x="0" y="305320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-1"/>
              </a:stretch>
            </a:blipFill>
          </p:spPr>
        </p:sp>
      </p:grpSp>
      <p:sp>
        <p:nvSpPr>
          <p:cNvPr name="TextBox 14" id="14"/>
          <p:cNvSpPr txBox="true"/>
          <p:nvPr/>
        </p:nvSpPr>
        <p:spPr>
          <a:xfrm rot="0">
            <a:off x="5008780" y="-7298055"/>
            <a:ext cx="7971009" cy="12214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997"/>
              </a:lnSpc>
            </a:pPr>
            <a:r>
              <a:rPr lang="en-US" sz="7497" b="true">
                <a:solidFill>
                  <a:srgbClr val="373737"/>
                </a:solidFill>
                <a:latin typeface="Poppins Bold"/>
                <a:ea typeface="Poppins Bold"/>
                <a:cs typeface="Poppins Bold"/>
                <a:sym typeface="Poppins Bold"/>
              </a:rPr>
              <a:t>Time slots table</a:t>
            </a:r>
          </a:p>
        </p:txBody>
      </p:sp>
      <p:grpSp>
        <p:nvGrpSpPr>
          <p:cNvPr name="Group 15" id="15"/>
          <p:cNvGrpSpPr>
            <a:grpSpLocks noChangeAspect="true"/>
          </p:cNvGrpSpPr>
          <p:nvPr/>
        </p:nvGrpSpPr>
        <p:grpSpPr>
          <a:xfrm rot="0">
            <a:off x="2983172" y="-5740633"/>
            <a:ext cx="12022227" cy="4178747"/>
            <a:chOff x="0" y="0"/>
            <a:chExt cx="16029636" cy="5571663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6029687" cy="5571617"/>
            </a:xfrm>
            <a:custGeom>
              <a:avLst/>
              <a:gdLst/>
              <a:ahLst/>
              <a:cxnLst/>
              <a:rect r="r" b="b" t="t" l="l"/>
              <a:pathLst>
                <a:path h="5571617" w="16029687">
                  <a:moveTo>
                    <a:pt x="0" y="0"/>
                  </a:moveTo>
                  <a:lnTo>
                    <a:pt x="16029687" y="0"/>
                  </a:lnTo>
                  <a:lnTo>
                    <a:pt x="16029687" y="5571617"/>
                  </a:lnTo>
                  <a:lnTo>
                    <a:pt x="0" y="557161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sp>
        <p:nvSpPr>
          <p:cNvPr name="TextBox 17" id="17"/>
          <p:cNvSpPr txBox="true"/>
          <p:nvPr/>
        </p:nvSpPr>
        <p:spPr>
          <a:xfrm rot="0">
            <a:off x="6188317" y="-10807252"/>
            <a:ext cx="5579152" cy="12214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997"/>
              </a:lnSpc>
            </a:pPr>
            <a:r>
              <a:rPr lang="en-US" sz="7497" b="true">
                <a:solidFill>
                  <a:srgbClr val="373737"/>
                </a:solidFill>
                <a:latin typeface="Poppins Bold"/>
                <a:ea typeface="Poppins Bold"/>
                <a:cs typeface="Poppins Bold"/>
                <a:sym typeface="Poppins Bold"/>
              </a:rPr>
              <a:t>Users table</a:t>
            </a:r>
          </a:p>
        </p:txBody>
      </p:sp>
      <p:grpSp>
        <p:nvGrpSpPr>
          <p:cNvPr name="Group 18" id="18"/>
          <p:cNvGrpSpPr>
            <a:grpSpLocks noChangeAspect="true"/>
          </p:cNvGrpSpPr>
          <p:nvPr/>
        </p:nvGrpSpPr>
        <p:grpSpPr>
          <a:xfrm rot="0">
            <a:off x="2966781" y="-9172609"/>
            <a:ext cx="12163256" cy="7915309"/>
            <a:chOff x="0" y="0"/>
            <a:chExt cx="16217675" cy="10553745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6217646" cy="10553700"/>
            </a:xfrm>
            <a:custGeom>
              <a:avLst/>
              <a:gdLst/>
              <a:ahLst/>
              <a:cxnLst/>
              <a:rect r="r" b="b" t="t" l="l"/>
              <a:pathLst>
                <a:path h="10553700" w="16217646">
                  <a:moveTo>
                    <a:pt x="0" y="0"/>
                  </a:moveTo>
                  <a:lnTo>
                    <a:pt x="16217646" y="0"/>
                  </a:lnTo>
                  <a:lnTo>
                    <a:pt x="16217646" y="10553700"/>
                  </a:lnTo>
                  <a:lnTo>
                    <a:pt x="0" y="105537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  <p:sp>
        <p:nvSpPr>
          <p:cNvPr name="TextBox 20" id="20"/>
          <p:cNvSpPr txBox="true"/>
          <p:nvPr/>
        </p:nvSpPr>
        <p:spPr>
          <a:xfrm rot="0">
            <a:off x="5863246" y="419831"/>
            <a:ext cx="6786453" cy="12214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997"/>
              </a:lnSpc>
            </a:pPr>
            <a:r>
              <a:rPr lang="en-US" sz="7497" b="true">
                <a:solidFill>
                  <a:srgbClr val="373737"/>
                </a:solidFill>
                <a:latin typeface="Poppins Bold"/>
                <a:ea typeface="Poppins Bold"/>
                <a:cs typeface="Poppins Bold"/>
                <a:sym typeface="Poppins Bold"/>
              </a:rPr>
              <a:t>Venues table</a:t>
            </a:r>
          </a:p>
        </p:txBody>
      </p:sp>
      <p:grpSp>
        <p:nvGrpSpPr>
          <p:cNvPr name="Group 21" id="21"/>
          <p:cNvGrpSpPr>
            <a:grpSpLocks noChangeAspect="true"/>
          </p:cNvGrpSpPr>
          <p:nvPr/>
        </p:nvGrpSpPr>
        <p:grpSpPr>
          <a:xfrm rot="0">
            <a:off x="5041369" y="1869753"/>
            <a:ext cx="8205262" cy="8054738"/>
            <a:chOff x="0" y="0"/>
            <a:chExt cx="10940349" cy="10739651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0940288" cy="10739628"/>
            </a:xfrm>
            <a:custGeom>
              <a:avLst/>
              <a:gdLst/>
              <a:ahLst/>
              <a:cxnLst/>
              <a:rect r="r" b="b" t="t" l="l"/>
              <a:pathLst>
                <a:path h="10739628" w="10940288">
                  <a:moveTo>
                    <a:pt x="0" y="0"/>
                  </a:moveTo>
                  <a:lnTo>
                    <a:pt x="10940288" y="0"/>
                  </a:lnTo>
                  <a:lnTo>
                    <a:pt x="10940288" y="10739628"/>
                  </a:lnTo>
                  <a:lnTo>
                    <a:pt x="0" y="107396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-1174" b="0"/>
              </a:stretch>
            </a:blipFill>
          </p:spPr>
        </p:sp>
      </p:grpSp>
      <p:grpSp>
        <p:nvGrpSpPr>
          <p:cNvPr name="Group 23" id="23"/>
          <p:cNvGrpSpPr>
            <a:grpSpLocks noChangeAspect="true"/>
          </p:cNvGrpSpPr>
          <p:nvPr/>
        </p:nvGrpSpPr>
        <p:grpSpPr>
          <a:xfrm rot="0">
            <a:off x="3728281" y="-2914765"/>
            <a:ext cx="10831437" cy="1638529"/>
            <a:chOff x="0" y="0"/>
            <a:chExt cx="14441916" cy="2184705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4441932" cy="2184654"/>
            </a:xfrm>
            <a:custGeom>
              <a:avLst/>
              <a:gdLst/>
              <a:ahLst/>
              <a:cxnLst/>
              <a:rect r="r" b="b" t="t" l="l"/>
              <a:pathLst>
                <a:path h="2184654" w="14441932">
                  <a:moveTo>
                    <a:pt x="0" y="0"/>
                  </a:moveTo>
                  <a:lnTo>
                    <a:pt x="14441932" y="0"/>
                  </a:lnTo>
                  <a:lnTo>
                    <a:pt x="14441932" y="2184654"/>
                  </a:lnTo>
                  <a:lnTo>
                    <a:pt x="0" y="218465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0" b="-2"/>
              </a:stretch>
            </a:blipFill>
          </p:spPr>
        </p:sp>
      </p:grpSp>
      <p:sp>
        <p:nvSpPr>
          <p:cNvPr name="TextBox 25" id="25"/>
          <p:cNvSpPr txBox="true"/>
          <p:nvPr/>
        </p:nvSpPr>
        <p:spPr>
          <a:xfrm rot="0">
            <a:off x="5196840" y="-4783455"/>
            <a:ext cx="7894321" cy="12214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997"/>
              </a:lnSpc>
            </a:pPr>
            <a:r>
              <a:rPr lang="en-US" sz="7497" b="true">
                <a:solidFill>
                  <a:srgbClr val="373737"/>
                </a:solidFill>
                <a:latin typeface="Poppins Bold"/>
                <a:ea typeface="Poppins Bold"/>
                <a:cs typeface="Poppins Bold"/>
                <a:sym typeface="Poppins Bold"/>
              </a:rPr>
              <a:t>Amenities table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5196835" y="-10269855"/>
            <a:ext cx="7894321" cy="12214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997"/>
              </a:lnSpc>
            </a:pPr>
            <a:r>
              <a:rPr lang="en-US" sz="7497" b="true">
                <a:solidFill>
                  <a:srgbClr val="373737"/>
                </a:solidFill>
                <a:latin typeface="Poppins Bold"/>
                <a:ea typeface="Poppins Bold"/>
                <a:cs typeface="Poppins Bold"/>
                <a:sym typeface="Poppins Bold"/>
              </a:rPr>
              <a:t>Bookings table</a:t>
            </a:r>
          </a:p>
        </p:txBody>
      </p:sp>
      <p:grpSp>
        <p:nvGrpSpPr>
          <p:cNvPr name="Group 27" id="27"/>
          <p:cNvGrpSpPr>
            <a:grpSpLocks noChangeAspect="true"/>
          </p:cNvGrpSpPr>
          <p:nvPr/>
        </p:nvGrpSpPr>
        <p:grpSpPr>
          <a:xfrm rot="0">
            <a:off x="3132882" y="-9002725"/>
            <a:ext cx="12022228" cy="7821116"/>
            <a:chOff x="0" y="0"/>
            <a:chExt cx="16029637" cy="10428155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16029687" cy="10428097"/>
            </a:xfrm>
            <a:custGeom>
              <a:avLst/>
              <a:gdLst/>
              <a:ahLst/>
              <a:cxnLst/>
              <a:rect r="r" b="b" t="t" l="l"/>
              <a:pathLst>
                <a:path h="10428097" w="16029687">
                  <a:moveTo>
                    <a:pt x="0" y="0"/>
                  </a:moveTo>
                  <a:lnTo>
                    <a:pt x="16029687" y="0"/>
                  </a:lnTo>
                  <a:lnTo>
                    <a:pt x="16029687" y="10428097"/>
                  </a:lnTo>
                  <a:lnTo>
                    <a:pt x="0" y="1042809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0" t="0" r="0" b="0"/>
              </a:stretch>
            </a:blipFill>
          </p:spPr>
        </p:sp>
      </p:grpSp>
      <p:sp>
        <p:nvSpPr>
          <p:cNvPr name="TextBox 29" id="29"/>
          <p:cNvSpPr txBox="true"/>
          <p:nvPr/>
        </p:nvSpPr>
        <p:spPr>
          <a:xfrm rot="0">
            <a:off x="5188153" y="-9203055"/>
            <a:ext cx="7894321" cy="12214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997"/>
              </a:lnSpc>
            </a:pPr>
            <a:r>
              <a:rPr lang="en-US" sz="7497" b="true">
                <a:solidFill>
                  <a:srgbClr val="373737"/>
                </a:solidFill>
                <a:latin typeface="Poppins Bold"/>
                <a:ea typeface="Poppins Bold"/>
                <a:cs typeface="Poppins Bold"/>
                <a:sym typeface="Poppins Bold"/>
              </a:rPr>
              <a:t>Facilities  table</a:t>
            </a:r>
          </a:p>
        </p:txBody>
      </p:sp>
      <p:grpSp>
        <p:nvGrpSpPr>
          <p:cNvPr name="Group 30" id="30"/>
          <p:cNvGrpSpPr>
            <a:grpSpLocks noChangeAspect="true"/>
          </p:cNvGrpSpPr>
          <p:nvPr/>
        </p:nvGrpSpPr>
        <p:grpSpPr>
          <a:xfrm rot="0">
            <a:off x="3124200" y="-7440370"/>
            <a:ext cx="12022228" cy="5348508"/>
            <a:chOff x="0" y="0"/>
            <a:chExt cx="16029637" cy="7131344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16029687" cy="7131304"/>
            </a:xfrm>
            <a:custGeom>
              <a:avLst/>
              <a:gdLst/>
              <a:ahLst/>
              <a:cxnLst/>
              <a:rect r="r" b="b" t="t" l="l"/>
              <a:pathLst>
                <a:path h="7131304" w="16029687">
                  <a:moveTo>
                    <a:pt x="0" y="0"/>
                  </a:moveTo>
                  <a:lnTo>
                    <a:pt x="16029687" y="0"/>
                  </a:lnTo>
                  <a:lnTo>
                    <a:pt x="16029687" y="7131304"/>
                  </a:lnTo>
                  <a:lnTo>
                    <a:pt x="0" y="713130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</p:spTree>
  </p:cSld>
  <p:clrMapOvr>
    <a:masterClrMapping/>
  </p:clrMapOvr>
  <p:transition spd="fast">
    <p:fade/>
  </p:transition>
</p:sld>
</file>

<file path=ppt/slides/slide2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344925" y="-2659453"/>
            <a:ext cx="5423759" cy="6757068"/>
          </a:xfrm>
          <a:custGeom>
            <a:avLst/>
            <a:gdLst/>
            <a:ahLst/>
            <a:cxnLst/>
            <a:rect r="r" b="b" t="t" l="l"/>
            <a:pathLst>
              <a:path h="6757068" w="5423759">
                <a:moveTo>
                  <a:pt x="0" y="0"/>
                </a:moveTo>
                <a:lnTo>
                  <a:pt x="5423759" y="0"/>
                </a:lnTo>
                <a:lnTo>
                  <a:pt x="5423759" y="6757068"/>
                </a:lnTo>
                <a:lnTo>
                  <a:pt x="0" y="675706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8" t="0" r="-8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0534769" y="3546471"/>
            <a:ext cx="8721333" cy="10865276"/>
          </a:xfrm>
          <a:custGeom>
            <a:avLst/>
            <a:gdLst/>
            <a:ahLst/>
            <a:cxnLst/>
            <a:rect r="r" b="b" t="t" l="l"/>
            <a:pathLst>
              <a:path h="10865276" w="8721333">
                <a:moveTo>
                  <a:pt x="0" y="0"/>
                </a:moveTo>
                <a:lnTo>
                  <a:pt x="8721333" y="0"/>
                </a:lnTo>
                <a:lnTo>
                  <a:pt x="8721333" y="10865276"/>
                </a:lnTo>
                <a:lnTo>
                  <a:pt x="0" y="1086527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-7" t="0" r="-7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14843750" y="876235"/>
            <a:ext cx="2411837" cy="556243"/>
            <a:chOff x="0" y="0"/>
            <a:chExt cx="3215783" cy="741657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3215783" cy="741657"/>
            </a:xfrm>
            <a:custGeom>
              <a:avLst/>
              <a:gdLst/>
              <a:ahLst/>
              <a:cxnLst/>
              <a:rect r="r" b="b" t="t" l="l"/>
              <a:pathLst>
                <a:path h="741657" w="3215783">
                  <a:moveTo>
                    <a:pt x="0" y="0"/>
                  </a:moveTo>
                  <a:lnTo>
                    <a:pt x="3215783" y="0"/>
                  </a:lnTo>
                  <a:lnTo>
                    <a:pt x="3215783" y="741657"/>
                  </a:lnTo>
                  <a:lnTo>
                    <a:pt x="0" y="741657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66675"/>
              <a:ext cx="3215783" cy="80833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00"/>
                </a:lnSpc>
              </a:pPr>
              <a:r>
                <a:rPr lang="en-US" sz="2000" spc="60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CONCLUSION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7586546" y="3767856"/>
            <a:ext cx="8466836" cy="2751289"/>
            <a:chOff x="0" y="0"/>
            <a:chExt cx="24892469" cy="808878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4892470" cy="8088780"/>
            </a:xfrm>
            <a:custGeom>
              <a:avLst/>
              <a:gdLst/>
              <a:ahLst/>
              <a:cxnLst/>
              <a:rect r="r" b="b" t="t" l="l"/>
              <a:pathLst>
                <a:path h="8088780" w="24892470">
                  <a:moveTo>
                    <a:pt x="276951" y="0"/>
                  </a:moveTo>
                  <a:lnTo>
                    <a:pt x="24615518" y="0"/>
                  </a:lnTo>
                  <a:cubicBezTo>
                    <a:pt x="24689081" y="0"/>
                    <a:pt x="24759517" y="22055"/>
                    <a:pt x="24811405" y="61282"/>
                  </a:cubicBezTo>
                  <a:cubicBezTo>
                    <a:pt x="24863295" y="100509"/>
                    <a:pt x="24892470" y="153757"/>
                    <a:pt x="24892470" y="209368"/>
                  </a:cubicBezTo>
                  <a:lnTo>
                    <a:pt x="24892470" y="7879412"/>
                  </a:lnTo>
                  <a:cubicBezTo>
                    <a:pt x="24892470" y="7995045"/>
                    <a:pt x="24768476" y="8088780"/>
                    <a:pt x="24615518" y="8088780"/>
                  </a:cubicBezTo>
                  <a:lnTo>
                    <a:pt x="276951" y="8088780"/>
                  </a:lnTo>
                  <a:cubicBezTo>
                    <a:pt x="203389" y="8088780"/>
                    <a:pt x="132953" y="8066725"/>
                    <a:pt x="81064" y="8027498"/>
                  </a:cubicBezTo>
                  <a:cubicBezTo>
                    <a:pt x="29175" y="7988271"/>
                    <a:pt x="0" y="7935023"/>
                    <a:pt x="0" y="7879412"/>
                  </a:cubicBezTo>
                  <a:lnTo>
                    <a:pt x="0" y="209368"/>
                  </a:lnTo>
                  <a:cubicBezTo>
                    <a:pt x="0" y="153757"/>
                    <a:pt x="29175" y="100509"/>
                    <a:pt x="81064" y="61282"/>
                  </a:cubicBezTo>
                  <a:cubicBezTo>
                    <a:pt x="132953" y="22055"/>
                    <a:pt x="203598" y="0"/>
                    <a:pt x="276951" y="0"/>
                  </a:cubicBezTo>
                  <a:close/>
                </a:path>
              </a:pathLst>
            </a:custGeom>
            <a:solidFill>
              <a:srgbClr val="FFFFFF">
                <a:alpha val="89804"/>
              </a:srgbClr>
            </a:solidFill>
          </p:spPr>
        </p:sp>
      </p:grpSp>
      <p:grpSp>
        <p:nvGrpSpPr>
          <p:cNvPr name="Group 9" id="9"/>
          <p:cNvGrpSpPr/>
          <p:nvPr/>
        </p:nvGrpSpPr>
        <p:grpSpPr>
          <a:xfrm rot="0">
            <a:off x="7834741" y="4145454"/>
            <a:ext cx="7970445" cy="1996093"/>
            <a:chOff x="0" y="0"/>
            <a:chExt cx="10627260" cy="2661457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0627260" cy="2661457"/>
            </a:xfrm>
            <a:custGeom>
              <a:avLst/>
              <a:gdLst/>
              <a:ahLst/>
              <a:cxnLst/>
              <a:rect r="r" b="b" t="t" l="l"/>
              <a:pathLst>
                <a:path h="2661457" w="10627260">
                  <a:moveTo>
                    <a:pt x="127000" y="0"/>
                  </a:moveTo>
                  <a:lnTo>
                    <a:pt x="10500260" y="0"/>
                  </a:lnTo>
                  <a:cubicBezTo>
                    <a:pt x="10533942" y="0"/>
                    <a:pt x="10566245" y="13380"/>
                    <a:pt x="10590062" y="37197"/>
                  </a:cubicBezTo>
                  <a:cubicBezTo>
                    <a:pt x="10613879" y="61015"/>
                    <a:pt x="10627260" y="93318"/>
                    <a:pt x="10627260" y="127000"/>
                  </a:cubicBezTo>
                  <a:lnTo>
                    <a:pt x="10627260" y="2534457"/>
                  </a:lnTo>
                  <a:cubicBezTo>
                    <a:pt x="10627260" y="2568139"/>
                    <a:pt x="10613879" y="2600442"/>
                    <a:pt x="10590062" y="2624260"/>
                  </a:cubicBezTo>
                  <a:cubicBezTo>
                    <a:pt x="10566245" y="2648077"/>
                    <a:pt x="10533942" y="2661457"/>
                    <a:pt x="10500260" y="2661457"/>
                  </a:cubicBezTo>
                  <a:lnTo>
                    <a:pt x="127000" y="2661457"/>
                  </a:lnTo>
                  <a:cubicBezTo>
                    <a:pt x="56860" y="2661457"/>
                    <a:pt x="0" y="2604597"/>
                    <a:pt x="0" y="2534457"/>
                  </a:cubicBezTo>
                  <a:lnTo>
                    <a:pt x="0" y="127000"/>
                  </a:lnTo>
                  <a:cubicBezTo>
                    <a:pt x="0" y="56860"/>
                    <a:pt x="56860" y="0"/>
                    <a:pt x="1270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228600"/>
              <a:ext cx="10627260" cy="289005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1151"/>
                </a:lnSpc>
              </a:pPr>
              <a:r>
                <a:rPr lang="en-US" sz="7966" b="true">
                  <a:solidFill>
                    <a:srgbClr val="373737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THANK YOU!!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4985838" y="885324"/>
            <a:ext cx="2155449" cy="519017"/>
            <a:chOff x="0" y="0"/>
            <a:chExt cx="2873932" cy="692023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873932" cy="692023"/>
            </a:xfrm>
            <a:custGeom>
              <a:avLst/>
              <a:gdLst/>
              <a:ahLst/>
              <a:cxnLst/>
              <a:rect r="r" b="b" t="t" l="l"/>
              <a:pathLst>
                <a:path h="692023" w="2873932">
                  <a:moveTo>
                    <a:pt x="269960" y="0"/>
                  </a:moveTo>
                  <a:lnTo>
                    <a:pt x="2603972" y="0"/>
                  </a:lnTo>
                  <a:cubicBezTo>
                    <a:pt x="2753067" y="0"/>
                    <a:pt x="2873932" y="86995"/>
                    <a:pt x="2873932" y="194310"/>
                  </a:cubicBezTo>
                  <a:lnTo>
                    <a:pt x="2873932" y="497713"/>
                  </a:lnTo>
                  <a:cubicBezTo>
                    <a:pt x="2873932" y="605028"/>
                    <a:pt x="2753067" y="692023"/>
                    <a:pt x="2603972" y="692023"/>
                  </a:cubicBezTo>
                  <a:lnTo>
                    <a:pt x="269960" y="692023"/>
                  </a:lnTo>
                  <a:cubicBezTo>
                    <a:pt x="120865" y="692023"/>
                    <a:pt x="0" y="605028"/>
                    <a:pt x="0" y="497713"/>
                  </a:cubicBezTo>
                  <a:lnTo>
                    <a:pt x="0" y="194310"/>
                  </a:lnTo>
                  <a:cubicBezTo>
                    <a:pt x="0" y="86995"/>
                    <a:pt x="120865" y="0"/>
                    <a:pt x="269960" y="0"/>
                  </a:cubicBezTo>
                  <a:close/>
                </a:path>
              </a:pathLst>
            </a:custGeom>
            <a:solidFill>
              <a:srgbClr val="8B3DFF">
                <a:alpha val="19608"/>
              </a:srgbClr>
            </a:solidFill>
          </p:spPr>
        </p:sp>
      </p:grpSp>
      <p:sp>
        <p:nvSpPr>
          <p:cNvPr name="Freeform 14" id="14"/>
          <p:cNvSpPr/>
          <p:nvPr/>
        </p:nvSpPr>
        <p:spPr>
          <a:xfrm flipH="false" flipV="false" rot="0">
            <a:off x="714375" y="1747953"/>
            <a:ext cx="5977333" cy="8539047"/>
          </a:xfrm>
          <a:custGeom>
            <a:avLst/>
            <a:gdLst/>
            <a:ahLst/>
            <a:cxnLst/>
            <a:rect r="r" b="b" t="t" l="l"/>
            <a:pathLst>
              <a:path h="8539047" w="5977333">
                <a:moveTo>
                  <a:pt x="0" y="0"/>
                </a:moveTo>
                <a:lnTo>
                  <a:pt x="5977333" y="0"/>
                </a:lnTo>
                <a:lnTo>
                  <a:pt x="5977333" y="8539047"/>
                </a:lnTo>
                <a:lnTo>
                  <a:pt x="0" y="853904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9144000" y="917768"/>
            <a:ext cx="1878321" cy="4160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9"/>
              </a:lnSpc>
            </a:pPr>
            <a:r>
              <a:rPr lang="en-US" sz="20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FUTURE-SCOPE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1607374" y="917768"/>
            <a:ext cx="2911739" cy="4160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9"/>
              </a:lnSpc>
            </a:pPr>
            <a:r>
              <a:rPr lang="en-US" sz="20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ROLE &amp; RESPONSIBILITY</a:t>
            </a:r>
          </a:p>
        </p:txBody>
      </p:sp>
    </p:spTree>
  </p:cSld>
  <p:clrMapOvr>
    <a:masterClrMapping/>
  </p:clrMapOvr>
  <p:transition spd="fast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DAGwuiv7HZA</dc:identifier>
  <dcterms:modified xsi:type="dcterms:W3CDTF">2011-08-01T06:04:30Z</dcterms:modified>
  <cp:revision>1</cp:revision>
  <dc:title>Play Nation.pptx</dc:title>
</cp:coreProperties>
</file>